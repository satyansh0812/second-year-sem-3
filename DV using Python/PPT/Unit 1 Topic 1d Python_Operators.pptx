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262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1" r:id="rId13"/>
    <p:sldId id="280" r:id="rId14"/>
    <p:sldId id="282" r:id="rId15"/>
    <p:sldId id="283" r:id="rId16"/>
    <p:sldId id="284" r:id="rId17"/>
    <p:sldId id="285" r:id="rId18"/>
    <p:sldId id="286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87" r:id="rId30"/>
    <p:sldId id="298" r:id="rId31"/>
    <p:sldId id="299" r:id="rId32"/>
    <p:sldId id="26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Python: </a:t>
            </a:r>
            <a:r>
              <a:rPr lang="en-IN" b="1" dirty="0"/>
              <a:t>Operators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1686" y="3999603"/>
            <a:ext cx="4638261" cy="1128988"/>
          </a:xfrm>
        </p:spPr>
        <p:txBody>
          <a:bodyPr/>
          <a:lstStyle/>
          <a:p>
            <a:r>
              <a:rPr lang="en-US" dirty="0"/>
              <a:t>Prof. (Dr.) Anil Kumar Dubey</a:t>
            </a:r>
          </a:p>
          <a:p>
            <a:r>
              <a:rPr lang="en-US" dirty="0"/>
              <a:t>Professor - CSE </a:t>
            </a:r>
            <a:r>
              <a:rPr lang="en-US" dirty="0" err="1"/>
              <a:t>Dept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808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An </a:t>
            </a:r>
            <a:r>
              <a:rPr lang="en-US" b="1" dirty="0"/>
              <a:t>operator</a:t>
            </a:r>
            <a:r>
              <a:rPr lang="en-US" dirty="0"/>
              <a:t> is a symbol or keyword that instructs Python to perform an operation on one or more values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IN" dirty="0" smtClean="0"/>
              <a:t>	result </a:t>
            </a:r>
            <a:r>
              <a:rPr lang="en-IN" dirty="0"/>
              <a:t>= 10 + </a:t>
            </a:r>
            <a:r>
              <a:rPr lang="en-IN" dirty="0" smtClean="0"/>
              <a:t>5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Here</a:t>
            </a:r>
            <a:r>
              <a:rPr lang="en-US" dirty="0" smtClean="0"/>
              <a:t>:</a:t>
            </a:r>
          </a:p>
          <a:p>
            <a:pPr lvl="1" algn="just"/>
            <a:r>
              <a:rPr lang="en-US" dirty="0" smtClean="0"/>
              <a:t>10 </a:t>
            </a:r>
            <a:r>
              <a:rPr lang="en-US" dirty="0"/>
              <a:t>and 5 are operands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 smtClean="0"/>
              <a:t>+ </a:t>
            </a:r>
            <a:r>
              <a:rPr lang="en-US" dirty="0"/>
              <a:t>is the operator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 smtClean="0"/>
              <a:t>15 </a:t>
            </a:r>
            <a:r>
              <a:rPr lang="en-US" dirty="0"/>
              <a:t>is the </a:t>
            </a:r>
            <a:r>
              <a:rPr lang="en-US" dirty="0" smtClean="0"/>
              <a:t>result.</a:t>
            </a:r>
          </a:p>
          <a:p>
            <a:pPr marL="457200" lvl="1" indent="0" algn="just">
              <a:buNone/>
            </a:pPr>
            <a:endParaRPr lang="en-US" dirty="0"/>
          </a:p>
          <a:p>
            <a:pPr marL="457200" lvl="1" indent="0" algn="just">
              <a:buNone/>
            </a:pPr>
            <a:r>
              <a:rPr lang="en-IN" dirty="0" smtClean="0"/>
              <a:t>		</a:t>
            </a:r>
            <a:r>
              <a:rPr lang="en-IN" b="1" dirty="0" smtClean="0"/>
              <a:t>operand1 </a:t>
            </a:r>
            <a:r>
              <a:rPr lang="en-IN" b="1" dirty="0"/>
              <a:t>operator operand2</a:t>
            </a:r>
            <a:endParaRPr lang="en-IN" b="1" dirty="0"/>
          </a:p>
        </p:txBody>
      </p:sp>
      <p:pic>
        <p:nvPicPr>
          <p:cNvPr id="5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93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Python operators can be classified into seven major categories:</a:t>
            </a:r>
            <a:endParaRPr lang="en-IN" b="1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343287"/>
              </p:ext>
            </p:extLst>
          </p:nvPr>
        </p:nvGraphicFramePr>
        <p:xfrm>
          <a:off x="2155135" y="2452051"/>
          <a:ext cx="7881730" cy="3779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27852">
                  <a:extLst>
                    <a:ext uri="{9D8B030D-6E8A-4147-A177-3AD203B41FA5}">
                      <a16:colId xmlns:a16="http://schemas.microsoft.com/office/drawing/2014/main" val="2305484031"/>
                    </a:ext>
                  </a:extLst>
                </a:gridCol>
                <a:gridCol w="5353878">
                  <a:extLst>
                    <a:ext uri="{9D8B030D-6E8A-4147-A177-3AD203B41FA5}">
                      <a16:colId xmlns:a16="http://schemas.microsoft.com/office/drawing/2014/main" val="2892130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500"/>
                        <a:t>Category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500" dirty="0"/>
                        <a:t>Operators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14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500"/>
                        <a:t>Arithmetic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+, -, *, /, //, %, **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2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500"/>
                        <a:t>Assignment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=, +=, -=, *=, /=, //=, %=, **=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009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500"/>
                        <a:t>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==, !=, &gt;, &lt;, &gt;=, &lt;=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431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500"/>
                        <a:t>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and, or, 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373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500"/>
                        <a:t>Membership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in, not 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531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500"/>
                        <a:t>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is, is 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728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500"/>
                        <a:t>Bitwise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500" dirty="0"/>
                        <a:t>&amp;, |, ^, ~, &lt;&lt;, &gt;&gt;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742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76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 smtClean="0"/>
              <a:t>Arithmetic </a:t>
            </a:r>
            <a:r>
              <a:rPr lang="en-US" dirty="0"/>
              <a:t>operators perform mathematical calculations.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067009"/>
              </p:ext>
            </p:extLst>
          </p:nvPr>
        </p:nvGraphicFramePr>
        <p:xfrm>
          <a:off x="1871868" y="2551506"/>
          <a:ext cx="7709453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8802">
                  <a:extLst>
                    <a:ext uri="{9D8B030D-6E8A-4147-A177-3AD203B41FA5}">
                      <a16:colId xmlns:a16="http://schemas.microsoft.com/office/drawing/2014/main" val="2485904885"/>
                    </a:ext>
                  </a:extLst>
                </a:gridCol>
                <a:gridCol w="3322894">
                  <a:extLst>
                    <a:ext uri="{9D8B030D-6E8A-4147-A177-3AD203B41FA5}">
                      <a16:colId xmlns:a16="http://schemas.microsoft.com/office/drawing/2014/main" val="1037539510"/>
                    </a:ext>
                  </a:extLst>
                </a:gridCol>
                <a:gridCol w="1444487">
                  <a:extLst>
                    <a:ext uri="{9D8B030D-6E8A-4147-A177-3AD203B41FA5}">
                      <a16:colId xmlns:a16="http://schemas.microsoft.com/office/drawing/2014/main" val="1178470156"/>
                    </a:ext>
                  </a:extLst>
                </a:gridCol>
                <a:gridCol w="1643270">
                  <a:extLst>
                    <a:ext uri="{9D8B030D-6E8A-4147-A177-3AD203B41FA5}">
                      <a16:colId xmlns:a16="http://schemas.microsoft.com/office/drawing/2014/main" val="646529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Operator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Meaning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 b="1" dirty="0"/>
                        <a:t>Example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 b="1" dirty="0"/>
                        <a:t>Result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5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10 + 3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367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10 - 3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820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10 *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135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True 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10 /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3.333...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302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//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Floor 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10 //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64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Remainder/modulus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10 %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543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Exponentiation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/>
                        <a:t>10 **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400" dirty="0"/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8006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919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Important </a:t>
            </a:r>
            <a:r>
              <a:rPr lang="en-IN" dirty="0" smtClean="0"/>
              <a:t>distinction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print(7 / 2) # 3.5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print(7 </a:t>
            </a:r>
            <a:r>
              <a:rPr lang="en-IN" dirty="0"/>
              <a:t>// 2) # 3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print(7 </a:t>
            </a:r>
            <a:r>
              <a:rPr lang="en-IN" dirty="0"/>
              <a:t>% 2) # </a:t>
            </a:r>
            <a:r>
              <a:rPr lang="en-IN" dirty="0" smtClean="0"/>
              <a:t>1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·  / produces the division result. </a:t>
            </a:r>
          </a:p>
          <a:p>
            <a:r>
              <a:rPr lang="en-IN" dirty="0"/>
              <a:t>·  // gives the floor of the division result. </a:t>
            </a:r>
          </a:p>
          <a:p>
            <a:r>
              <a:rPr lang="en-IN" dirty="0"/>
              <a:t>·  % gives the remainder</a:t>
            </a:r>
            <a:r>
              <a:rPr lang="en-IN" dirty="0" smtClean="0"/>
              <a:t>.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308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Student Marks Calculator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7364896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err="1"/>
              <a:t>python_marks</a:t>
            </a:r>
            <a:r>
              <a:rPr lang="en-IN" dirty="0"/>
              <a:t> = 78</a:t>
            </a:r>
          </a:p>
          <a:p>
            <a:pPr marL="0" indent="0">
              <a:buNone/>
            </a:pPr>
            <a:r>
              <a:rPr lang="en-IN" dirty="0" err="1"/>
              <a:t>dsa_marks</a:t>
            </a:r>
            <a:r>
              <a:rPr lang="en-IN" dirty="0"/>
              <a:t> = 84</a:t>
            </a:r>
          </a:p>
          <a:p>
            <a:pPr marL="0" indent="0">
              <a:buNone/>
            </a:pPr>
            <a:r>
              <a:rPr lang="en-IN" dirty="0" err="1"/>
              <a:t>dbms_marks</a:t>
            </a:r>
            <a:r>
              <a:rPr lang="en-IN" dirty="0"/>
              <a:t> = 88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total = </a:t>
            </a:r>
            <a:r>
              <a:rPr lang="en-IN" dirty="0" err="1"/>
              <a:t>python_marks</a:t>
            </a:r>
            <a:r>
              <a:rPr lang="en-IN" dirty="0"/>
              <a:t> + </a:t>
            </a:r>
            <a:r>
              <a:rPr lang="en-IN" dirty="0" err="1"/>
              <a:t>dsa_marks</a:t>
            </a:r>
            <a:r>
              <a:rPr lang="en-IN" dirty="0"/>
              <a:t> + </a:t>
            </a:r>
            <a:r>
              <a:rPr lang="en-IN" dirty="0" err="1"/>
              <a:t>dbms_marks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average = total / 3</a:t>
            </a:r>
          </a:p>
          <a:p>
            <a:pPr marL="0" indent="0">
              <a:buNone/>
            </a:pPr>
            <a:r>
              <a:rPr lang="en-IN" dirty="0"/>
              <a:t>percentage = total / 300 * 100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print("Total marks:", total)</a:t>
            </a:r>
          </a:p>
          <a:p>
            <a:pPr marL="0" indent="0">
              <a:buNone/>
            </a:pPr>
            <a:r>
              <a:rPr lang="en-IN" dirty="0"/>
              <a:t>print("Average marks:", average)</a:t>
            </a:r>
          </a:p>
          <a:p>
            <a:pPr marL="0" indent="0">
              <a:buNone/>
            </a:pPr>
            <a:r>
              <a:rPr lang="en-IN" dirty="0"/>
              <a:t>print("Percentage:", percentage)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993835" y="2006807"/>
            <a:ext cx="7364896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460835" y="4522994"/>
            <a:ext cx="4664765" cy="20928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IN" sz="2600" dirty="0"/>
              <a:t>Total </a:t>
            </a:r>
            <a:r>
              <a:rPr lang="en-IN" sz="2600" dirty="0"/>
              <a:t>marks: 250</a:t>
            </a:r>
          </a:p>
          <a:p>
            <a:r>
              <a:rPr lang="en-IN" sz="2600" dirty="0"/>
              <a:t>Average marks: 83.33333333333333</a:t>
            </a:r>
          </a:p>
          <a:p>
            <a:r>
              <a:rPr lang="en-IN" sz="2600" dirty="0"/>
              <a:t>Percentage: 83.33333333333334</a:t>
            </a:r>
          </a:p>
        </p:txBody>
      </p:sp>
    </p:spTree>
    <p:extLst>
      <p:ext uri="{BB962C8B-B14F-4D97-AF65-F5344CB8AC3E}">
        <p14:creationId xmlns:p14="http://schemas.microsoft.com/office/powerpoint/2010/main" val="247551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Student Marks Calculator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293626" cy="5032375"/>
          </a:xfrm>
        </p:spPr>
        <p:txBody>
          <a:bodyPr>
            <a:normAutofit/>
          </a:bodyPr>
          <a:lstStyle/>
          <a:p>
            <a:r>
              <a:rPr lang="en-IN" dirty="0"/>
              <a:t>Concepts demonstrated:</a:t>
            </a:r>
          </a:p>
          <a:p>
            <a:pPr lvl="1"/>
            <a:r>
              <a:rPr lang="en-IN" dirty="0"/>
              <a:t>+ adds marks. </a:t>
            </a:r>
          </a:p>
          <a:p>
            <a:pPr lvl="1"/>
            <a:r>
              <a:rPr lang="en-IN" dirty="0"/>
              <a:t>/ calculates the average. </a:t>
            </a:r>
          </a:p>
          <a:p>
            <a:pPr lvl="1"/>
            <a:r>
              <a:rPr lang="en-IN" dirty="0"/>
              <a:t>* converts the fraction into a percentage.</a:t>
            </a:r>
          </a:p>
          <a:p>
            <a:r>
              <a:rPr lang="en-IN" dirty="0"/>
              <a:t> </a:t>
            </a:r>
            <a:endParaRPr lang="en-IN" dirty="0" smtClean="0"/>
          </a:p>
          <a:p>
            <a:r>
              <a:rPr lang="en-IN" dirty="0" smtClean="0"/>
              <a:t>For </a:t>
            </a:r>
            <a:r>
              <a:rPr lang="en-IN" dirty="0"/>
              <a:t>formatted output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IN" dirty="0" smtClean="0"/>
              <a:t>		print(</a:t>
            </a:r>
            <a:r>
              <a:rPr lang="en-IN" dirty="0" err="1" smtClean="0"/>
              <a:t>f"Percentage</a:t>
            </a:r>
            <a:r>
              <a:rPr lang="en-IN" dirty="0"/>
              <a:t>: {percentage:.2f}%")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993835" y="2006807"/>
            <a:ext cx="7364896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474295" y="5609763"/>
            <a:ext cx="42140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IN" sz="2800" dirty="0" smtClean="0"/>
              <a:t>Percentage</a:t>
            </a:r>
            <a:r>
              <a:rPr lang="en-IN" sz="2800" dirty="0"/>
              <a:t>: 83.33%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660020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Assignment </a:t>
            </a:r>
            <a:r>
              <a:rPr lang="en-US" b="1" dirty="0" smtClean="0"/>
              <a:t>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293626" cy="5032375"/>
          </a:xfrm>
        </p:spPr>
        <p:txBody>
          <a:bodyPr>
            <a:normAutofit/>
          </a:bodyPr>
          <a:lstStyle/>
          <a:p>
            <a:r>
              <a:rPr lang="en-US" dirty="0"/>
              <a:t>Assignment operators store or update values in variables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IN" dirty="0"/>
              <a:t>Simple </a:t>
            </a:r>
            <a:r>
              <a:rPr lang="en-IN" dirty="0" smtClean="0"/>
              <a:t>assignment</a:t>
            </a:r>
          </a:p>
          <a:p>
            <a:pPr marL="457200" lvl="1" indent="0">
              <a:buNone/>
            </a:pPr>
            <a:r>
              <a:rPr lang="en-IN" dirty="0" smtClean="0"/>
              <a:t>		score </a:t>
            </a:r>
            <a:r>
              <a:rPr lang="en-IN" dirty="0"/>
              <a:t>= </a:t>
            </a:r>
            <a:r>
              <a:rPr lang="en-IN" dirty="0" smtClean="0"/>
              <a:t>50</a:t>
            </a:r>
          </a:p>
          <a:p>
            <a:pPr marL="0" indent="0">
              <a:buNone/>
            </a:pPr>
            <a:r>
              <a:rPr lang="en-US" dirty="0" smtClean="0"/>
              <a:t>	The </a:t>
            </a:r>
            <a:r>
              <a:rPr lang="en-US" dirty="0"/>
              <a:t>right-hand value 50 is assigned to the variable score.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993835" y="2006807"/>
            <a:ext cx="7364896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0803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Compound </a:t>
            </a:r>
            <a:r>
              <a:rPr lang="en-IN" dirty="0" smtClean="0"/>
              <a:t>assignment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5995605"/>
              </p:ext>
            </p:extLst>
          </p:nvPr>
        </p:nvGraphicFramePr>
        <p:xfrm>
          <a:off x="838200" y="2006807"/>
          <a:ext cx="10293351" cy="38859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31117">
                  <a:extLst>
                    <a:ext uri="{9D8B030D-6E8A-4147-A177-3AD203B41FA5}">
                      <a16:colId xmlns:a16="http://schemas.microsoft.com/office/drawing/2014/main" val="2111585259"/>
                    </a:ext>
                  </a:extLst>
                </a:gridCol>
                <a:gridCol w="3431117">
                  <a:extLst>
                    <a:ext uri="{9D8B030D-6E8A-4147-A177-3AD203B41FA5}">
                      <a16:colId xmlns:a16="http://schemas.microsoft.com/office/drawing/2014/main" val="193998627"/>
                    </a:ext>
                  </a:extLst>
                </a:gridCol>
                <a:gridCol w="3431117">
                  <a:extLst>
                    <a:ext uri="{9D8B030D-6E8A-4147-A177-3AD203B41FA5}">
                      <a16:colId xmlns:a16="http://schemas.microsoft.com/office/drawing/2014/main" val="3150768785"/>
                    </a:ext>
                  </a:extLst>
                </a:gridCol>
              </a:tblGrid>
              <a:tr h="358030">
                <a:tc>
                  <a:txBody>
                    <a:bodyPr/>
                    <a:lstStyle/>
                    <a:p>
                      <a:r>
                        <a:rPr lang="en-IN" sz="2600" b="1"/>
                        <a:t>Operator</a:t>
                      </a:r>
                    </a:p>
                  </a:txBody>
                  <a:tcPr marL="89507" marR="89507" marT="44754" marB="4475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/>
                        <a:t>Example</a:t>
                      </a:r>
                    </a:p>
                  </a:txBody>
                  <a:tcPr marL="89507" marR="89507" marT="44754" marB="4475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dirty="0"/>
                        <a:t>Equivalent expression</a:t>
                      </a:r>
                    </a:p>
                  </a:txBody>
                  <a:tcPr marL="89507" marR="89507" marT="44754" marB="4475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629176"/>
                  </a:ext>
                </a:extLst>
              </a:tr>
              <a:tr h="358030">
                <a:tc>
                  <a:txBody>
                    <a:bodyPr/>
                    <a:lstStyle/>
                    <a:p>
                      <a:r>
                        <a:rPr lang="en-IN" sz="2600"/>
                        <a:t>+=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+= 5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= x + 5</a:t>
                      </a:r>
                    </a:p>
                  </a:txBody>
                  <a:tcPr marL="89507" marR="89507" marT="44754" marB="44754" anchor="ctr"/>
                </a:tc>
                <a:extLst>
                  <a:ext uri="{0D108BD9-81ED-4DB2-BD59-A6C34878D82A}">
                    <a16:rowId xmlns:a16="http://schemas.microsoft.com/office/drawing/2014/main" val="2562271945"/>
                  </a:ext>
                </a:extLst>
              </a:tr>
              <a:tr h="358030">
                <a:tc>
                  <a:txBody>
                    <a:bodyPr/>
                    <a:lstStyle/>
                    <a:p>
                      <a:r>
                        <a:rPr lang="en-IN" sz="2600"/>
                        <a:t>-=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x -= 5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= x - 5</a:t>
                      </a:r>
                    </a:p>
                  </a:txBody>
                  <a:tcPr marL="89507" marR="89507" marT="44754" marB="44754" anchor="ctr"/>
                </a:tc>
                <a:extLst>
                  <a:ext uri="{0D108BD9-81ED-4DB2-BD59-A6C34878D82A}">
                    <a16:rowId xmlns:a16="http://schemas.microsoft.com/office/drawing/2014/main" val="2671588061"/>
                  </a:ext>
                </a:extLst>
              </a:tr>
              <a:tr h="358030">
                <a:tc>
                  <a:txBody>
                    <a:bodyPr/>
                    <a:lstStyle/>
                    <a:p>
                      <a:r>
                        <a:rPr lang="en-IN" sz="2600"/>
                        <a:t>*=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*= 5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= x * 5</a:t>
                      </a:r>
                    </a:p>
                  </a:txBody>
                  <a:tcPr marL="89507" marR="89507" marT="44754" marB="44754" anchor="ctr"/>
                </a:tc>
                <a:extLst>
                  <a:ext uri="{0D108BD9-81ED-4DB2-BD59-A6C34878D82A}">
                    <a16:rowId xmlns:a16="http://schemas.microsoft.com/office/drawing/2014/main" val="2678023430"/>
                  </a:ext>
                </a:extLst>
              </a:tr>
              <a:tr h="358030">
                <a:tc>
                  <a:txBody>
                    <a:bodyPr/>
                    <a:lstStyle/>
                    <a:p>
                      <a:r>
                        <a:rPr lang="en-IN" sz="2600"/>
                        <a:t>/=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/= 5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= x / 5</a:t>
                      </a:r>
                    </a:p>
                  </a:txBody>
                  <a:tcPr marL="89507" marR="89507" marT="44754" marB="44754" anchor="ctr"/>
                </a:tc>
                <a:extLst>
                  <a:ext uri="{0D108BD9-81ED-4DB2-BD59-A6C34878D82A}">
                    <a16:rowId xmlns:a16="http://schemas.microsoft.com/office/drawing/2014/main" val="3522088761"/>
                  </a:ext>
                </a:extLst>
              </a:tr>
              <a:tr h="358030">
                <a:tc>
                  <a:txBody>
                    <a:bodyPr/>
                    <a:lstStyle/>
                    <a:p>
                      <a:r>
                        <a:rPr lang="en-IN" sz="2600"/>
                        <a:t>//=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//= 5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= x // 5</a:t>
                      </a:r>
                    </a:p>
                  </a:txBody>
                  <a:tcPr marL="89507" marR="89507" marT="44754" marB="44754" anchor="ctr"/>
                </a:tc>
                <a:extLst>
                  <a:ext uri="{0D108BD9-81ED-4DB2-BD59-A6C34878D82A}">
                    <a16:rowId xmlns:a16="http://schemas.microsoft.com/office/drawing/2014/main" val="1859782506"/>
                  </a:ext>
                </a:extLst>
              </a:tr>
              <a:tr h="358030">
                <a:tc>
                  <a:txBody>
                    <a:bodyPr/>
                    <a:lstStyle/>
                    <a:p>
                      <a:r>
                        <a:rPr lang="en-IN" sz="2600"/>
                        <a:t>%=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%= 5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= x % 5</a:t>
                      </a:r>
                    </a:p>
                  </a:txBody>
                  <a:tcPr marL="89507" marR="89507" marT="44754" marB="44754" anchor="ctr"/>
                </a:tc>
                <a:extLst>
                  <a:ext uri="{0D108BD9-81ED-4DB2-BD59-A6C34878D82A}">
                    <a16:rowId xmlns:a16="http://schemas.microsoft.com/office/drawing/2014/main" val="19748774"/>
                  </a:ext>
                </a:extLst>
              </a:tr>
              <a:tr h="358030">
                <a:tc>
                  <a:txBody>
                    <a:bodyPr/>
                    <a:lstStyle/>
                    <a:p>
                      <a:r>
                        <a:rPr lang="en-IN" sz="2600"/>
                        <a:t>**=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x **= 5</a:t>
                      </a:r>
                    </a:p>
                  </a:txBody>
                  <a:tcPr marL="89507" marR="89507" marT="44754" marB="44754"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x = x ** 5</a:t>
                      </a:r>
                    </a:p>
                  </a:txBody>
                  <a:tcPr marL="89507" marR="89507" marT="44754" marB="44754" anchor="ctr"/>
                </a:tc>
                <a:extLst>
                  <a:ext uri="{0D108BD9-81ED-4DB2-BD59-A6C34878D82A}">
                    <a16:rowId xmlns:a16="http://schemas.microsoft.com/office/drawing/2014/main" val="598817926"/>
                  </a:ext>
                </a:extLst>
              </a:tr>
            </a:tbl>
          </a:graphicData>
        </a:graphic>
      </p:graphicFrame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993835" y="2006807"/>
            <a:ext cx="7364896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04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2: Updating a Shopping Cart Bill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Compound assignment makes programs shorter and easier to read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bill </a:t>
            </a:r>
            <a:r>
              <a:rPr lang="en-US" dirty="0"/>
              <a:t>= 1000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bill += 250       # Add another product</a:t>
            </a:r>
          </a:p>
          <a:p>
            <a:pPr marL="0" indent="0">
              <a:buNone/>
            </a:pPr>
            <a:r>
              <a:rPr lang="en-US" dirty="0"/>
              <a:t>print("After adding product:", bill)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bill -= 100       # Apply a flat discount</a:t>
            </a:r>
          </a:p>
          <a:p>
            <a:pPr marL="0" indent="0">
              <a:buNone/>
            </a:pPr>
            <a:r>
              <a:rPr lang="en-US" dirty="0"/>
              <a:t>print("After discount:", bill)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bill *= 1.18      # Add 18% tax</a:t>
            </a:r>
          </a:p>
          <a:p>
            <a:pPr marL="0" indent="0">
              <a:buNone/>
            </a:pPr>
            <a:r>
              <a:rPr lang="en-US" dirty="0"/>
              <a:t>print("After tax:", bill)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103027" y="2556707"/>
            <a:ext cx="4664765" cy="17851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US" sz="2800" dirty="0"/>
              <a:t>After adding product: 1250 After discount: 1150 </a:t>
            </a:r>
            <a:endParaRPr lang="en-US" sz="2800" dirty="0" smtClean="0"/>
          </a:p>
          <a:p>
            <a:r>
              <a:rPr lang="en-US" sz="2800" dirty="0" smtClean="0"/>
              <a:t>After </a:t>
            </a:r>
            <a:r>
              <a:rPr lang="en-US" sz="2800" dirty="0"/>
              <a:t>tax: 1357.0</a:t>
            </a:r>
            <a:endParaRPr lang="en-IN" sz="2600" dirty="0"/>
          </a:p>
        </p:txBody>
      </p:sp>
      <p:sp>
        <p:nvSpPr>
          <p:cNvPr id="6" name="Rectangle 5"/>
          <p:cNvSpPr/>
          <p:nvPr/>
        </p:nvSpPr>
        <p:spPr>
          <a:xfrm>
            <a:off x="7103027" y="4793251"/>
            <a:ext cx="4128023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 smtClean="0"/>
              <a:t>Note</a:t>
            </a:r>
            <a:r>
              <a:rPr lang="en-IN" sz="2800" dirty="0" smtClean="0"/>
              <a:t>:</a:t>
            </a:r>
          </a:p>
          <a:p>
            <a:r>
              <a:rPr lang="en-IN" sz="2800" dirty="0" smtClean="0"/>
              <a:t>bill </a:t>
            </a:r>
            <a:r>
              <a:rPr lang="en-IN" sz="2800" dirty="0"/>
              <a:t>+= </a:t>
            </a:r>
            <a:r>
              <a:rPr lang="en-IN" sz="2800" dirty="0"/>
              <a:t>250</a:t>
            </a:r>
          </a:p>
          <a:p>
            <a:r>
              <a:rPr lang="en-US" sz="2800" dirty="0"/>
              <a:t>is a shorter form of</a:t>
            </a:r>
            <a:r>
              <a:rPr lang="en-US" sz="2800" dirty="0"/>
              <a:t>:</a:t>
            </a:r>
          </a:p>
          <a:p>
            <a:r>
              <a:rPr lang="en-IN" sz="2800" dirty="0"/>
              <a:t>bill = bill + 250</a:t>
            </a:r>
          </a:p>
        </p:txBody>
      </p:sp>
    </p:spTree>
    <p:extLst>
      <p:ext uri="{BB962C8B-B14F-4D97-AF65-F5344CB8AC3E}">
        <p14:creationId xmlns:p14="http://schemas.microsoft.com/office/powerpoint/2010/main" val="223142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Comparison </a:t>
            </a:r>
            <a:r>
              <a:rPr lang="en-IN" dirty="0"/>
              <a:t>Operators</a:t>
            </a:r>
            <a:endParaRPr lang="en-US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993835" y="2006807"/>
            <a:ext cx="7364896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Comparison operators compare two values and produce either True or False.</a:t>
            </a:r>
            <a:endParaRPr lang="en-IN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905746"/>
              </p:ext>
            </p:extLst>
          </p:nvPr>
        </p:nvGraphicFramePr>
        <p:xfrm>
          <a:off x="1500738" y="2816114"/>
          <a:ext cx="9352722" cy="3413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60841">
                  <a:extLst>
                    <a:ext uri="{9D8B030D-6E8A-4147-A177-3AD203B41FA5}">
                      <a16:colId xmlns:a16="http://schemas.microsoft.com/office/drawing/2014/main" val="3237504054"/>
                    </a:ext>
                  </a:extLst>
                </a:gridCol>
                <a:gridCol w="4066401">
                  <a:extLst>
                    <a:ext uri="{9D8B030D-6E8A-4147-A177-3AD203B41FA5}">
                      <a16:colId xmlns:a16="http://schemas.microsoft.com/office/drawing/2014/main" val="3928842848"/>
                    </a:ext>
                  </a:extLst>
                </a:gridCol>
                <a:gridCol w="2625480">
                  <a:extLst>
                    <a:ext uri="{9D8B030D-6E8A-4147-A177-3AD203B41FA5}">
                      <a16:colId xmlns:a16="http://schemas.microsoft.com/office/drawing/2014/main" val="38397323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 b="1"/>
                        <a:t>Operator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/>
                        <a:t>Meaning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dirty="0"/>
                        <a:t>Example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29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==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143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Not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!=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081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Greater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&gt;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970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Less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&lt;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930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Greater than or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&gt;=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672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Less than or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a &lt;=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127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094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Comparison </a:t>
            </a:r>
            <a:r>
              <a:rPr lang="en-IN" dirty="0"/>
              <a:t>Operators</a:t>
            </a:r>
            <a:endParaRPr lang="en-US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993835" y="2006807"/>
            <a:ext cx="7364896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	marks </a:t>
            </a:r>
            <a:r>
              <a:rPr lang="en-US" dirty="0"/>
              <a:t>= 80 # Assignment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marks </a:t>
            </a:r>
            <a:r>
              <a:rPr lang="en-US" dirty="0"/>
              <a:t>== 80 # </a:t>
            </a:r>
            <a:r>
              <a:rPr lang="en-US" dirty="0" smtClean="0"/>
              <a:t>Comparison</a:t>
            </a:r>
          </a:p>
          <a:p>
            <a:endParaRPr lang="en-US" dirty="0"/>
          </a:p>
          <a:p>
            <a:r>
              <a:rPr lang="en-US" dirty="0"/>
              <a:t>Python also supports </a:t>
            </a:r>
            <a:r>
              <a:rPr lang="en-US" b="1" dirty="0"/>
              <a:t>chained </a:t>
            </a:r>
            <a:r>
              <a:rPr lang="en-US" b="1" dirty="0" smtClean="0"/>
              <a:t>comparison</a:t>
            </a:r>
          </a:p>
          <a:p>
            <a:pPr marL="0" indent="0">
              <a:buNone/>
            </a:pPr>
            <a:r>
              <a:rPr lang="en-IN" dirty="0" smtClean="0"/>
              <a:t>	18 </a:t>
            </a:r>
            <a:r>
              <a:rPr lang="en-IN" dirty="0"/>
              <a:t>&lt;= age &lt;= </a:t>
            </a:r>
            <a:r>
              <a:rPr lang="en-IN" dirty="0" smtClean="0"/>
              <a:t>60</a:t>
            </a:r>
          </a:p>
          <a:p>
            <a:pPr marL="0" indent="0">
              <a:buNone/>
            </a:pPr>
            <a:r>
              <a:rPr lang="en-IN" dirty="0"/>
              <a:t>This is equivalent to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	age </a:t>
            </a:r>
            <a:r>
              <a:rPr lang="en-US" dirty="0"/>
              <a:t>&gt;= 18 and age &lt;= 60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9159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3: Grade Eligibility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marks = 76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print("Passed:", marks &gt;= 40)</a:t>
            </a:r>
          </a:p>
          <a:p>
            <a:pPr marL="0" indent="0">
              <a:buNone/>
            </a:pPr>
            <a:r>
              <a:rPr lang="en-US" dirty="0"/>
              <a:t>print("Distinction:", marks &gt;= 75)</a:t>
            </a:r>
          </a:p>
          <a:p>
            <a:pPr marL="0" indent="0">
              <a:buNone/>
            </a:pPr>
            <a:r>
              <a:rPr lang="en-US" dirty="0"/>
              <a:t>print("Perfect score:", marks == 100)</a:t>
            </a:r>
          </a:p>
          <a:p>
            <a:pPr marL="0" indent="0">
              <a:buNone/>
            </a:pPr>
            <a:r>
              <a:rPr lang="en-US" dirty="0"/>
              <a:t>print("Failed:", marks &lt; 40)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023514" y="4087320"/>
            <a:ext cx="4664765" cy="22159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US" sz="2800" dirty="0"/>
              <a:t>Passed: True </a:t>
            </a:r>
            <a:endParaRPr lang="en-US" sz="2800" dirty="0" smtClean="0"/>
          </a:p>
          <a:p>
            <a:r>
              <a:rPr lang="en-US" sz="2800" dirty="0" smtClean="0"/>
              <a:t>Distinction</a:t>
            </a:r>
            <a:r>
              <a:rPr lang="en-US" sz="2800" dirty="0"/>
              <a:t>: True </a:t>
            </a:r>
            <a:endParaRPr lang="en-US" sz="2800" dirty="0" smtClean="0"/>
          </a:p>
          <a:p>
            <a:r>
              <a:rPr lang="en-US" sz="2800" dirty="0" smtClean="0"/>
              <a:t>Perfect </a:t>
            </a:r>
            <a:r>
              <a:rPr lang="en-US" sz="2800" dirty="0"/>
              <a:t>score: False </a:t>
            </a:r>
            <a:endParaRPr lang="en-US" sz="2800" dirty="0" smtClean="0"/>
          </a:p>
          <a:p>
            <a:r>
              <a:rPr lang="en-US" sz="2800" dirty="0" smtClean="0"/>
              <a:t>Failed</a:t>
            </a:r>
            <a:r>
              <a:rPr lang="en-US" sz="2800" dirty="0"/>
              <a:t>: False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37881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3: Grade Eligibility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marks = 76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marks &gt;= 75:</a:t>
            </a:r>
          </a:p>
          <a:p>
            <a:pPr marL="0" indent="0">
              <a:buNone/>
            </a:pPr>
            <a:r>
              <a:rPr lang="en-US" dirty="0"/>
              <a:t>    print("Distinction")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marks &gt;= 60:</a:t>
            </a:r>
          </a:p>
          <a:p>
            <a:pPr marL="0" indent="0">
              <a:buNone/>
            </a:pPr>
            <a:r>
              <a:rPr lang="en-US" dirty="0"/>
              <a:t>    print("First Division")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marks &gt;= 40:</a:t>
            </a:r>
          </a:p>
          <a:p>
            <a:pPr marL="0" indent="0">
              <a:buNone/>
            </a:pPr>
            <a:r>
              <a:rPr lang="en-US" dirty="0"/>
              <a:t>    print("Pass")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    print("Fail")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103027" y="2258520"/>
            <a:ext cx="46647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IN" sz="2800" dirty="0"/>
              <a:t>Distinction</a:t>
            </a:r>
            <a:endParaRPr lang="en-IN" sz="2600" dirty="0"/>
          </a:p>
        </p:txBody>
      </p:sp>
      <p:sp>
        <p:nvSpPr>
          <p:cNvPr id="6" name="Rectangle 5"/>
          <p:cNvSpPr/>
          <p:nvPr/>
        </p:nvSpPr>
        <p:spPr>
          <a:xfrm>
            <a:off x="5512904" y="3614746"/>
            <a:ext cx="6612696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b="1" dirty="0" smtClean="0"/>
              <a:t>Note</a:t>
            </a:r>
            <a:r>
              <a:rPr lang="en-IN" sz="2400" dirty="0" smtClean="0"/>
              <a:t>:</a:t>
            </a:r>
          </a:p>
          <a:p>
            <a:pPr algn="just"/>
            <a:r>
              <a:rPr lang="en-US" sz="2400" dirty="0"/>
              <a:t>Python comparisons return Boolean values, and mathematical-style chained comparisons are supported. </a:t>
            </a:r>
            <a:endParaRPr lang="en-US" sz="2400" dirty="0" smtClean="0"/>
          </a:p>
          <a:p>
            <a:pPr algn="just"/>
            <a:endParaRPr lang="en-US" sz="2400" dirty="0"/>
          </a:p>
          <a:p>
            <a:pPr algn="just"/>
            <a:r>
              <a:rPr lang="en-US" sz="2400" dirty="0" smtClean="0"/>
              <a:t>For </a:t>
            </a:r>
            <a:r>
              <a:rPr lang="en-US" sz="2400" dirty="0"/>
              <a:t>example, 10 &lt; marks &lt;= 100 checks both boundaries while evaluating the middle expression only once.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4903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Logical </a:t>
            </a:r>
            <a:r>
              <a:rPr lang="en-US" b="1" dirty="0" smtClean="0"/>
              <a:t>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Logical operators combine or reverse conditions.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641308"/>
              </p:ext>
            </p:extLst>
          </p:nvPr>
        </p:nvGraphicFramePr>
        <p:xfrm>
          <a:off x="337859" y="2403745"/>
          <a:ext cx="7958001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8176">
                  <a:extLst>
                    <a:ext uri="{9D8B030D-6E8A-4147-A177-3AD203B41FA5}">
                      <a16:colId xmlns:a16="http://schemas.microsoft.com/office/drawing/2014/main" val="1017319853"/>
                    </a:ext>
                  </a:extLst>
                </a:gridCol>
                <a:gridCol w="3907158">
                  <a:extLst>
                    <a:ext uri="{9D8B030D-6E8A-4147-A177-3AD203B41FA5}">
                      <a16:colId xmlns:a16="http://schemas.microsoft.com/office/drawing/2014/main" val="1639146531"/>
                    </a:ext>
                  </a:extLst>
                </a:gridCol>
                <a:gridCol w="2652667">
                  <a:extLst>
                    <a:ext uri="{9D8B030D-6E8A-4147-A177-3AD203B41FA5}">
                      <a16:colId xmlns:a16="http://schemas.microsoft.com/office/drawing/2014/main" val="18268844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Operator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Meaning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Result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783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True when both conditions are 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 and True →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919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True when at least one condition is 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 or True →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811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Reverses the logical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True →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79198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38820"/>
              </p:ext>
            </p:extLst>
          </p:nvPr>
        </p:nvGraphicFramePr>
        <p:xfrm>
          <a:off x="4098199" y="4265112"/>
          <a:ext cx="5907192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76798">
                  <a:extLst>
                    <a:ext uri="{9D8B030D-6E8A-4147-A177-3AD203B41FA5}">
                      <a16:colId xmlns:a16="http://schemas.microsoft.com/office/drawing/2014/main" val="2024132957"/>
                    </a:ext>
                  </a:extLst>
                </a:gridCol>
                <a:gridCol w="1476798">
                  <a:extLst>
                    <a:ext uri="{9D8B030D-6E8A-4147-A177-3AD203B41FA5}">
                      <a16:colId xmlns:a16="http://schemas.microsoft.com/office/drawing/2014/main" val="1038374756"/>
                    </a:ext>
                  </a:extLst>
                </a:gridCol>
                <a:gridCol w="1476798">
                  <a:extLst>
                    <a:ext uri="{9D8B030D-6E8A-4147-A177-3AD203B41FA5}">
                      <a16:colId xmlns:a16="http://schemas.microsoft.com/office/drawing/2014/main" val="3944610128"/>
                    </a:ext>
                  </a:extLst>
                </a:gridCol>
                <a:gridCol w="1476798">
                  <a:extLst>
                    <a:ext uri="{9D8B030D-6E8A-4147-A177-3AD203B41FA5}">
                      <a16:colId xmlns:a16="http://schemas.microsoft.com/office/drawing/2014/main" val="1104474319"/>
                    </a:ext>
                  </a:extLst>
                </a:gridCol>
              </a:tblGrid>
              <a:tr h="18288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Truth Table</a:t>
                      </a:r>
                      <a:endParaRPr lang="en-IN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9667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IN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A and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A 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085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062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636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765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55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48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Example 4: Placement Eligibility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Suppose a student is eligible when:</a:t>
            </a:r>
          </a:p>
          <a:p>
            <a:pPr lvl="1"/>
            <a:r>
              <a:rPr lang="en-US" dirty="0"/>
              <a:t>CGPA is at least 7.0, </a:t>
            </a:r>
          </a:p>
          <a:p>
            <a:pPr lvl="1"/>
            <a:r>
              <a:rPr lang="en-US" dirty="0"/>
              <a:t>there is no active backlog, and </a:t>
            </a:r>
          </a:p>
          <a:p>
            <a:pPr lvl="1"/>
            <a:r>
              <a:rPr lang="en-US" dirty="0"/>
              <a:t>either Python or Java is known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 smtClean="0"/>
              <a:t>cgpa</a:t>
            </a:r>
            <a:r>
              <a:rPr lang="en-US" dirty="0" smtClean="0"/>
              <a:t> </a:t>
            </a:r>
            <a:r>
              <a:rPr lang="en-US" dirty="0"/>
              <a:t>= 8.1</a:t>
            </a:r>
          </a:p>
          <a:p>
            <a:pPr marL="0" indent="0">
              <a:buNone/>
            </a:pPr>
            <a:r>
              <a:rPr lang="en-US" dirty="0" err="1"/>
              <a:t>active_backlogs</a:t>
            </a:r>
            <a:r>
              <a:rPr lang="en-US" dirty="0"/>
              <a:t> = 0</a:t>
            </a:r>
          </a:p>
          <a:p>
            <a:pPr marL="0" indent="0">
              <a:buNone/>
            </a:pPr>
            <a:r>
              <a:rPr lang="en-US" dirty="0" err="1"/>
              <a:t>knows_python</a:t>
            </a:r>
            <a:r>
              <a:rPr lang="en-US" dirty="0"/>
              <a:t> = True</a:t>
            </a:r>
          </a:p>
          <a:p>
            <a:pPr marL="0" indent="0">
              <a:buNone/>
            </a:pPr>
            <a:r>
              <a:rPr lang="en-US" dirty="0" err="1"/>
              <a:t>knows_java</a:t>
            </a:r>
            <a:r>
              <a:rPr lang="en-US" dirty="0"/>
              <a:t> = False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eligible =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cgpa</a:t>
            </a:r>
            <a:r>
              <a:rPr lang="en-US" dirty="0"/>
              <a:t> &gt;= 7.0</a:t>
            </a:r>
          </a:p>
          <a:p>
            <a:pPr marL="0" indent="0">
              <a:buNone/>
            </a:pPr>
            <a:r>
              <a:rPr lang="en-US" dirty="0"/>
              <a:t>    and </a:t>
            </a:r>
            <a:r>
              <a:rPr lang="en-US" dirty="0" err="1"/>
              <a:t>active_backlogs</a:t>
            </a:r>
            <a:r>
              <a:rPr lang="en-US" dirty="0"/>
              <a:t> == 0</a:t>
            </a:r>
          </a:p>
          <a:p>
            <a:pPr marL="0" indent="0">
              <a:buNone/>
            </a:pPr>
            <a:r>
              <a:rPr lang="en-US" dirty="0"/>
              <a:t>    and (</a:t>
            </a:r>
            <a:r>
              <a:rPr lang="en-US" dirty="0" err="1"/>
              <a:t>knows_python</a:t>
            </a:r>
            <a:r>
              <a:rPr lang="en-US" dirty="0"/>
              <a:t> or </a:t>
            </a:r>
            <a:r>
              <a:rPr lang="en-US" dirty="0" err="1"/>
              <a:t>knows_java</a:t>
            </a:r>
            <a:r>
              <a:rPr lang="en-US" dirty="0" smtClean="0"/>
              <a:t>))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print("Placement eligible:", eligible)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103027" y="2258520"/>
            <a:ext cx="46647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IN" sz="2800" dirty="0"/>
              <a:t>Placement eligible: True</a:t>
            </a:r>
            <a:endParaRPr lang="en-IN" sz="2600" dirty="0"/>
          </a:p>
        </p:txBody>
      </p:sp>
      <p:sp>
        <p:nvSpPr>
          <p:cNvPr id="6" name="Rectangle 5"/>
          <p:cNvSpPr/>
          <p:nvPr/>
        </p:nvSpPr>
        <p:spPr>
          <a:xfrm>
            <a:off x="6042991" y="3865762"/>
            <a:ext cx="6082609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b="1" dirty="0" smtClean="0"/>
              <a:t>Note</a:t>
            </a:r>
            <a:r>
              <a:rPr lang="en-IN" sz="2400" dirty="0" smtClean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/>
              <a:t>cgpa</a:t>
            </a:r>
            <a:r>
              <a:rPr lang="en-US" sz="2400" dirty="0"/>
              <a:t> &gt;= 7.0 and </a:t>
            </a:r>
            <a:r>
              <a:rPr lang="en-US" sz="2400" dirty="0" err="1"/>
              <a:t>active_backlogs</a:t>
            </a:r>
            <a:r>
              <a:rPr lang="en-US" sz="2400" dirty="0"/>
              <a:t> == </a:t>
            </a:r>
            <a:r>
              <a:rPr lang="en-US" sz="2400" dirty="0" smtClean="0"/>
              <a:t>0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Both conditions must be true</a:t>
            </a:r>
            <a:r>
              <a:rPr lang="en-US" sz="2400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 err="1"/>
              <a:t>knows_python</a:t>
            </a:r>
            <a:r>
              <a:rPr lang="en-IN" sz="2400" dirty="0"/>
              <a:t> or </a:t>
            </a:r>
            <a:r>
              <a:rPr lang="en-IN" sz="2400" dirty="0" err="1" smtClean="0"/>
              <a:t>knows_java</a:t>
            </a:r>
            <a:endParaRPr lang="en-IN" sz="24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At least one programming language must be known.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97188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Example 4: Placement Eligibility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Short-circuit </a:t>
            </a:r>
            <a:r>
              <a:rPr lang="en-IN" b="1" dirty="0" smtClean="0"/>
              <a:t>evaluation</a:t>
            </a:r>
          </a:p>
          <a:p>
            <a:r>
              <a:rPr lang="en-US" dirty="0"/>
              <a:t>Python may stop evaluating a logical expression as soon as the answer is known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=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x != 0 and 10 / x &gt; 2:</a:t>
            </a:r>
          </a:p>
          <a:p>
            <a:pPr marL="0" indent="0">
              <a:buNone/>
            </a:pPr>
            <a:r>
              <a:rPr lang="en-US" dirty="0"/>
              <a:t>    print("Condition satisfied")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089913" y="4879251"/>
            <a:ext cx="5035687" cy="19389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b="1" dirty="0" smtClean="0"/>
              <a:t>Note</a:t>
            </a:r>
            <a:r>
              <a:rPr lang="en-IN" sz="2400" dirty="0" smtClean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Because x!= </a:t>
            </a:r>
            <a:r>
              <a:rPr lang="en-US" sz="2400" dirty="0"/>
              <a:t>0 is false, </a:t>
            </a:r>
            <a:endParaRPr lang="en-US" sz="24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Python </a:t>
            </a:r>
            <a:r>
              <a:rPr lang="en-US" sz="2400" dirty="0"/>
              <a:t>does not calculate 10 / x. This prevents division by zero.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876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Membership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Membership operators check whether a value is available inside a sequence or collection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can be used with:</a:t>
            </a:r>
          </a:p>
          <a:p>
            <a:pPr lvl="1"/>
            <a:r>
              <a:rPr lang="en-US" dirty="0"/>
              <a:t>strings, </a:t>
            </a:r>
          </a:p>
          <a:p>
            <a:pPr lvl="1"/>
            <a:r>
              <a:rPr lang="en-US" dirty="0"/>
              <a:t>lists, </a:t>
            </a:r>
          </a:p>
          <a:p>
            <a:pPr lvl="1"/>
            <a:r>
              <a:rPr lang="en-US" dirty="0"/>
              <a:t>tuples, </a:t>
            </a:r>
          </a:p>
          <a:p>
            <a:pPr lvl="1"/>
            <a:r>
              <a:rPr lang="en-US" dirty="0"/>
              <a:t>sets, </a:t>
            </a:r>
          </a:p>
          <a:p>
            <a:pPr lvl="1"/>
            <a:r>
              <a:rPr lang="en-US" dirty="0"/>
              <a:t>dictionaries.</a:t>
            </a:r>
          </a:p>
          <a:p>
            <a:pPr algn="just"/>
            <a:endParaRPr lang="en-US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807977"/>
              </p:ext>
            </p:extLst>
          </p:nvPr>
        </p:nvGraphicFramePr>
        <p:xfrm>
          <a:off x="4426225" y="2803297"/>
          <a:ext cx="5592419" cy="10972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126436">
                  <a:extLst>
                    <a:ext uri="{9D8B030D-6E8A-4147-A177-3AD203B41FA5}">
                      <a16:colId xmlns:a16="http://schemas.microsoft.com/office/drawing/2014/main" val="554097960"/>
                    </a:ext>
                  </a:extLst>
                </a:gridCol>
                <a:gridCol w="4465983">
                  <a:extLst>
                    <a:ext uri="{9D8B030D-6E8A-4147-A177-3AD203B41FA5}">
                      <a16:colId xmlns:a16="http://schemas.microsoft.com/office/drawing/2014/main" val="1970374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Operator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4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True when the value is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784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not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True when the value is absent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834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30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5: Course and Email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registered_courses</a:t>
            </a:r>
            <a:r>
              <a:rPr lang="en-US" dirty="0"/>
              <a:t> = ["Python", "DBMS", "DSA"]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print("Python" in </a:t>
            </a:r>
            <a:r>
              <a:rPr lang="en-US" dirty="0" err="1"/>
              <a:t>registered_courses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print("Cloud Computing" not in </a:t>
            </a:r>
            <a:r>
              <a:rPr lang="en-US" dirty="0" err="1"/>
              <a:t>registered_courses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email = "student@abes.ac.in"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"@abes.ac.in" in email:</a:t>
            </a:r>
          </a:p>
          <a:p>
            <a:pPr marL="0" indent="0">
              <a:buNone/>
            </a:pPr>
            <a:r>
              <a:rPr lang="en-US" dirty="0"/>
              <a:t>    print("Institutional email address")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    print("External email address")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248938" y="4911281"/>
            <a:ext cx="4664765" cy="17851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US" sz="2800" dirty="0"/>
              <a:t>True </a:t>
            </a:r>
            <a:endParaRPr lang="en-US" sz="2800" dirty="0" smtClean="0"/>
          </a:p>
          <a:p>
            <a:r>
              <a:rPr lang="en-US" sz="2800" dirty="0" smtClean="0"/>
              <a:t>True</a:t>
            </a:r>
          </a:p>
          <a:p>
            <a:r>
              <a:rPr lang="en-US" sz="2800" dirty="0" smtClean="0"/>
              <a:t>Institutional </a:t>
            </a:r>
            <a:r>
              <a:rPr lang="en-US" sz="2800" dirty="0"/>
              <a:t>email address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08030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5: Course and Email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Membership in a dictionary</a:t>
            </a:r>
            <a:endParaRPr lang="en-IN" dirty="0"/>
          </a:p>
          <a:p>
            <a:r>
              <a:rPr lang="en-IN" dirty="0"/>
              <a:t>For dictionaries, in checks the </a:t>
            </a:r>
            <a:r>
              <a:rPr lang="en-IN" b="1" dirty="0"/>
              <a:t>keys</a:t>
            </a:r>
            <a:r>
              <a:rPr lang="en-IN" dirty="0"/>
              <a:t>, not the values.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/>
              <a:t>student = {</a:t>
            </a:r>
          </a:p>
          <a:p>
            <a:pPr marL="0" indent="0">
              <a:buNone/>
            </a:pPr>
            <a:r>
              <a:rPr lang="en-IN" dirty="0"/>
              <a:t>    "name": "</a:t>
            </a:r>
            <a:r>
              <a:rPr lang="en-IN" dirty="0" err="1"/>
              <a:t>Aman</a:t>
            </a:r>
            <a:r>
              <a:rPr lang="en-IN" dirty="0"/>
              <a:t>",</a:t>
            </a:r>
          </a:p>
          <a:p>
            <a:pPr marL="0" indent="0">
              <a:buNone/>
            </a:pPr>
            <a:r>
              <a:rPr lang="en-IN" dirty="0"/>
              <a:t>    "branch": "CSE"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print("name" in student)       # True</a:t>
            </a:r>
          </a:p>
          <a:p>
            <a:pPr marL="0" indent="0">
              <a:buNone/>
            </a:pPr>
            <a:r>
              <a:rPr lang="en-IN" dirty="0"/>
              <a:t>print("</a:t>
            </a:r>
            <a:r>
              <a:rPr lang="en-IN" dirty="0" err="1"/>
              <a:t>Aman</a:t>
            </a:r>
            <a:r>
              <a:rPr lang="en-IN" dirty="0"/>
              <a:t>" in student)       # False</a:t>
            </a:r>
          </a:p>
          <a:p>
            <a:pPr marL="0" indent="0">
              <a:buNone/>
            </a:pPr>
            <a:r>
              <a:rPr lang="en-IN" dirty="0"/>
              <a:t>print("</a:t>
            </a:r>
            <a:r>
              <a:rPr lang="en-IN" dirty="0" err="1"/>
              <a:t>Aman</a:t>
            </a:r>
            <a:r>
              <a:rPr lang="en-IN" dirty="0"/>
              <a:t>" in </a:t>
            </a:r>
            <a:r>
              <a:rPr lang="en-IN" dirty="0" err="1"/>
              <a:t>student.values</a:t>
            </a:r>
            <a:r>
              <a:rPr lang="en-IN" dirty="0"/>
              <a:t>())  # True</a:t>
            </a:r>
            <a:r>
              <a:rPr lang="en-IN" dirty="0"/>
              <a:t> 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53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Identity Operators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 smtClean="0"/>
              <a:t>Identity </a:t>
            </a:r>
            <a:r>
              <a:rPr lang="en-US" dirty="0"/>
              <a:t>operators determine whether two variables refer to the </a:t>
            </a:r>
            <a:r>
              <a:rPr lang="en-US" b="1" dirty="0"/>
              <a:t>same object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== versus is</a:t>
            </a:r>
          </a:p>
          <a:p>
            <a:pPr marL="0" indent="0">
              <a:buNone/>
            </a:pPr>
            <a:r>
              <a:rPr lang="en-US" dirty="0" smtClean="0"/>
              <a:t>	== </a:t>
            </a:r>
            <a:r>
              <a:rPr lang="en-US" dirty="0"/>
              <a:t>compares values. </a:t>
            </a:r>
          </a:p>
          <a:p>
            <a:pPr marL="0" indent="0">
              <a:buNone/>
            </a:pPr>
            <a:r>
              <a:rPr lang="en-US" dirty="0" smtClean="0"/>
              <a:t>	is </a:t>
            </a:r>
            <a:r>
              <a:rPr lang="en-US" dirty="0"/>
              <a:t>compares object identity.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17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 6: Value Equality and Object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list1 = [10, 20, 30]</a:t>
            </a:r>
          </a:p>
          <a:p>
            <a:pPr marL="0" indent="0">
              <a:buNone/>
            </a:pPr>
            <a:r>
              <a:rPr lang="en-US" dirty="0"/>
              <a:t>list2 = [10, 20, 30]</a:t>
            </a:r>
          </a:p>
          <a:p>
            <a:pPr marL="0" indent="0">
              <a:buNone/>
            </a:pPr>
            <a:r>
              <a:rPr lang="en-US" dirty="0"/>
              <a:t>list3 = list1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print(list1 == list2)</a:t>
            </a:r>
          </a:p>
          <a:p>
            <a:pPr marL="0" indent="0">
              <a:buNone/>
            </a:pPr>
            <a:r>
              <a:rPr lang="en-US" dirty="0"/>
              <a:t>print(list1 is list2)</a:t>
            </a:r>
          </a:p>
          <a:p>
            <a:pPr marL="0" indent="0">
              <a:buNone/>
            </a:pPr>
            <a:r>
              <a:rPr lang="en-US" dirty="0"/>
              <a:t>print(list1 is list3)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420139" y="1690688"/>
            <a:ext cx="4664765" cy="17851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IN" sz="2800" dirty="0" smtClean="0"/>
              <a:t>True</a:t>
            </a:r>
          </a:p>
          <a:p>
            <a:r>
              <a:rPr lang="en-IN" sz="2800" dirty="0" smtClean="0"/>
              <a:t>False</a:t>
            </a:r>
          </a:p>
          <a:p>
            <a:r>
              <a:rPr lang="en-IN" sz="2800" dirty="0" smtClean="0"/>
              <a:t>True</a:t>
            </a:r>
            <a:endParaRPr lang="en-IN" sz="2600" dirty="0"/>
          </a:p>
        </p:txBody>
      </p:sp>
      <p:sp>
        <p:nvSpPr>
          <p:cNvPr id="6" name="Rectangle 5"/>
          <p:cNvSpPr/>
          <p:nvPr/>
        </p:nvSpPr>
        <p:spPr>
          <a:xfrm>
            <a:off x="4452871" y="3597235"/>
            <a:ext cx="7421077" cy="31393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list1 == </a:t>
            </a:r>
            <a:r>
              <a:rPr lang="en-IN" dirty="0" smtClean="0"/>
              <a:t>list2</a:t>
            </a:r>
          </a:p>
          <a:p>
            <a:r>
              <a:rPr lang="en-US" dirty="0" smtClean="0"/>
              <a:t>	is </a:t>
            </a:r>
            <a:r>
              <a:rPr lang="en-US" dirty="0"/>
              <a:t>True because both lists contain the same values</a:t>
            </a:r>
            <a:r>
              <a:rPr lang="en-US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list1 is </a:t>
            </a:r>
            <a:r>
              <a:rPr lang="en-IN" dirty="0" smtClean="0"/>
              <a:t>list2</a:t>
            </a:r>
          </a:p>
          <a:p>
            <a:r>
              <a:rPr lang="en-US" dirty="0" smtClean="0"/>
              <a:t>	is </a:t>
            </a:r>
            <a:r>
              <a:rPr lang="en-US" dirty="0"/>
              <a:t>False because they are two separately created list objects</a:t>
            </a:r>
            <a:r>
              <a:rPr lang="en-US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list1 is </a:t>
            </a:r>
            <a:r>
              <a:rPr lang="en-IN" dirty="0" smtClean="0"/>
              <a:t>list3</a:t>
            </a:r>
          </a:p>
          <a:p>
            <a:r>
              <a:rPr lang="en-IN" dirty="0" smtClean="0"/>
              <a:t>	is </a:t>
            </a:r>
            <a:r>
              <a:rPr lang="en-IN" dirty="0"/>
              <a:t>True because both variables refer to the same list.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 smtClean="0"/>
          </a:p>
          <a:p>
            <a:pPr algn="just"/>
            <a:r>
              <a:rPr lang="en-IN" dirty="0" smtClean="0"/>
              <a:t>The </a:t>
            </a:r>
            <a:r>
              <a:rPr lang="en-IN" dirty="0"/>
              <a:t>Python data model specifies that is compares object identity, whereas == represents value comparison as defined by the objects’ types.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2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Correct method for checking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result = None</a:t>
            </a:r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result is None:</a:t>
            </a:r>
          </a:p>
          <a:p>
            <a:pPr marL="0" indent="0">
              <a:buNone/>
            </a:pPr>
            <a:r>
              <a:rPr lang="en-US" dirty="0"/>
              <a:t>    print("No result available</a:t>
            </a:r>
            <a:r>
              <a:rPr lang="en-US" dirty="0" smtClean="0"/>
              <a:t>")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 smtClean="0"/>
              <a:t>Prefer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result </a:t>
            </a:r>
            <a:r>
              <a:rPr lang="en-IN" dirty="0"/>
              <a:t>is </a:t>
            </a:r>
            <a:r>
              <a:rPr lang="en-IN" dirty="0" smtClean="0"/>
              <a:t>None</a:t>
            </a:r>
          </a:p>
          <a:p>
            <a:r>
              <a:rPr lang="en-IN" dirty="0"/>
              <a:t>instead of</a:t>
            </a:r>
            <a:r>
              <a:rPr lang="en-IN" dirty="0" smtClean="0"/>
              <a:t>: </a:t>
            </a:r>
          </a:p>
          <a:p>
            <a:pPr marL="0" indent="0">
              <a:buNone/>
            </a:pPr>
            <a:r>
              <a:rPr lang="en-IN" dirty="0" smtClean="0"/>
              <a:t>	result </a:t>
            </a:r>
            <a:r>
              <a:rPr lang="en-IN" dirty="0"/>
              <a:t>== </a:t>
            </a:r>
            <a:r>
              <a:rPr lang="en-IN" dirty="0" smtClean="0"/>
              <a:t>None</a:t>
            </a:r>
          </a:p>
          <a:p>
            <a:pPr algn="just"/>
            <a:r>
              <a:rPr lang="en-US" dirty="0"/>
              <a:t>Do not use is for ordinary number or string comparison. Interpreter optimizations can make such tests appear to work inconsistently.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95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Bitwise Operators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Bitwise </a:t>
            </a:r>
            <a:r>
              <a:rPr lang="en-US" dirty="0"/>
              <a:t>operators perform operations on the individual bits of integers.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491589"/>
              </p:ext>
            </p:extLst>
          </p:nvPr>
        </p:nvGraphicFramePr>
        <p:xfrm>
          <a:off x="1938128" y="3118700"/>
          <a:ext cx="8570844" cy="3413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05002">
                  <a:extLst>
                    <a:ext uri="{9D8B030D-6E8A-4147-A177-3AD203B41FA5}">
                      <a16:colId xmlns:a16="http://schemas.microsoft.com/office/drawing/2014/main" val="2971239778"/>
                    </a:ext>
                  </a:extLst>
                </a:gridCol>
                <a:gridCol w="2517913">
                  <a:extLst>
                    <a:ext uri="{9D8B030D-6E8A-4147-A177-3AD203B41FA5}">
                      <a16:colId xmlns:a16="http://schemas.microsoft.com/office/drawing/2014/main" val="4100045143"/>
                    </a:ext>
                  </a:extLst>
                </a:gridCol>
                <a:gridCol w="2160105">
                  <a:extLst>
                    <a:ext uri="{9D8B030D-6E8A-4147-A177-3AD203B41FA5}">
                      <a16:colId xmlns:a16="http://schemas.microsoft.com/office/drawing/2014/main" val="55870752"/>
                    </a:ext>
                  </a:extLst>
                </a:gridCol>
                <a:gridCol w="1987824">
                  <a:extLst>
                    <a:ext uri="{9D8B030D-6E8A-4147-A177-3AD203B41FA5}">
                      <a16:colId xmlns:a16="http://schemas.microsoft.com/office/drawing/2014/main" val="1199829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 b="1"/>
                        <a:t>Operator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/>
                        <a:t>Meaning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/>
                        <a:t>Example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600" b="1" dirty="0"/>
                        <a:t>Result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43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Bitwise 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5 &amp;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6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220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Bitwise 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5 |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60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402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Bitwise XOR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5 ^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60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893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Bitwise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~5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600"/>
                        <a:t>-6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2091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&lt;&lt;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Left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5 &lt;&lt;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60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792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Right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5 &gt;&gt;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2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54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23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Example 7: Permission Management Using </a:t>
            </a:r>
            <a:r>
              <a:rPr lang="en-US" sz="3400" dirty="0" smtClean="0"/>
              <a:t/>
            </a:r>
            <a:br>
              <a:rPr lang="en-US" sz="3400" dirty="0" smtClean="0"/>
            </a:br>
            <a:r>
              <a:rPr lang="en-US" sz="3400" dirty="0" smtClean="0"/>
              <a:t>Bit </a:t>
            </a:r>
            <a:r>
              <a:rPr lang="en-US" sz="3400" dirty="0"/>
              <a:t>Masks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Suppose an application defines three permissions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	READ </a:t>
            </a:r>
            <a:r>
              <a:rPr lang="en-US" dirty="0"/>
              <a:t>= 1       # 001</a:t>
            </a:r>
          </a:p>
          <a:p>
            <a:pPr marL="0" indent="0">
              <a:buNone/>
            </a:pPr>
            <a:r>
              <a:rPr lang="en-US" dirty="0" smtClean="0"/>
              <a:t>	WRITE </a:t>
            </a:r>
            <a:r>
              <a:rPr lang="en-US" dirty="0"/>
              <a:t>= 2      # 010</a:t>
            </a:r>
          </a:p>
          <a:p>
            <a:pPr marL="0" indent="0">
              <a:buNone/>
            </a:pPr>
            <a:r>
              <a:rPr lang="en-US" dirty="0" smtClean="0"/>
              <a:t>	EXECUTE </a:t>
            </a:r>
            <a:r>
              <a:rPr lang="en-US" dirty="0"/>
              <a:t>= 4    # </a:t>
            </a:r>
            <a:r>
              <a:rPr lang="en-US" dirty="0" smtClean="0"/>
              <a:t>100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Give a user read and write permissions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	READ </a:t>
            </a:r>
            <a:r>
              <a:rPr lang="en-US" dirty="0"/>
              <a:t>= 1</a:t>
            </a:r>
          </a:p>
          <a:p>
            <a:pPr marL="0" indent="0">
              <a:buNone/>
            </a:pPr>
            <a:r>
              <a:rPr lang="en-US" dirty="0" smtClean="0"/>
              <a:t>	WRITE </a:t>
            </a:r>
            <a:r>
              <a:rPr lang="en-US" dirty="0"/>
              <a:t>= </a:t>
            </a:r>
            <a:r>
              <a:rPr lang="en-US" dirty="0" smtClean="0"/>
              <a:t>2	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EXECUTE </a:t>
            </a:r>
            <a:r>
              <a:rPr lang="en-US" dirty="0"/>
              <a:t>=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user_permission</a:t>
            </a:r>
            <a:r>
              <a:rPr lang="en-US" dirty="0"/>
              <a:t> = READ | WRITE</a:t>
            </a:r>
          </a:p>
          <a:p>
            <a:pPr marL="0" indent="0">
              <a:buNone/>
            </a:pPr>
            <a:r>
              <a:rPr lang="en-US" dirty="0" smtClean="0"/>
              <a:t>print</a:t>
            </a:r>
            <a:r>
              <a:rPr lang="en-US" dirty="0"/>
              <a:t>("Permission value:", </a:t>
            </a:r>
            <a:r>
              <a:rPr lang="en-US" dirty="0" err="1"/>
              <a:t>user_permission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print("Can read:", bool(</a:t>
            </a:r>
            <a:r>
              <a:rPr lang="en-US" dirty="0" err="1"/>
              <a:t>user_permission</a:t>
            </a:r>
            <a:r>
              <a:rPr lang="en-US" dirty="0"/>
              <a:t> &amp; READ))</a:t>
            </a:r>
          </a:p>
          <a:p>
            <a:pPr marL="0" indent="0">
              <a:buNone/>
            </a:pPr>
            <a:r>
              <a:rPr lang="en-US" dirty="0"/>
              <a:t>print("Can write:", bool(</a:t>
            </a:r>
            <a:r>
              <a:rPr lang="en-US" dirty="0" err="1"/>
              <a:t>user_permission</a:t>
            </a:r>
            <a:r>
              <a:rPr lang="en-US" dirty="0"/>
              <a:t> &amp; WRITE))</a:t>
            </a:r>
          </a:p>
          <a:p>
            <a:pPr marL="0" indent="0">
              <a:buNone/>
            </a:pPr>
            <a:r>
              <a:rPr lang="en-US" dirty="0"/>
              <a:t>print("Can execute:", bool(</a:t>
            </a:r>
            <a:r>
              <a:rPr lang="en-US" dirty="0" err="1"/>
              <a:t>user_permission</a:t>
            </a:r>
            <a:r>
              <a:rPr lang="en-US" dirty="0"/>
              <a:t> &amp; EXECUTE))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023653" y="1551355"/>
            <a:ext cx="4330148" cy="22159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600" b="1" dirty="0"/>
              <a:t>Output</a:t>
            </a:r>
          </a:p>
          <a:p>
            <a:r>
              <a:rPr lang="en-US" sz="2800" dirty="0"/>
              <a:t>Permission value: 3 Can read: True </a:t>
            </a:r>
            <a:endParaRPr lang="en-US" sz="2800" dirty="0" smtClean="0"/>
          </a:p>
          <a:p>
            <a:r>
              <a:rPr lang="en-US" sz="2800" dirty="0" smtClean="0"/>
              <a:t>Can </a:t>
            </a:r>
            <a:r>
              <a:rPr lang="en-US" sz="2800" dirty="0"/>
              <a:t>write: True </a:t>
            </a:r>
            <a:endParaRPr lang="en-US" sz="2800" dirty="0" smtClean="0"/>
          </a:p>
          <a:p>
            <a:r>
              <a:rPr lang="en-US" sz="2800" dirty="0" smtClean="0"/>
              <a:t>Can </a:t>
            </a:r>
            <a:r>
              <a:rPr lang="en-US" sz="2800" dirty="0"/>
              <a:t>execute: False</a:t>
            </a:r>
            <a:endParaRPr lang="en-IN" sz="2600" dirty="0"/>
          </a:p>
        </p:txBody>
      </p:sp>
      <p:sp>
        <p:nvSpPr>
          <p:cNvPr id="6" name="Rectangle 5"/>
          <p:cNvSpPr/>
          <p:nvPr/>
        </p:nvSpPr>
        <p:spPr>
          <a:xfrm>
            <a:off x="7023653" y="4236094"/>
            <a:ext cx="4330147" cy="230832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READ = 001 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WRITE </a:t>
            </a:r>
            <a:r>
              <a:rPr lang="en-US" dirty="0"/>
              <a:t>= 010 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READ|WRITE </a:t>
            </a:r>
            <a:r>
              <a:rPr lang="en-US" dirty="0"/>
              <a:t>= 011 = </a:t>
            </a:r>
            <a:r>
              <a:rPr lang="en-US" dirty="0" smtClean="0"/>
              <a:t>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check the read permission</a:t>
            </a:r>
            <a:r>
              <a:rPr lang="en-US" dirty="0" smtClean="0"/>
              <a:t>:</a:t>
            </a:r>
          </a:p>
          <a:p>
            <a:r>
              <a:rPr lang="en-US" dirty="0" smtClean="0"/>
              <a:t>	User </a:t>
            </a:r>
            <a:r>
              <a:rPr lang="en-US" dirty="0"/>
              <a:t>permission = 011 </a:t>
            </a:r>
            <a:endParaRPr lang="en-US" dirty="0" smtClean="0"/>
          </a:p>
          <a:p>
            <a:r>
              <a:rPr lang="en-US" dirty="0" smtClean="0"/>
              <a:t>	READ </a:t>
            </a:r>
            <a:r>
              <a:rPr lang="en-US" dirty="0"/>
              <a:t>permission = 001 </a:t>
            </a:r>
            <a:endParaRPr lang="en-US" dirty="0" smtClean="0"/>
          </a:p>
          <a:p>
            <a:r>
              <a:rPr lang="en-US" dirty="0" smtClean="0"/>
              <a:t>	AND </a:t>
            </a:r>
            <a:r>
              <a:rPr lang="en-US" dirty="0"/>
              <a:t>result = 001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7297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7: Permission Management Using </a:t>
            </a:r>
            <a:br>
              <a:rPr lang="en-US" dirty="0"/>
            </a:br>
            <a:r>
              <a:rPr lang="en-US" dirty="0"/>
              <a:t>Bit Masks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algn="just"/>
            <a:r>
              <a:rPr lang="en-IN" dirty="0"/>
              <a:t>Since the result is non-zero, read permission is available.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Python </a:t>
            </a:r>
            <a:r>
              <a:rPr lang="en-IN" dirty="0"/>
              <a:t>defines separate precedence levels for bitwise AND, XOR, and OR. </a:t>
            </a:r>
            <a:endParaRPr lang="en-IN" dirty="0" smtClean="0"/>
          </a:p>
          <a:p>
            <a:pPr algn="just"/>
            <a:endParaRPr lang="en-IN" dirty="0"/>
          </a:p>
          <a:p>
            <a:pPr algn="just"/>
            <a:r>
              <a:rPr lang="en-IN" dirty="0" smtClean="0"/>
              <a:t>Bitwise </a:t>
            </a:r>
            <a:r>
              <a:rPr lang="en-IN" dirty="0"/>
              <a:t>operators normally work with integers, although classes may customize their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760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Operator Precedence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When </a:t>
            </a:r>
            <a:r>
              <a:rPr lang="en-US" dirty="0"/>
              <a:t>an expression contains several operators, Python follows a predefined order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	result </a:t>
            </a:r>
            <a:r>
              <a:rPr lang="en-US" dirty="0"/>
              <a:t>= 10 + 4 * 2</a:t>
            </a:r>
          </a:p>
          <a:p>
            <a:pPr marL="0" indent="0" algn="just">
              <a:buNone/>
            </a:pPr>
            <a:r>
              <a:rPr lang="en-US" dirty="0" smtClean="0"/>
              <a:t>	print(result)</a:t>
            </a:r>
          </a:p>
          <a:p>
            <a:pPr marL="0" indent="0" algn="just">
              <a:buNone/>
            </a:pPr>
            <a:r>
              <a:rPr lang="en-US" b="1" dirty="0" smtClean="0"/>
              <a:t>Output</a:t>
            </a:r>
            <a:r>
              <a:rPr lang="en-US" dirty="0" smtClean="0"/>
              <a:t>: 10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Multiplication is evaluated before addition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	10 </a:t>
            </a:r>
            <a:r>
              <a:rPr lang="en-US" dirty="0"/>
              <a:t>+ 4 × 2</a:t>
            </a:r>
          </a:p>
          <a:p>
            <a:pPr marL="0" indent="0" algn="just">
              <a:buNone/>
            </a:pPr>
            <a:r>
              <a:rPr lang="en-US" dirty="0" smtClean="0"/>
              <a:t>	10 </a:t>
            </a:r>
            <a:r>
              <a:rPr lang="en-US" dirty="0"/>
              <a:t>+ 8</a:t>
            </a:r>
          </a:p>
          <a:p>
            <a:pPr marL="0" indent="0" algn="just">
              <a:buNone/>
            </a:pPr>
            <a:r>
              <a:rPr lang="en-US" dirty="0" smtClean="0"/>
              <a:t>	18</a:t>
            </a:r>
          </a:p>
          <a:p>
            <a:pPr algn="just"/>
            <a:r>
              <a:rPr lang="en-US" dirty="0"/>
              <a:t>Using parentheses changes the order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	result </a:t>
            </a:r>
            <a:r>
              <a:rPr lang="en-US" dirty="0"/>
              <a:t>= (10 + 4) * 2</a:t>
            </a:r>
          </a:p>
          <a:p>
            <a:pPr marL="0" indent="0" algn="just">
              <a:buNone/>
            </a:pPr>
            <a:r>
              <a:rPr lang="en-US" dirty="0" smtClean="0"/>
              <a:t>	print(result)</a:t>
            </a:r>
          </a:p>
          <a:p>
            <a:pPr marL="0" indent="0" algn="just">
              <a:buNone/>
            </a:pPr>
            <a:r>
              <a:rPr lang="en-US" b="1" dirty="0" smtClean="0"/>
              <a:t>Output</a:t>
            </a:r>
            <a:r>
              <a:rPr lang="en-US" dirty="0" smtClean="0"/>
              <a:t>: 20</a:t>
            </a:r>
            <a:endParaRPr lang="en-US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844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Operator Precedence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5668616" cy="50323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Simplified precedence order</a:t>
            </a:r>
          </a:p>
          <a:p>
            <a:r>
              <a:rPr lang="en-US" dirty="0" smtClean="0"/>
              <a:t>From </a:t>
            </a:r>
            <a:r>
              <a:rPr lang="en-US" dirty="0"/>
              <a:t>higher to lower priority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	result </a:t>
            </a:r>
            <a:r>
              <a:rPr lang="en-US" dirty="0"/>
              <a:t>= 5 + 3 * 2 &gt; 10 and not </a:t>
            </a:r>
            <a:r>
              <a:rPr lang="en-US" dirty="0" smtClean="0"/>
              <a:t>False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 + 3 * 2 &gt; 10 and not False</a:t>
            </a:r>
          </a:p>
          <a:p>
            <a:pPr marL="0" indent="0">
              <a:buNone/>
            </a:pPr>
            <a:r>
              <a:rPr lang="en-US" dirty="0"/>
              <a:t>5 + 6 &gt; 10 and True</a:t>
            </a:r>
          </a:p>
          <a:p>
            <a:pPr marL="0" indent="0">
              <a:buNone/>
            </a:pPr>
            <a:r>
              <a:rPr lang="en-US" dirty="0"/>
              <a:t>11 &gt; 10 and True</a:t>
            </a:r>
          </a:p>
          <a:p>
            <a:pPr marL="0" indent="0">
              <a:buNone/>
            </a:pPr>
            <a:r>
              <a:rPr lang="en-US" dirty="0"/>
              <a:t>True and True</a:t>
            </a:r>
          </a:p>
          <a:p>
            <a:pPr marL="0" indent="0">
              <a:buNone/>
            </a:pPr>
            <a:r>
              <a:rPr lang="en-US" dirty="0" smtClean="0"/>
              <a:t>True</a:t>
            </a:r>
          </a:p>
          <a:p>
            <a:endParaRPr lang="en-US" dirty="0" smtClean="0"/>
          </a:p>
          <a:p>
            <a:r>
              <a:rPr lang="en-US" dirty="0" smtClean="0"/>
              <a:t>Use </a:t>
            </a:r>
            <a:r>
              <a:rPr lang="en-US" dirty="0"/>
              <a:t>parentheses whenever they make the intended calculation clearer. 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365866"/>
              </p:ext>
            </p:extLst>
          </p:nvPr>
        </p:nvGraphicFramePr>
        <p:xfrm>
          <a:off x="6506816" y="1398726"/>
          <a:ext cx="5327376" cy="53550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74187">
                  <a:extLst>
                    <a:ext uri="{9D8B030D-6E8A-4147-A177-3AD203B41FA5}">
                      <a16:colId xmlns:a16="http://schemas.microsoft.com/office/drawing/2014/main" val="375591938"/>
                    </a:ext>
                  </a:extLst>
                </a:gridCol>
                <a:gridCol w="4253189">
                  <a:extLst>
                    <a:ext uri="{9D8B030D-6E8A-4147-A177-3AD203B41FA5}">
                      <a16:colId xmlns:a16="http://schemas.microsoft.com/office/drawing/2014/main" val="3359896919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 b="1"/>
                        <a:t>Priority</a:t>
                      </a:r>
                    </a:p>
                  </a:txBody>
                  <a:tcPr marL="77702" marR="77702" marT="38851" marB="38851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Operators</a:t>
                      </a:r>
                    </a:p>
                  </a:txBody>
                  <a:tcPr marL="77702" marR="77702" marT="38851" marB="38851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24163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Parentheses ()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1320846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Exponentiation **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24765665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Unary operators +x, -x, ~x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5552774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*, /, //, %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54884304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+, -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61315829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&lt;&lt;, &gt;&gt;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97169005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&amp;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27211947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8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^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7947439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9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|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56999432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10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Comparisons, in, not in, is, is not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65688662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11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66167694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12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and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9610447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r"/>
                      <a:r>
                        <a:rPr lang="en-IN" sz="2000"/>
                        <a:t>13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or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26255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319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Predict the outputs before executing the statements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print(17 // 5)</a:t>
            </a:r>
          </a:p>
          <a:p>
            <a:pPr marL="0" indent="0">
              <a:buNone/>
            </a:pPr>
            <a:r>
              <a:rPr lang="en-US" dirty="0"/>
              <a:t>print(17 % 5)</a:t>
            </a:r>
          </a:p>
          <a:p>
            <a:pPr marL="0" indent="0">
              <a:buNone/>
            </a:pPr>
            <a:r>
              <a:rPr lang="en-US" dirty="0"/>
              <a:t>print(2 ** 3 ** 2)</a:t>
            </a:r>
          </a:p>
          <a:p>
            <a:pPr marL="0" indent="0">
              <a:buNone/>
            </a:pPr>
            <a:r>
              <a:rPr lang="en-US" dirty="0"/>
              <a:t>print(10 &lt; 20 &lt;= 20)</a:t>
            </a:r>
          </a:p>
          <a:p>
            <a:pPr marL="0" indent="0">
              <a:buNone/>
            </a:pPr>
            <a:r>
              <a:rPr lang="en-US" dirty="0"/>
              <a:t>print("</a:t>
            </a:r>
            <a:r>
              <a:rPr lang="en-US" dirty="0" err="1"/>
              <a:t>Py</a:t>
            </a:r>
            <a:r>
              <a:rPr lang="en-US" dirty="0"/>
              <a:t>" in "Python")</a:t>
            </a:r>
          </a:p>
          <a:p>
            <a:pPr marL="0" indent="0">
              <a:buNone/>
            </a:pPr>
            <a:r>
              <a:rPr lang="en-US" dirty="0"/>
              <a:t>print(not (True and False))</a:t>
            </a:r>
          </a:p>
          <a:p>
            <a:pPr marL="0" indent="0">
              <a:buNone/>
            </a:pPr>
            <a:r>
              <a:rPr lang="en-US" dirty="0"/>
              <a:t>print(6 &amp; 3)</a:t>
            </a:r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906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b="1" dirty="0" smtClean="0"/>
              <a:t>Output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IN" dirty="0"/>
              <a:t>3</a:t>
            </a:r>
          </a:p>
          <a:p>
            <a:pPr marL="0" indent="0">
              <a:buNone/>
            </a:pPr>
            <a:r>
              <a:rPr lang="en-IN" dirty="0"/>
              <a:t>2</a:t>
            </a:r>
          </a:p>
          <a:p>
            <a:pPr marL="0" indent="0">
              <a:buNone/>
            </a:pPr>
            <a:r>
              <a:rPr lang="en-IN" dirty="0"/>
              <a:t>512</a:t>
            </a:r>
          </a:p>
          <a:p>
            <a:pPr marL="0" indent="0">
              <a:buNone/>
            </a:pPr>
            <a:r>
              <a:rPr lang="en-IN" dirty="0"/>
              <a:t>True</a:t>
            </a:r>
          </a:p>
          <a:p>
            <a:pPr marL="0" indent="0">
              <a:buNone/>
            </a:pPr>
            <a:r>
              <a:rPr lang="en-IN" dirty="0"/>
              <a:t>True</a:t>
            </a:r>
          </a:p>
          <a:p>
            <a:pPr marL="0" indent="0">
              <a:buNone/>
            </a:pPr>
            <a:r>
              <a:rPr lang="en-IN" dirty="0"/>
              <a:t>True</a:t>
            </a:r>
          </a:p>
          <a:p>
            <a:pPr marL="0" indent="0">
              <a:buNone/>
            </a:pPr>
            <a:r>
              <a:rPr lang="en-IN" dirty="0"/>
              <a:t>2</a:t>
            </a:r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2572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 Exercises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Input </a:t>
            </a:r>
            <a:r>
              <a:rPr lang="en-US" dirty="0"/>
              <a:t>two numbers and display the results of every arithmetic operator.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Check </a:t>
            </a:r>
            <a:r>
              <a:rPr lang="en-US" dirty="0"/>
              <a:t>whether an integer is even or odd using %.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Convert </a:t>
            </a:r>
            <a:r>
              <a:rPr lang="en-US" dirty="0"/>
              <a:t>a given number of seconds into hours, minutes, and seconds using // and %.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Calculate </a:t>
            </a:r>
            <a:r>
              <a:rPr lang="en-US" dirty="0"/>
              <a:t>simple interest using arithmetic operators.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Determine </a:t>
            </a:r>
            <a:r>
              <a:rPr lang="en-US" dirty="0"/>
              <a:t>whether a student is eligible for placement using CGPA and backlog conditions.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Check </a:t>
            </a:r>
            <a:r>
              <a:rPr lang="en-US" dirty="0"/>
              <a:t>whether a given year is a leap year.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Check </a:t>
            </a:r>
            <a:r>
              <a:rPr lang="en-US" dirty="0"/>
              <a:t>whether a character is present in a string.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Demonstrate </a:t>
            </a:r>
            <a:r>
              <a:rPr lang="en-US" dirty="0"/>
              <a:t>the difference between == and is using two lists.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Exchange </a:t>
            </a:r>
            <a:r>
              <a:rPr lang="en-US" dirty="0"/>
              <a:t>two Boolean values using the XOR operator.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Use </a:t>
            </a:r>
            <a:r>
              <a:rPr lang="en-US" dirty="0"/>
              <a:t>left shift to multiply an integer by 2.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Check </a:t>
            </a:r>
            <a:r>
              <a:rPr lang="en-US" dirty="0"/>
              <a:t>whether a number lies between 10 and 100 using chained comparison.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Calculate </a:t>
            </a:r>
            <a:r>
              <a:rPr lang="en-US" dirty="0"/>
              <a:t>the final bill after discount and GST.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Determine </a:t>
            </a:r>
            <a:r>
              <a:rPr lang="en-US" dirty="0"/>
              <a:t>the largest among three numbers using comparison and logical operators.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Create </a:t>
            </a:r>
            <a:r>
              <a:rPr lang="en-US" dirty="0"/>
              <a:t>a role-permission system using bitwise operators.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Rewrite </a:t>
            </a:r>
            <a:r>
              <a:rPr lang="en-US" dirty="0"/>
              <a:t>a complex expression with parentheses to make its evaluation order clear.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279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1095" y="3121577"/>
            <a:ext cx="3246783" cy="1325563"/>
          </a:xfrm>
        </p:spPr>
        <p:txBody>
          <a:bodyPr/>
          <a:lstStyle/>
          <a:p>
            <a:pPr algn="ctr"/>
            <a:r>
              <a:rPr lang="en-US" dirty="0" smtClean="0"/>
              <a:t>Thanks</a:t>
            </a:r>
            <a:endParaRPr lang="en-IN" dirty="0"/>
          </a:p>
        </p:txBody>
      </p:sp>
      <p:pic>
        <p:nvPicPr>
          <p:cNvPr id="3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487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</TotalTime>
  <Words>1640</Words>
  <Application>Microsoft Office PowerPoint</Application>
  <PresentationFormat>Widescreen</PresentationFormat>
  <Paragraphs>519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Python: Operators</vt:lpstr>
      <vt:lpstr>Operators</vt:lpstr>
      <vt:lpstr>Operators</vt:lpstr>
      <vt:lpstr>Arithmetic Operators</vt:lpstr>
      <vt:lpstr>Arithmetic Operators</vt:lpstr>
      <vt:lpstr>Example 1: Student Marks Calculator</vt:lpstr>
      <vt:lpstr>Example 1: Student Marks Calculator</vt:lpstr>
      <vt:lpstr>Assignment Operators</vt:lpstr>
      <vt:lpstr>Compound assignment</vt:lpstr>
      <vt:lpstr>Example 2: Updating a Shopping Cart Bill</vt:lpstr>
      <vt:lpstr>Comparison Operators</vt:lpstr>
      <vt:lpstr>Comparison Operators</vt:lpstr>
      <vt:lpstr>Example 3: Grade Eligibility</vt:lpstr>
      <vt:lpstr>Example 3: Grade Eligibility</vt:lpstr>
      <vt:lpstr>Logical Operators</vt:lpstr>
      <vt:lpstr>Example 4: Placement Eligibility</vt:lpstr>
      <vt:lpstr>Example 4: Placement Eligibility</vt:lpstr>
      <vt:lpstr>Membership Operators</vt:lpstr>
      <vt:lpstr>Example 5: Course and Email Validation</vt:lpstr>
      <vt:lpstr>Example 5: Course and Email Validation</vt:lpstr>
      <vt:lpstr>Identity Operators</vt:lpstr>
      <vt:lpstr>Example 6: Value Equality and Object Identity</vt:lpstr>
      <vt:lpstr>Correct method for checking None</vt:lpstr>
      <vt:lpstr>Bitwise Operators</vt:lpstr>
      <vt:lpstr>Example 7: Permission Management Using  Bit Masks</vt:lpstr>
      <vt:lpstr>Example 7: Permission Management Using  Bit Masks</vt:lpstr>
      <vt:lpstr>Operator Precedence</vt:lpstr>
      <vt:lpstr>Operator Precedence</vt:lpstr>
      <vt:lpstr>Example </vt:lpstr>
      <vt:lpstr>Example </vt:lpstr>
      <vt:lpstr>Home Exercises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DrAnilKDubey</dc:creator>
  <cp:lastModifiedBy>DrAnilKDubey</cp:lastModifiedBy>
  <cp:revision>329</cp:revision>
  <dcterms:created xsi:type="dcterms:W3CDTF">2026-07-06T04:33:03Z</dcterms:created>
  <dcterms:modified xsi:type="dcterms:W3CDTF">2026-07-21T05:05:29Z</dcterms:modified>
</cp:coreProperties>
</file>