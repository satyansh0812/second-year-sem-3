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  <p:sldId id="264" r:id="rId3"/>
    <p:sldId id="270" r:id="rId4"/>
    <p:sldId id="272" r:id="rId5"/>
    <p:sldId id="273" r:id="rId6"/>
    <p:sldId id="274" r:id="rId7"/>
    <p:sldId id="271" r:id="rId8"/>
    <p:sldId id="276" r:id="rId9"/>
    <p:sldId id="278" r:id="rId10"/>
    <p:sldId id="279" r:id="rId11"/>
    <p:sldId id="280" r:id="rId12"/>
    <p:sldId id="277" r:id="rId13"/>
    <p:sldId id="282" r:id="rId14"/>
    <p:sldId id="281" r:id="rId15"/>
    <p:sldId id="285" r:id="rId16"/>
    <p:sldId id="286" r:id="rId17"/>
    <p:sldId id="284" r:id="rId18"/>
    <p:sldId id="287" r:id="rId19"/>
    <p:sldId id="283" r:id="rId20"/>
    <p:sldId id="289" r:id="rId21"/>
    <p:sldId id="288" r:id="rId22"/>
    <p:sldId id="290" r:id="rId23"/>
    <p:sldId id="275" r:id="rId24"/>
    <p:sldId id="293" r:id="rId25"/>
    <p:sldId id="294" r:id="rId26"/>
    <p:sldId id="295" r:id="rId27"/>
    <p:sldId id="296" r:id="rId28"/>
    <p:sldId id="291" r:id="rId29"/>
    <p:sldId id="292" r:id="rId30"/>
    <p:sldId id="299" r:id="rId31"/>
    <p:sldId id="300" r:id="rId32"/>
    <p:sldId id="298" r:id="rId33"/>
    <p:sldId id="297" r:id="rId34"/>
    <p:sldId id="304" r:id="rId35"/>
    <p:sldId id="302" r:id="rId36"/>
    <p:sldId id="305" r:id="rId37"/>
    <p:sldId id="306" r:id="rId38"/>
    <p:sldId id="303" r:id="rId39"/>
    <p:sldId id="301" r:id="rId40"/>
    <p:sldId id="307" r:id="rId41"/>
    <p:sldId id="308" r:id="rId42"/>
    <p:sldId id="311" r:id="rId43"/>
    <p:sldId id="310" r:id="rId44"/>
    <p:sldId id="312" r:id="rId45"/>
    <p:sldId id="309" r:id="rId46"/>
    <p:sldId id="314" r:id="rId47"/>
    <p:sldId id="316" r:id="rId48"/>
    <p:sldId id="315" r:id="rId49"/>
    <p:sldId id="317" r:id="rId50"/>
    <p:sldId id="313" r:id="rId51"/>
    <p:sldId id="319" r:id="rId52"/>
    <p:sldId id="321" r:id="rId53"/>
    <p:sldId id="320" r:id="rId54"/>
    <p:sldId id="323" r:id="rId55"/>
    <p:sldId id="322" r:id="rId56"/>
    <p:sldId id="324" r:id="rId57"/>
    <p:sldId id="269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aman@abes.ac.in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Python: </a:t>
            </a:r>
            <a:r>
              <a:rPr lang="en-IN" b="1" dirty="0"/>
              <a:t>Data-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1686" y="3999603"/>
            <a:ext cx="4638261" cy="1128988"/>
          </a:xfrm>
        </p:spPr>
        <p:txBody>
          <a:bodyPr/>
          <a:lstStyle/>
          <a:p>
            <a:r>
              <a:rPr lang="en-US" dirty="0"/>
              <a:t>Prof. (Dr.) Anil Kumar Dubey</a:t>
            </a:r>
          </a:p>
          <a:p>
            <a:r>
              <a:rPr lang="en-US" dirty="0"/>
              <a:t>Professor - CSE </a:t>
            </a:r>
            <a:r>
              <a:rPr lang="en-US" dirty="0" err="1"/>
              <a:t>Dept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081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A </a:t>
            </a:r>
            <a:r>
              <a:rPr lang="en-IN" b="1" dirty="0"/>
              <a:t>data type</a:t>
            </a:r>
            <a:r>
              <a:rPr lang="en-IN" dirty="0"/>
              <a:t> specifies the nature of a value and determines:</a:t>
            </a:r>
          </a:p>
          <a:p>
            <a:pPr lvl="1"/>
            <a:endParaRPr lang="en-IN" dirty="0" smtClean="0"/>
          </a:p>
          <a:p>
            <a:pPr lvl="1"/>
            <a:r>
              <a:rPr lang="en-IN" dirty="0" smtClean="0"/>
              <a:t>what </a:t>
            </a:r>
            <a:r>
              <a:rPr lang="en-IN" dirty="0"/>
              <a:t>kind of data the value represents, </a:t>
            </a:r>
          </a:p>
          <a:p>
            <a:pPr lvl="1"/>
            <a:endParaRPr lang="en-IN" dirty="0" smtClean="0"/>
          </a:p>
          <a:p>
            <a:pPr lvl="1"/>
            <a:r>
              <a:rPr lang="en-IN" dirty="0" smtClean="0"/>
              <a:t>how </a:t>
            </a:r>
            <a:r>
              <a:rPr lang="en-IN" dirty="0"/>
              <a:t>it is stored and interpreted, </a:t>
            </a:r>
          </a:p>
          <a:p>
            <a:pPr lvl="1"/>
            <a:endParaRPr lang="en-IN" dirty="0" smtClean="0"/>
          </a:p>
          <a:p>
            <a:pPr lvl="1"/>
            <a:r>
              <a:rPr lang="en-IN" dirty="0" smtClean="0"/>
              <a:t>what </a:t>
            </a:r>
            <a:r>
              <a:rPr lang="en-IN" dirty="0"/>
              <a:t>operations can be performed on it, and </a:t>
            </a:r>
          </a:p>
          <a:p>
            <a:pPr lvl="1"/>
            <a:endParaRPr lang="en-IN" dirty="0" smtClean="0"/>
          </a:p>
          <a:p>
            <a:pPr lvl="1"/>
            <a:r>
              <a:rPr lang="en-IN" dirty="0" smtClean="0"/>
              <a:t>whether </a:t>
            </a:r>
            <a:r>
              <a:rPr lang="en-IN" dirty="0"/>
              <a:t>it can be modified after creation.</a:t>
            </a:r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173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student_name</a:t>
            </a:r>
            <a:r>
              <a:rPr lang="en-US" dirty="0"/>
              <a:t> = "</a:t>
            </a:r>
            <a:r>
              <a:rPr lang="en-US" dirty="0" err="1"/>
              <a:t>Aman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age = 19</a:t>
            </a:r>
          </a:p>
          <a:p>
            <a:pPr marL="0" indent="0">
              <a:buNone/>
            </a:pPr>
            <a:r>
              <a:rPr lang="en-US" dirty="0" err="1"/>
              <a:t>cgpa</a:t>
            </a:r>
            <a:r>
              <a:rPr lang="en-US" dirty="0"/>
              <a:t> = 8.4</a:t>
            </a:r>
          </a:p>
          <a:p>
            <a:pPr marL="0" indent="0">
              <a:buNone/>
            </a:pPr>
            <a:r>
              <a:rPr lang="en-US" dirty="0" err="1"/>
              <a:t>is_placed</a:t>
            </a:r>
            <a:r>
              <a:rPr lang="en-US" dirty="0"/>
              <a:t> = </a:t>
            </a:r>
            <a:r>
              <a:rPr lang="en-US" dirty="0" smtClean="0"/>
              <a:t>False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can determine an object’s type using type</a:t>
            </a:r>
            <a:r>
              <a:rPr lang="en-US" dirty="0" smtClean="0"/>
              <a:t>():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print(type(</a:t>
            </a:r>
            <a:r>
              <a:rPr lang="en-IN" dirty="0" err="1"/>
              <a:t>student_name</a:t>
            </a:r>
            <a:r>
              <a:rPr lang="en-IN" dirty="0"/>
              <a:t>))</a:t>
            </a:r>
          </a:p>
          <a:p>
            <a:pPr marL="0" indent="0">
              <a:buNone/>
            </a:pPr>
            <a:r>
              <a:rPr lang="en-IN" dirty="0"/>
              <a:t>print(type(age))</a:t>
            </a:r>
          </a:p>
          <a:p>
            <a:pPr marL="0" indent="0">
              <a:buNone/>
            </a:pPr>
            <a:r>
              <a:rPr lang="en-IN" dirty="0"/>
              <a:t>print(type(</a:t>
            </a:r>
            <a:r>
              <a:rPr lang="en-IN" dirty="0" err="1"/>
              <a:t>cgpa</a:t>
            </a:r>
            <a:r>
              <a:rPr lang="en-IN" dirty="0"/>
              <a:t>))</a:t>
            </a:r>
          </a:p>
          <a:p>
            <a:pPr marL="0" indent="0">
              <a:buNone/>
            </a:pPr>
            <a:r>
              <a:rPr lang="en-IN" dirty="0"/>
              <a:t>print(type(</a:t>
            </a:r>
            <a:r>
              <a:rPr lang="en-IN" dirty="0" err="1"/>
              <a:t>is_placed</a:t>
            </a:r>
            <a:r>
              <a:rPr lang="en-IN" dirty="0"/>
              <a:t>))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089899"/>
              </p:ext>
            </p:extLst>
          </p:nvPr>
        </p:nvGraphicFramePr>
        <p:xfrm>
          <a:off x="5963477" y="1398726"/>
          <a:ext cx="4585254" cy="2507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36036">
                  <a:extLst>
                    <a:ext uri="{9D8B030D-6E8A-4147-A177-3AD203B41FA5}">
                      <a16:colId xmlns:a16="http://schemas.microsoft.com/office/drawing/2014/main" val="948774099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676435650"/>
                    </a:ext>
                  </a:extLst>
                </a:gridCol>
                <a:gridCol w="1616766">
                  <a:extLst>
                    <a:ext uri="{9D8B030D-6E8A-4147-A177-3AD203B41FA5}">
                      <a16:colId xmlns:a16="http://schemas.microsoft.com/office/drawing/2014/main" val="1731082404"/>
                    </a:ext>
                  </a:extLst>
                </a:gridCol>
              </a:tblGrid>
              <a:tr h="436146">
                <a:tc>
                  <a:txBody>
                    <a:bodyPr/>
                    <a:lstStyle/>
                    <a:p>
                      <a:r>
                        <a:rPr lang="en-IN" b="1"/>
                        <a:t>Variable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b="1"/>
                        <a:t>Value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Data type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840429"/>
                  </a:ext>
                </a:extLst>
              </a:tr>
              <a:tr h="763256">
                <a:tc>
                  <a:txBody>
                    <a:bodyPr/>
                    <a:lstStyle/>
                    <a:p>
                      <a:r>
                        <a:rPr lang="en-IN"/>
                        <a:t>student_name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"Aman"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206990"/>
                  </a:ext>
                </a:extLst>
              </a:tr>
              <a:tr h="436146">
                <a:tc>
                  <a:txBody>
                    <a:bodyPr/>
                    <a:lstStyle/>
                    <a:p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1045883"/>
                  </a:ext>
                </a:extLst>
              </a:tr>
              <a:tr h="436146">
                <a:tc>
                  <a:txBody>
                    <a:bodyPr/>
                    <a:lstStyle/>
                    <a:p>
                      <a:r>
                        <a:rPr lang="en-IN"/>
                        <a:t>cgpa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8.4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float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977253"/>
                  </a:ext>
                </a:extLst>
              </a:tr>
              <a:tr h="436146">
                <a:tc>
                  <a:txBody>
                    <a:bodyPr/>
                    <a:lstStyle/>
                    <a:p>
                      <a:r>
                        <a:rPr lang="en-IN"/>
                        <a:t>is_placed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46930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35686" y="4622115"/>
            <a:ext cx="4625010" cy="20928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US" sz="2600" dirty="0" smtClean="0"/>
              <a:t>&lt;</a:t>
            </a:r>
            <a:r>
              <a:rPr lang="en-US" sz="2600" dirty="0"/>
              <a:t>class '</a:t>
            </a:r>
            <a:r>
              <a:rPr lang="en-US" sz="2600" dirty="0" err="1"/>
              <a:t>str</a:t>
            </a:r>
            <a:r>
              <a:rPr lang="en-US" sz="2600" dirty="0" smtClean="0"/>
              <a:t>'&gt;</a:t>
            </a:r>
          </a:p>
          <a:p>
            <a:r>
              <a:rPr lang="en-US" sz="2600" dirty="0" smtClean="0"/>
              <a:t>&lt;</a:t>
            </a:r>
            <a:r>
              <a:rPr lang="en-US" sz="2600" dirty="0"/>
              <a:t>class '</a:t>
            </a:r>
            <a:r>
              <a:rPr lang="en-US" sz="2600" dirty="0" err="1"/>
              <a:t>int</a:t>
            </a:r>
            <a:r>
              <a:rPr lang="en-US" sz="2600" dirty="0" smtClean="0"/>
              <a:t>'&gt;</a:t>
            </a:r>
          </a:p>
          <a:p>
            <a:r>
              <a:rPr lang="en-US" sz="2600" dirty="0" smtClean="0"/>
              <a:t>&lt;</a:t>
            </a:r>
            <a:r>
              <a:rPr lang="en-US" sz="2600" dirty="0"/>
              <a:t>class 'float</a:t>
            </a:r>
            <a:r>
              <a:rPr lang="en-US" sz="2600" dirty="0" smtClean="0"/>
              <a:t>'&gt;</a:t>
            </a:r>
          </a:p>
          <a:p>
            <a:r>
              <a:rPr lang="en-US" sz="2600" dirty="0" smtClean="0"/>
              <a:t>&lt;</a:t>
            </a:r>
            <a:r>
              <a:rPr lang="en-US" sz="2600" dirty="0"/>
              <a:t>class 'bool'&gt;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629648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According to Python’s data model, every object has three fundamental properties:</a:t>
            </a:r>
          </a:p>
          <a:p>
            <a:pPr lvl="1"/>
            <a:endParaRPr lang="en-US" b="1" dirty="0" smtClean="0"/>
          </a:p>
          <a:p>
            <a:pPr lvl="1"/>
            <a:r>
              <a:rPr lang="en-US" b="1" dirty="0" smtClean="0"/>
              <a:t>Identity</a:t>
            </a:r>
            <a:r>
              <a:rPr lang="en-US" b="1" dirty="0"/>
              <a:t>:</a:t>
            </a:r>
            <a:r>
              <a:rPr lang="en-US" dirty="0"/>
              <a:t> distinguishes the object from other objects. </a:t>
            </a:r>
          </a:p>
          <a:p>
            <a:pPr lvl="1"/>
            <a:endParaRPr lang="en-US" b="1" dirty="0" smtClean="0"/>
          </a:p>
          <a:p>
            <a:pPr lvl="1"/>
            <a:r>
              <a:rPr lang="en-US" b="1" dirty="0" smtClean="0"/>
              <a:t>Type</a:t>
            </a:r>
            <a:r>
              <a:rPr lang="en-US" b="1" dirty="0"/>
              <a:t>:</a:t>
            </a:r>
            <a:r>
              <a:rPr lang="en-US" dirty="0"/>
              <a:t> determines the supported operations. </a:t>
            </a:r>
          </a:p>
          <a:p>
            <a:pPr lvl="1"/>
            <a:endParaRPr lang="en-US" b="1" dirty="0" smtClean="0"/>
          </a:p>
          <a:p>
            <a:pPr lvl="1"/>
            <a:r>
              <a:rPr lang="en-US" b="1" dirty="0" smtClean="0"/>
              <a:t>Value</a:t>
            </a:r>
            <a:r>
              <a:rPr lang="en-US" b="1" dirty="0"/>
              <a:t>:</a:t>
            </a:r>
            <a:r>
              <a:rPr lang="en-US" dirty="0"/>
              <a:t> represents the data contained in the object.</a:t>
            </a:r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00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</a:t>
            </a:r>
            <a:r>
              <a:rPr lang="en-US" b="1" dirty="0" smtClean="0"/>
              <a:t>is </a:t>
            </a:r>
            <a:r>
              <a:rPr lang="en-US" b="1" dirty="0"/>
              <a:t>Dynamically Typed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Python </a:t>
            </a:r>
            <a:r>
              <a:rPr lang="en-US" dirty="0"/>
              <a:t>is a </a:t>
            </a:r>
            <a:r>
              <a:rPr lang="en-US" b="1" dirty="0"/>
              <a:t>dynamically typed language</a:t>
            </a:r>
            <a:r>
              <a:rPr lang="en-US" dirty="0"/>
              <a:t>. We do not need to declare a variable’s data type </a:t>
            </a:r>
            <a:r>
              <a:rPr lang="en-US" dirty="0" smtClean="0"/>
              <a:t>explicitly.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value = 25</a:t>
            </a:r>
          </a:p>
          <a:p>
            <a:pPr marL="0" indent="0">
              <a:buNone/>
            </a:pPr>
            <a:r>
              <a:rPr lang="en-US" dirty="0"/>
              <a:t>print(type(value))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value = "Python"</a:t>
            </a:r>
          </a:p>
          <a:p>
            <a:pPr marL="0" indent="0">
              <a:buNone/>
            </a:pPr>
            <a:r>
              <a:rPr lang="en-US" dirty="0"/>
              <a:t>print(type(value</a:t>
            </a:r>
            <a:r>
              <a:rPr lang="en-US" dirty="0" smtClean="0"/>
              <a:t>))</a:t>
            </a:r>
          </a:p>
          <a:p>
            <a:pPr marL="0" indent="0">
              <a:buNone/>
            </a:pPr>
            <a:endParaRPr lang="en-US" dirty="0"/>
          </a:p>
          <a:p>
            <a:pPr algn="just"/>
            <a:r>
              <a:rPr lang="en-IN" dirty="0"/>
              <a:t>The variable value first refers to an integer and later refers to a string.</a:t>
            </a:r>
          </a:p>
          <a:p>
            <a:pPr algn="just"/>
            <a:r>
              <a:rPr lang="en-IN" dirty="0"/>
              <a:t>Python is also </a:t>
            </a:r>
            <a:r>
              <a:rPr lang="en-IN" b="1" dirty="0"/>
              <a:t>strongly typed</a:t>
            </a:r>
            <a:r>
              <a:rPr lang="en-IN" dirty="0"/>
              <a:t>. It does not automatically combine incompatible types</a:t>
            </a:r>
            <a:r>
              <a:rPr lang="en-IN" dirty="0" smtClean="0"/>
              <a:t>.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989981" y="3217385"/>
            <a:ext cx="2584176" cy="12926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US" sz="2600" dirty="0"/>
              <a:t>&lt;class '</a:t>
            </a:r>
            <a:r>
              <a:rPr lang="en-US" sz="2600" dirty="0" err="1"/>
              <a:t>int</a:t>
            </a:r>
            <a:r>
              <a:rPr lang="en-US" sz="2600" dirty="0"/>
              <a:t>'&gt;</a:t>
            </a:r>
          </a:p>
          <a:p>
            <a:r>
              <a:rPr lang="en-US" sz="2600" dirty="0"/>
              <a:t>&lt;class '</a:t>
            </a:r>
            <a:r>
              <a:rPr lang="en-US" sz="2600" dirty="0" err="1"/>
              <a:t>str</a:t>
            </a:r>
            <a:r>
              <a:rPr lang="en-US" sz="2600" dirty="0" smtClean="0"/>
              <a:t>'&gt;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681090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</a:t>
            </a:r>
            <a:r>
              <a:rPr lang="en-US" b="1" dirty="0" smtClean="0"/>
              <a:t>is </a:t>
            </a:r>
            <a:r>
              <a:rPr lang="en-US" b="1" dirty="0"/>
              <a:t>Dynamically Typed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	age </a:t>
            </a:r>
            <a:r>
              <a:rPr lang="en-US" dirty="0"/>
              <a:t>= 20</a:t>
            </a:r>
          </a:p>
          <a:p>
            <a:pPr marL="0" indent="0">
              <a:buNone/>
            </a:pPr>
            <a:r>
              <a:rPr lang="en-US" dirty="0" smtClean="0"/>
              <a:t>	message = </a:t>
            </a:r>
            <a:r>
              <a:rPr lang="en-US" dirty="0"/>
              <a:t>"Age: " + </a:t>
            </a:r>
            <a:r>
              <a:rPr lang="en-US" dirty="0" smtClean="0"/>
              <a:t>age</a:t>
            </a:r>
          </a:p>
          <a:p>
            <a:endParaRPr lang="en-IN" dirty="0" smtClean="0"/>
          </a:p>
          <a:p>
            <a:r>
              <a:rPr lang="en-IN" dirty="0" smtClean="0"/>
              <a:t>This </a:t>
            </a:r>
            <a:r>
              <a:rPr lang="en-IN" dirty="0"/>
              <a:t>produces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TypeError</a:t>
            </a:r>
            <a:r>
              <a:rPr lang="en-US" dirty="0"/>
              <a:t>: can only concatenate </a:t>
            </a:r>
            <a:r>
              <a:rPr lang="en-US" dirty="0" err="1"/>
              <a:t>str</a:t>
            </a:r>
            <a:r>
              <a:rPr lang="en-US" dirty="0"/>
              <a:t> (not "</a:t>
            </a:r>
            <a:r>
              <a:rPr lang="en-US" dirty="0" err="1"/>
              <a:t>int</a:t>
            </a:r>
            <a:r>
              <a:rPr lang="en-US" dirty="0"/>
              <a:t>") to </a:t>
            </a:r>
            <a:r>
              <a:rPr lang="en-US" dirty="0" err="1" smtClean="0"/>
              <a:t>str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integer must be converted explicitly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IN" dirty="0" smtClean="0"/>
              <a:t>	message </a:t>
            </a:r>
            <a:r>
              <a:rPr lang="en-IN" dirty="0"/>
              <a:t>= "Age: " + </a:t>
            </a:r>
            <a:r>
              <a:rPr lang="en-IN" dirty="0" err="1"/>
              <a:t>str</a:t>
            </a:r>
            <a:r>
              <a:rPr lang="en-IN" dirty="0"/>
              <a:t>(age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	print(message</a:t>
            </a:r>
            <a:r>
              <a:rPr lang="en-IN" dirty="0"/>
              <a:t>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354957" y="5721763"/>
            <a:ext cx="258417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IN" sz="2800" dirty="0" smtClean="0"/>
              <a:t>Age</a:t>
            </a:r>
            <a:r>
              <a:rPr lang="en-IN" sz="2800" dirty="0"/>
              <a:t>: 20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08167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the Required Data Types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8936825"/>
              </p:ext>
            </p:extLst>
          </p:nvPr>
        </p:nvGraphicFramePr>
        <p:xfrm>
          <a:off x="682416" y="2152580"/>
          <a:ext cx="10171044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90348">
                  <a:extLst>
                    <a:ext uri="{9D8B030D-6E8A-4147-A177-3AD203B41FA5}">
                      <a16:colId xmlns:a16="http://schemas.microsoft.com/office/drawing/2014/main" val="1661163672"/>
                    </a:ext>
                  </a:extLst>
                </a:gridCol>
                <a:gridCol w="3390348">
                  <a:extLst>
                    <a:ext uri="{9D8B030D-6E8A-4147-A177-3AD203B41FA5}">
                      <a16:colId xmlns:a16="http://schemas.microsoft.com/office/drawing/2014/main" val="3282589373"/>
                    </a:ext>
                  </a:extLst>
                </a:gridCol>
                <a:gridCol w="3390348">
                  <a:extLst>
                    <a:ext uri="{9D8B030D-6E8A-4147-A177-3AD203B41FA5}">
                      <a16:colId xmlns:a16="http://schemas.microsoft.com/office/drawing/2014/main" val="1067755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600" b="1"/>
                        <a:t>Category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/>
                        <a:t>Python types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 dirty="0"/>
                        <a:t>Example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672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Numeric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int, float, 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25, 8.5, 3+4j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10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bool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True,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3725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Dictionary/Mapping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dict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{"name": "Aman"}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22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set, frozenset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{10, 20, 30}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996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Sequence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str, list, tuple,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"Python", [1, 2], (1, 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31698"/>
                  </a:ext>
                </a:extLst>
              </a:tr>
            </a:tbl>
          </a:graphicData>
        </a:graphic>
      </p:graphicFrame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296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Python provides three principal built-in numeric types:</a:t>
            </a:r>
          </a:p>
          <a:p>
            <a:pPr lvl="1"/>
            <a:r>
              <a:rPr lang="en-IN" dirty="0" err="1"/>
              <a:t>int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float </a:t>
            </a:r>
          </a:p>
          <a:p>
            <a:pPr lvl="1"/>
            <a:r>
              <a:rPr lang="en-IN" dirty="0"/>
              <a:t>complex </a:t>
            </a:r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Python </a:t>
            </a:r>
            <a:r>
              <a:rPr lang="en-IN" dirty="0"/>
              <a:t>numbers are immutable. </a:t>
            </a:r>
            <a:endParaRPr lang="en-IN" dirty="0" smtClean="0"/>
          </a:p>
          <a:p>
            <a:pPr algn="just"/>
            <a:endParaRPr lang="en-IN" dirty="0"/>
          </a:p>
          <a:p>
            <a:pPr algn="just"/>
            <a:r>
              <a:rPr lang="en-IN" dirty="0" smtClean="0"/>
              <a:t>An </a:t>
            </a:r>
            <a:r>
              <a:rPr lang="en-IN" dirty="0"/>
              <a:t>operation on a numeric object produces a new value instead of modifying the original numeric object.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310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Integer: </a:t>
            </a:r>
            <a:r>
              <a:rPr lang="en-US" dirty="0" err="1" smtClean="0"/>
              <a:t>int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 smtClean="0"/>
              <a:t>An </a:t>
            </a:r>
            <a:r>
              <a:rPr lang="en-US" dirty="0"/>
              <a:t>integer is a whole number without a decimal point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nl-NL" dirty="0" smtClean="0"/>
              <a:t>	students </a:t>
            </a:r>
            <a:r>
              <a:rPr lang="nl-NL" dirty="0"/>
              <a:t>= 60</a:t>
            </a:r>
          </a:p>
          <a:p>
            <a:pPr marL="0" indent="0">
              <a:buNone/>
            </a:pPr>
            <a:r>
              <a:rPr lang="nl-NL" dirty="0" smtClean="0"/>
              <a:t>	temperature </a:t>
            </a:r>
            <a:r>
              <a:rPr lang="nl-NL" dirty="0"/>
              <a:t>= -5</a:t>
            </a:r>
          </a:p>
          <a:p>
            <a:pPr marL="0" indent="0">
              <a:buNone/>
            </a:pPr>
            <a:r>
              <a:rPr lang="nl-NL" dirty="0" smtClean="0"/>
              <a:t>	zero </a:t>
            </a:r>
            <a:r>
              <a:rPr lang="nl-NL" dirty="0"/>
              <a:t>= </a:t>
            </a:r>
            <a:r>
              <a:rPr lang="nl-NL" dirty="0" smtClean="0"/>
              <a:t>0</a:t>
            </a:r>
          </a:p>
          <a:p>
            <a:pPr marL="0" indent="0">
              <a:buNone/>
            </a:pPr>
            <a:endParaRPr lang="nl-NL" dirty="0"/>
          </a:p>
          <a:p>
            <a:r>
              <a:rPr lang="en-US" dirty="0"/>
              <a:t>Integers may be positive, negative, or zero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 smtClean="0"/>
              <a:t>	print(type(students</a:t>
            </a:r>
            <a:r>
              <a:rPr lang="en-IN" dirty="0"/>
              <a:t>))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4324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Integer: </a:t>
            </a:r>
            <a:r>
              <a:rPr lang="en-US" dirty="0" err="1" smtClean="0"/>
              <a:t>int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Python integers support arbitrary precision, meaning they are not restricted to the common 32-bit or 64-bit integer range, although available memory still imposes a practical limit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IN" dirty="0" err="1"/>
              <a:t>large_number</a:t>
            </a:r>
            <a:r>
              <a:rPr lang="en-IN" dirty="0"/>
              <a:t> = 123456789012345678901234567890</a:t>
            </a:r>
          </a:p>
          <a:p>
            <a:pPr marL="0" indent="0" algn="just">
              <a:buNone/>
            </a:pPr>
            <a:r>
              <a:rPr lang="en-IN" dirty="0"/>
              <a:t>print(</a:t>
            </a:r>
            <a:r>
              <a:rPr lang="en-IN" dirty="0" err="1"/>
              <a:t>large_number</a:t>
            </a:r>
            <a:r>
              <a:rPr lang="en-IN" dirty="0"/>
              <a:t>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6040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Integer: </a:t>
            </a:r>
            <a:r>
              <a:rPr lang="en-US" dirty="0" err="1" smtClean="0"/>
              <a:t>int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Number systems</a:t>
            </a:r>
          </a:p>
          <a:p>
            <a:r>
              <a:rPr lang="en-US" dirty="0"/>
              <a:t>Python also supports binary, octal, and hexadecimal integer literals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binary_number</a:t>
            </a:r>
            <a:r>
              <a:rPr lang="en-US" dirty="0"/>
              <a:t> = 0b1010</a:t>
            </a:r>
          </a:p>
          <a:p>
            <a:pPr marL="0" indent="0">
              <a:buNone/>
            </a:pPr>
            <a:r>
              <a:rPr lang="en-US" dirty="0" err="1"/>
              <a:t>octal_number</a:t>
            </a:r>
            <a:r>
              <a:rPr lang="en-US" dirty="0"/>
              <a:t> = 0o12</a:t>
            </a:r>
          </a:p>
          <a:p>
            <a:pPr marL="0" indent="0">
              <a:buNone/>
            </a:pPr>
            <a:r>
              <a:rPr lang="en-US" dirty="0" err="1"/>
              <a:t>hexadecimal_number</a:t>
            </a:r>
            <a:r>
              <a:rPr lang="en-US" dirty="0"/>
              <a:t> = 0xA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binary_number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octal_number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hexadecimal_number</a:t>
            </a:r>
            <a:r>
              <a:rPr lang="en-US" dirty="0"/>
              <a:t>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606748" y="4595329"/>
            <a:ext cx="2584176" cy="17851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IN" sz="2800" dirty="0" smtClean="0"/>
              <a:t>10</a:t>
            </a:r>
          </a:p>
          <a:p>
            <a:r>
              <a:rPr lang="en-US" sz="2800" dirty="0" smtClean="0"/>
              <a:t>10</a:t>
            </a:r>
          </a:p>
          <a:p>
            <a:r>
              <a:rPr lang="en-US" sz="2800" dirty="0" smtClean="0"/>
              <a:t>10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868165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Number: 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 </a:t>
            </a:r>
            <a:r>
              <a:rPr lang="en-US" dirty="0"/>
              <a:t>float represents a real number containing a decimal point or exponent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it-IT" dirty="0"/>
              <a:t>cgpa = 8.75</a:t>
            </a:r>
          </a:p>
          <a:p>
            <a:pPr marL="0" indent="0" algn="just">
              <a:buNone/>
            </a:pPr>
            <a:r>
              <a:rPr lang="it-IT" dirty="0"/>
              <a:t>temperature = -2.5</a:t>
            </a:r>
          </a:p>
          <a:p>
            <a:pPr marL="0" indent="0" algn="just">
              <a:buNone/>
            </a:pPr>
            <a:r>
              <a:rPr lang="it-IT" dirty="0"/>
              <a:t>scientific_value = </a:t>
            </a:r>
            <a:r>
              <a:rPr lang="it-IT" dirty="0" smtClean="0"/>
              <a:t>1.5e3</a:t>
            </a:r>
          </a:p>
          <a:p>
            <a:pPr marL="0" indent="0" algn="just">
              <a:buNone/>
            </a:pPr>
            <a:r>
              <a:rPr lang="en-IN" dirty="0"/>
              <a:t>print(</a:t>
            </a:r>
            <a:r>
              <a:rPr lang="en-IN" dirty="0" err="1"/>
              <a:t>scientific_value</a:t>
            </a:r>
            <a:r>
              <a:rPr lang="en-IN" dirty="0" smtClean="0"/>
              <a:t>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301948" y="3418481"/>
            <a:ext cx="258417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US" sz="2800" dirty="0" smtClean="0"/>
              <a:t>1500.0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711029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Number: 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Floating-point precision</a:t>
            </a:r>
          </a:p>
          <a:p>
            <a:pPr marL="0" indent="0" algn="just">
              <a:buNone/>
            </a:pPr>
            <a:r>
              <a:rPr lang="en-US" dirty="0" smtClean="0"/>
              <a:t>Many </a:t>
            </a:r>
            <a:r>
              <a:rPr lang="en-US" dirty="0"/>
              <a:t>decimal fractions cannot be represented exactly in binary floating-point form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IN" dirty="0" smtClean="0"/>
              <a:t>		print(0.1 </a:t>
            </a:r>
            <a:r>
              <a:rPr lang="en-IN" dirty="0"/>
              <a:t>+ 0.2</a:t>
            </a:r>
            <a:r>
              <a:rPr lang="en-IN" dirty="0" smtClean="0"/>
              <a:t>)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Therefore, avoid direct equality testing when approximate floating-point results are expected.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5923722" y="3140185"/>
            <a:ext cx="425394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IN" sz="2800" dirty="0" smtClean="0"/>
              <a:t>0.30000000000000004</a:t>
            </a:r>
            <a:endParaRPr lang="en-IN" sz="26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418101"/>
              </p:ext>
            </p:extLst>
          </p:nvPr>
        </p:nvGraphicFramePr>
        <p:xfrm>
          <a:off x="1572590" y="5146385"/>
          <a:ext cx="7677426" cy="138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4415">
                  <a:extLst>
                    <a:ext uri="{9D8B030D-6E8A-4147-A177-3AD203B41FA5}">
                      <a16:colId xmlns:a16="http://schemas.microsoft.com/office/drawing/2014/main" val="1312734526"/>
                    </a:ext>
                  </a:extLst>
                </a:gridCol>
                <a:gridCol w="2489928">
                  <a:extLst>
                    <a:ext uri="{9D8B030D-6E8A-4147-A177-3AD203B41FA5}">
                      <a16:colId xmlns:a16="http://schemas.microsoft.com/office/drawing/2014/main" val="2982928594"/>
                    </a:ext>
                  </a:extLst>
                </a:gridCol>
                <a:gridCol w="4053083">
                  <a:extLst>
                    <a:ext uri="{9D8B030D-6E8A-4147-A177-3AD203B41FA5}">
                      <a16:colId xmlns:a16="http://schemas.microsoft.com/office/drawing/2014/main" val="10647052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Less reliable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Preferred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074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Program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print(0.1 + 0.2 == 0.3)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import math </a:t>
                      </a:r>
                    </a:p>
                    <a:p>
                      <a:r>
                        <a:rPr lang="en-US" dirty="0" smtClean="0"/>
                        <a:t>print(</a:t>
                      </a:r>
                      <a:r>
                        <a:rPr lang="en-US" dirty="0" err="1" smtClean="0"/>
                        <a:t>math.isclose</a:t>
                      </a:r>
                      <a:r>
                        <a:rPr lang="en-US" dirty="0" smtClean="0"/>
                        <a:t>(0.1 + 0.2, 0.3))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643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Output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315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62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</a:t>
            </a:r>
            <a:r>
              <a:rPr lang="en-US" dirty="0" smtClean="0"/>
              <a:t>Number: </a:t>
            </a:r>
            <a:r>
              <a:rPr lang="en-US" dirty="0"/>
              <a:t>complex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</a:t>
            </a:r>
            <a:r>
              <a:rPr lang="en-US" dirty="0"/>
              <a:t>complex number contains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real component, </a:t>
            </a:r>
            <a:r>
              <a:rPr lang="en-US" dirty="0" smtClean="0"/>
              <a:t>and</a:t>
            </a:r>
          </a:p>
          <a:p>
            <a:pPr lvl="1"/>
            <a:r>
              <a:rPr lang="en-US" dirty="0" smtClean="0"/>
              <a:t>an </a:t>
            </a:r>
            <a:r>
              <a:rPr lang="en-US" dirty="0"/>
              <a:t>imaginary component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sz="3200" dirty="0"/>
              <a:t>Python uses j </a:t>
            </a:r>
            <a:r>
              <a:rPr lang="en-US" sz="3200" dirty="0" smtClean="0"/>
              <a:t>for </a:t>
            </a:r>
            <a:r>
              <a:rPr lang="en-US" sz="3200" dirty="0"/>
              <a:t>the imaginary </a:t>
            </a:r>
            <a:r>
              <a:rPr lang="en-US" sz="3200" dirty="0" smtClean="0"/>
              <a:t>component.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IN" sz="3200" dirty="0"/>
              <a:t>number = 3 + </a:t>
            </a:r>
            <a:r>
              <a:rPr lang="en-IN" sz="3200" dirty="0" smtClean="0"/>
              <a:t>4j</a:t>
            </a:r>
          </a:p>
          <a:p>
            <a:pPr marL="0" indent="0">
              <a:buNone/>
            </a:pPr>
            <a:r>
              <a:rPr lang="en-IN" sz="3200" dirty="0"/>
              <a:t>print(</a:t>
            </a:r>
            <a:r>
              <a:rPr lang="en-IN" sz="3200" dirty="0" err="1"/>
              <a:t>number.real</a:t>
            </a:r>
            <a:r>
              <a:rPr lang="en-IN" sz="3200" dirty="0" smtClean="0"/>
              <a:t>)</a:t>
            </a:r>
          </a:p>
          <a:p>
            <a:pPr marL="0" indent="0">
              <a:buNone/>
            </a:pPr>
            <a:r>
              <a:rPr lang="en-IN" sz="3200" dirty="0" smtClean="0"/>
              <a:t>print(</a:t>
            </a:r>
            <a:r>
              <a:rPr lang="en-IN" sz="3200" dirty="0" err="1" smtClean="0"/>
              <a:t>number.imag</a:t>
            </a:r>
            <a:r>
              <a:rPr lang="en-IN" sz="3200" dirty="0" smtClean="0"/>
              <a:t>)</a:t>
            </a:r>
          </a:p>
          <a:p>
            <a:pPr marL="0" indent="0">
              <a:buNone/>
            </a:pPr>
            <a:r>
              <a:rPr lang="en-IN" sz="3200" dirty="0" smtClean="0"/>
              <a:t>print(type(number</a:t>
            </a:r>
            <a:r>
              <a:rPr lang="en-IN" sz="3200" dirty="0"/>
              <a:t>))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414052" y="4310405"/>
            <a:ext cx="4253948" cy="17851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IN" sz="2800" dirty="0"/>
              <a:t>3.0 </a:t>
            </a:r>
            <a:endParaRPr lang="en-IN" sz="2800" dirty="0" smtClean="0"/>
          </a:p>
          <a:p>
            <a:r>
              <a:rPr lang="en-IN" sz="2800" dirty="0" smtClean="0"/>
              <a:t>4.0 </a:t>
            </a:r>
          </a:p>
          <a:p>
            <a:r>
              <a:rPr lang="en-IN" sz="2800" dirty="0" smtClean="0"/>
              <a:t>&lt;</a:t>
            </a:r>
            <a:r>
              <a:rPr lang="en-IN" sz="2800" dirty="0"/>
              <a:t>class 'complex'&gt;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26947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</a:t>
            </a:r>
            <a:r>
              <a:rPr lang="en-US" dirty="0" smtClean="0"/>
              <a:t>Number: </a:t>
            </a:r>
            <a:r>
              <a:rPr lang="en-US" dirty="0"/>
              <a:t>complex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Complex numbers are useful in:</a:t>
            </a:r>
          </a:p>
          <a:p>
            <a:pPr lvl="1"/>
            <a:r>
              <a:rPr lang="en-IN" dirty="0"/>
              <a:t>signal processing, </a:t>
            </a:r>
          </a:p>
          <a:p>
            <a:pPr lvl="1"/>
            <a:r>
              <a:rPr lang="en-IN" dirty="0"/>
              <a:t>electrical engineering, </a:t>
            </a:r>
          </a:p>
          <a:p>
            <a:pPr lvl="1"/>
            <a:r>
              <a:rPr lang="en-IN" dirty="0"/>
              <a:t>control systems, </a:t>
            </a:r>
          </a:p>
          <a:p>
            <a:pPr lvl="1"/>
            <a:r>
              <a:rPr lang="en-IN" dirty="0"/>
              <a:t>quantum computing, </a:t>
            </a:r>
          </a:p>
          <a:p>
            <a:pPr lvl="1"/>
            <a:r>
              <a:rPr lang="en-IN" dirty="0"/>
              <a:t>Fourier transformations. </a:t>
            </a:r>
          </a:p>
          <a:p>
            <a:pPr algn="just"/>
            <a:r>
              <a:rPr lang="en-IN" dirty="0"/>
              <a:t>Python does not define ordering operations such as &lt; or &gt; for complex numbers.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 smtClean="0"/>
              <a:t>	print</a:t>
            </a:r>
            <a:r>
              <a:rPr lang="en-IN" dirty="0"/>
              <a:t>((3 + 4j) &gt; (2 + 1j</a:t>
            </a:r>
            <a:r>
              <a:rPr lang="en-IN" dirty="0" smtClean="0"/>
              <a:t>))</a:t>
            </a:r>
          </a:p>
          <a:p>
            <a:pPr marL="0" indent="0">
              <a:buNone/>
            </a:pPr>
            <a:r>
              <a:rPr lang="en-IN" dirty="0"/>
              <a:t>This produces a </a:t>
            </a:r>
            <a:r>
              <a:rPr lang="en-IN" dirty="0" err="1"/>
              <a:t>TypeError</a:t>
            </a:r>
            <a:r>
              <a:rPr lang="en-IN" dirty="0"/>
              <a:t>.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10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Working with Numeric Types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 err="1"/>
              <a:t>number_of_students</a:t>
            </a:r>
            <a:r>
              <a:rPr lang="en-IN" dirty="0"/>
              <a:t> = 64       # </a:t>
            </a:r>
            <a:r>
              <a:rPr lang="en-IN" dirty="0" err="1"/>
              <a:t>int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average_marks</a:t>
            </a:r>
            <a:r>
              <a:rPr lang="en-IN" dirty="0"/>
              <a:t> = 78.5          # float</a:t>
            </a:r>
          </a:p>
          <a:p>
            <a:pPr marL="0" indent="0">
              <a:buNone/>
            </a:pPr>
            <a:r>
              <a:rPr lang="en-IN" dirty="0"/>
              <a:t>impedance = 3 + 4j            # complex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print("Students:", </a:t>
            </a:r>
            <a:r>
              <a:rPr lang="en-IN" dirty="0" err="1"/>
              <a:t>number_of_students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print("Average:", </a:t>
            </a:r>
            <a:r>
              <a:rPr lang="en-IN" dirty="0" err="1"/>
              <a:t>average_marks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print("Impedance:", impedance)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print(type(</a:t>
            </a:r>
            <a:r>
              <a:rPr lang="en-IN" dirty="0" err="1"/>
              <a:t>number_of_students</a:t>
            </a:r>
            <a:r>
              <a:rPr lang="en-IN" dirty="0"/>
              <a:t>))</a:t>
            </a:r>
          </a:p>
          <a:p>
            <a:pPr marL="0" indent="0">
              <a:buNone/>
            </a:pPr>
            <a:r>
              <a:rPr lang="en-IN" dirty="0"/>
              <a:t>print(type(</a:t>
            </a:r>
            <a:r>
              <a:rPr lang="en-IN" dirty="0" err="1"/>
              <a:t>average_marks</a:t>
            </a:r>
            <a:r>
              <a:rPr lang="en-IN" dirty="0"/>
              <a:t>))</a:t>
            </a:r>
          </a:p>
          <a:p>
            <a:pPr marL="0" indent="0">
              <a:buNone/>
            </a:pPr>
            <a:r>
              <a:rPr lang="en-IN" dirty="0"/>
              <a:t>print(type(impedance))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print("Real component:", </a:t>
            </a:r>
            <a:r>
              <a:rPr lang="en-IN" dirty="0" err="1"/>
              <a:t>impedance.real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print("Imaginary component:", </a:t>
            </a:r>
            <a:r>
              <a:rPr lang="en-IN" dirty="0" err="1"/>
              <a:t>impedance.imag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print("Magnitude:", abs(impedance))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467060" y="1690688"/>
            <a:ext cx="4704522" cy="43704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US" sz="2800" dirty="0"/>
              <a:t>Students: 64</a:t>
            </a:r>
          </a:p>
          <a:p>
            <a:r>
              <a:rPr lang="en-US" sz="2800" dirty="0"/>
              <a:t>Average: 78.5</a:t>
            </a:r>
          </a:p>
          <a:p>
            <a:r>
              <a:rPr lang="en-US" sz="2800" dirty="0"/>
              <a:t>Impedance: (3+4j)</a:t>
            </a:r>
          </a:p>
          <a:p>
            <a:r>
              <a:rPr lang="en-US" sz="2800" dirty="0"/>
              <a:t>&lt;class '</a:t>
            </a:r>
            <a:r>
              <a:rPr lang="en-US" sz="2800" dirty="0" err="1"/>
              <a:t>int</a:t>
            </a:r>
            <a:r>
              <a:rPr lang="en-US" sz="2800" dirty="0"/>
              <a:t>'&gt;</a:t>
            </a:r>
          </a:p>
          <a:p>
            <a:r>
              <a:rPr lang="en-US" sz="2800" dirty="0"/>
              <a:t>&lt;class 'float'&gt;</a:t>
            </a:r>
          </a:p>
          <a:p>
            <a:r>
              <a:rPr lang="en-US" sz="2800" dirty="0"/>
              <a:t>&lt;class 'complex'&gt;</a:t>
            </a:r>
          </a:p>
          <a:p>
            <a:r>
              <a:rPr lang="en-US" sz="2800" dirty="0"/>
              <a:t>Real component: 3.0</a:t>
            </a:r>
          </a:p>
          <a:p>
            <a:r>
              <a:rPr lang="en-US" sz="2800" dirty="0"/>
              <a:t>Imaginary component: 4.0</a:t>
            </a:r>
          </a:p>
          <a:p>
            <a:r>
              <a:rPr lang="en-US" sz="2800" dirty="0"/>
              <a:t>Magnitude: 5.0</a:t>
            </a:r>
            <a:endParaRPr lang="en-IN" sz="2600" dirty="0"/>
          </a:p>
        </p:txBody>
      </p:sp>
      <p:sp>
        <p:nvSpPr>
          <p:cNvPr id="5" name="Rectangle 4"/>
          <p:cNvSpPr/>
          <p:nvPr/>
        </p:nvSpPr>
        <p:spPr>
          <a:xfrm>
            <a:off x="6463288" y="6274891"/>
            <a:ext cx="3118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magnitude is calculated as: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474" y="6297609"/>
            <a:ext cx="1667108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6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Boolean type is represented by bool and has only two possible </a:t>
            </a:r>
            <a:r>
              <a:rPr lang="en-US" dirty="0" smtClean="0"/>
              <a:t>values:</a:t>
            </a:r>
          </a:p>
          <a:p>
            <a:pPr lvl="1" algn="just"/>
            <a:r>
              <a:rPr lang="en-IN" dirty="0" smtClean="0"/>
              <a:t>True </a:t>
            </a:r>
            <a:endParaRPr lang="en-IN" dirty="0"/>
          </a:p>
          <a:p>
            <a:pPr lvl="1" algn="just"/>
            <a:r>
              <a:rPr lang="en-IN" dirty="0" smtClean="0"/>
              <a:t>False</a:t>
            </a:r>
          </a:p>
          <a:p>
            <a:pPr marL="457200" lvl="1" indent="0" algn="just">
              <a:buNone/>
            </a:pPr>
            <a:endParaRPr lang="en-US" dirty="0"/>
          </a:p>
          <a:p>
            <a:pPr marL="457200" lvl="1" indent="0" algn="just">
              <a:buNone/>
            </a:pPr>
            <a:endParaRPr lang="en-US" dirty="0" smtClean="0"/>
          </a:p>
          <a:p>
            <a:pPr marL="228600" lvl="1" algn="just">
              <a:spcBef>
                <a:spcPts val="1000"/>
              </a:spcBef>
            </a:pPr>
            <a:r>
              <a:rPr lang="en-US" sz="2800" dirty="0"/>
              <a:t>Python is case-sensitive. Therefore, these are incorrect:</a:t>
            </a:r>
          </a:p>
          <a:p>
            <a:pPr lvl="1"/>
            <a:r>
              <a:rPr lang="en-US" dirty="0"/>
              <a:t>true</a:t>
            </a:r>
          </a:p>
          <a:p>
            <a:pPr lvl="1"/>
            <a:r>
              <a:rPr lang="en-US" dirty="0"/>
              <a:t>false</a:t>
            </a:r>
          </a:p>
          <a:p>
            <a:pPr lvl="1"/>
            <a:r>
              <a:rPr lang="en-US" dirty="0"/>
              <a:t>TRUE</a:t>
            </a:r>
          </a:p>
          <a:p>
            <a:pPr lvl="1"/>
            <a:r>
              <a:rPr lang="en-US" dirty="0"/>
              <a:t>FALSE</a:t>
            </a:r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235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 smtClean="0"/>
              <a:t>Creating Boolean values</a:t>
            </a:r>
          </a:p>
          <a:p>
            <a:pPr marL="0" indent="0" algn="just">
              <a:buNone/>
            </a:pPr>
            <a:r>
              <a:rPr lang="en-IN" dirty="0" smtClean="0"/>
              <a:t>	</a:t>
            </a:r>
            <a:r>
              <a:rPr lang="en-IN" dirty="0" err="1" smtClean="0"/>
              <a:t>is_registered</a:t>
            </a:r>
            <a:r>
              <a:rPr lang="en-IN" dirty="0" smtClean="0"/>
              <a:t> </a:t>
            </a:r>
            <a:r>
              <a:rPr lang="en-IN" dirty="0"/>
              <a:t>= True</a:t>
            </a:r>
          </a:p>
          <a:p>
            <a:pPr marL="0" indent="0" algn="just">
              <a:buNone/>
            </a:pPr>
            <a:r>
              <a:rPr lang="en-IN" dirty="0" smtClean="0"/>
              <a:t>	</a:t>
            </a:r>
            <a:r>
              <a:rPr lang="en-IN" dirty="0" err="1" smtClean="0"/>
              <a:t>has_backlog</a:t>
            </a:r>
            <a:r>
              <a:rPr lang="en-IN" dirty="0" smtClean="0"/>
              <a:t> </a:t>
            </a:r>
            <a:r>
              <a:rPr lang="en-IN" dirty="0"/>
              <a:t>= </a:t>
            </a:r>
            <a:r>
              <a:rPr lang="en-IN" dirty="0" smtClean="0"/>
              <a:t>False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Boolean values are also produced by comparison operations</a:t>
            </a:r>
            <a:r>
              <a:rPr lang="en-US" dirty="0" smtClean="0"/>
              <a:t>: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marks = 75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print(marks &gt;= 40)</a:t>
            </a:r>
          </a:p>
          <a:p>
            <a:pPr marL="0" indent="0" algn="just">
              <a:buNone/>
            </a:pPr>
            <a:r>
              <a:rPr lang="en-US" dirty="0"/>
              <a:t>print(marks == 100)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8079847" y="5324924"/>
            <a:ext cx="1846032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 smtClean="0"/>
              <a:t>Output</a:t>
            </a:r>
          </a:p>
          <a:p>
            <a:r>
              <a:rPr lang="en-IN" dirty="0" smtClean="0"/>
              <a:t>True</a:t>
            </a:r>
          </a:p>
          <a:p>
            <a:r>
              <a:rPr lang="en-IN" dirty="0" smtClean="0"/>
              <a:t>False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750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Truthy</a:t>
            </a:r>
            <a:r>
              <a:rPr lang="en-US" dirty="0"/>
              <a:t> and </a:t>
            </a:r>
            <a:r>
              <a:rPr lang="en-US" dirty="0" err="1"/>
              <a:t>falsy</a:t>
            </a:r>
            <a:r>
              <a:rPr lang="en-US" dirty="0"/>
              <a:t>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Python </a:t>
            </a:r>
            <a:r>
              <a:rPr lang="en-US" dirty="0"/>
              <a:t>can evaluate most objects in a Boolean context.</a:t>
            </a:r>
          </a:p>
          <a:p>
            <a:r>
              <a:rPr lang="en-US" dirty="0"/>
              <a:t>Common values interpreted as False include:</a:t>
            </a:r>
          </a:p>
          <a:p>
            <a:pPr marL="0" indent="0">
              <a:buNone/>
            </a:pPr>
            <a:r>
              <a:rPr lang="en-US" dirty="0" smtClean="0"/>
              <a:t>	False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None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0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0.0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0j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""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[]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()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{}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set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smtClean="0"/>
              <a:t>	range(0)</a:t>
            </a:r>
          </a:p>
          <a:p>
            <a:pPr marL="0" indent="0">
              <a:buNone/>
            </a:pPr>
            <a:r>
              <a:rPr lang="en-US" dirty="0"/>
              <a:t>Most other values are interpreted as True.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601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Truthy</a:t>
            </a:r>
            <a:r>
              <a:rPr lang="en-US" dirty="0"/>
              <a:t> and </a:t>
            </a:r>
            <a:r>
              <a:rPr lang="en-US" dirty="0" err="1"/>
              <a:t>falsy</a:t>
            </a:r>
            <a:r>
              <a:rPr lang="en-US" dirty="0"/>
              <a:t>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print(bool(0))</a:t>
            </a:r>
          </a:p>
          <a:p>
            <a:pPr marL="0" indent="0">
              <a:buNone/>
            </a:pPr>
            <a:r>
              <a:rPr lang="en-US" dirty="0"/>
              <a:t>print(bool(1))</a:t>
            </a:r>
          </a:p>
          <a:p>
            <a:pPr marL="0" indent="0">
              <a:buNone/>
            </a:pPr>
            <a:r>
              <a:rPr lang="en-US" dirty="0"/>
              <a:t>print(bool(""))</a:t>
            </a:r>
          </a:p>
          <a:p>
            <a:pPr marL="0" indent="0">
              <a:buNone/>
            </a:pPr>
            <a:r>
              <a:rPr lang="en-US" dirty="0"/>
              <a:t>print(bool("Python"))</a:t>
            </a:r>
          </a:p>
          <a:p>
            <a:pPr marL="0" indent="0">
              <a:buNone/>
            </a:pPr>
            <a:r>
              <a:rPr lang="en-US" dirty="0"/>
              <a:t>print(bool([]))</a:t>
            </a:r>
          </a:p>
          <a:p>
            <a:pPr marL="0" indent="0">
              <a:buNone/>
            </a:pPr>
            <a:r>
              <a:rPr lang="en-US" dirty="0"/>
              <a:t>print(bool([10, 20]))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417238" y="2310486"/>
            <a:ext cx="1474971" cy="20313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 smtClean="0"/>
              <a:t>Output</a:t>
            </a:r>
          </a:p>
          <a:p>
            <a:r>
              <a:rPr lang="da-DK" dirty="0"/>
              <a:t>False</a:t>
            </a:r>
          </a:p>
          <a:p>
            <a:r>
              <a:rPr lang="da-DK" dirty="0"/>
              <a:t>True</a:t>
            </a:r>
          </a:p>
          <a:p>
            <a:r>
              <a:rPr lang="da-DK" dirty="0"/>
              <a:t>False</a:t>
            </a:r>
          </a:p>
          <a:p>
            <a:r>
              <a:rPr lang="da-DK" dirty="0"/>
              <a:t>True</a:t>
            </a:r>
          </a:p>
          <a:p>
            <a:r>
              <a:rPr lang="da-DK" dirty="0"/>
              <a:t>False</a:t>
            </a:r>
          </a:p>
          <a:p>
            <a:r>
              <a:rPr lang="da-DK" dirty="0"/>
              <a:t>True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837668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Student Eligibility Using Boolean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 err="1"/>
              <a:t>cgpa</a:t>
            </a:r>
            <a:r>
              <a:rPr lang="en-US" dirty="0"/>
              <a:t> = 8.2</a:t>
            </a:r>
          </a:p>
          <a:p>
            <a:pPr marL="0" indent="0">
              <a:buNone/>
            </a:pPr>
            <a:r>
              <a:rPr lang="en-US" dirty="0" err="1"/>
              <a:t>active_backlogs</a:t>
            </a:r>
            <a:r>
              <a:rPr lang="en-US" dirty="0"/>
              <a:t> = 0</a:t>
            </a:r>
          </a:p>
          <a:p>
            <a:pPr marL="0" indent="0">
              <a:buNone/>
            </a:pPr>
            <a:r>
              <a:rPr lang="en-US" dirty="0"/>
              <a:t>attendance = 82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has_required_cgpa</a:t>
            </a:r>
            <a:r>
              <a:rPr lang="en-US" dirty="0"/>
              <a:t> = </a:t>
            </a:r>
            <a:r>
              <a:rPr lang="en-US" dirty="0" err="1"/>
              <a:t>cgpa</a:t>
            </a:r>
            <a:r>
              <a:rPr lang="en-US" dirty="0"/>
              <a:t> &gt;= 7.0</a:t>
            </a:r>
          </a:p>
          <a:p>
            <a:pPr marL="0" indent="0">
              <a:buNone/>
            </a:pPr>
            <a:r>
              <a:rPr lang="en-US" dirty="0" err="1"/>
              <a:t>has_no_backlog</a:t>
            </a:r>
            <a:r>
              <a:rPr lang="en-US" dirty="0"/>
              <a:t> = </a:t>
            </a:r>
            <a:r>
              <a:rPr lang="en-US" dirty="0" err="1"/>
              <a:t>active_backlogs</a:t>
            </a:r>
            <a:r>
              <a:rPr lang="en-US" dirty="0"/>
              <a:t> == 0</a:t>
            </a:r>
          </a:p>
          <a:p>
            <a:pPr marL="0" indent="0">
              <a:buNone/>
            </a:pPr>
            <a:r>
              <a:rPr lang="en-US" dirty="0" err="1"/>
              <a:t>has_required_attendance</a:t>
            </a:r>
            <a:r>
              <a:rPr lang="en-US" dirty="0"/>
              <a:t> = attendance &gt;= 75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is_eligible</a:t>
            </a:r>
            <a:r>
              <a:rPr lang="en-US" dirty="0"/>
              <a:t> =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has_required_cgpa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and </a:t>
            </a:r>
            <a:r>
              <a:rPr lang="en-US" dirty="0" err="1"/>
              <a:t>has_no_backlog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and </a:t>
            </a:r>
            <a:r>
              <a:rPr lang="en-US" dirty="0" err="1"/>
              <a:t>has_required_attendance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print("Required CGPA:", </a:t>
            </a:r>
            <a:r>
              <a:rPr lang="en-US" dirty="0" err="1"/>
              <a:t>has_required_cgpa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print("No active backlog:", </a:t>
            </a:r>
            <a:r>
              <a:rPr lang="en-US" dirty="0" err="1"/>
              <a:t>has_no_backlog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print("Required attendance:", </a:t>
            </a:r>
            <a:r>
              <a:rPr lang="en-US" dirty="0" err="1"/>
              <a:t>has_required_attendance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print("Placement eligible:", </a:t>
            </a:r>
            <a:r>
              <a:rPr lang="en-US" dirty="0" err="1"/>
              <a:t>is_eligible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417238" y="2310486"/>
            <a:ext cx="3476049" cy="14773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 smtClean="0"/>
              <a:t>Output</a:t>
            </a:r>
          </a:p>
          <a:p>
            <a:r>
              <a:rPr lang="en-US" dirty="0"/>
              <a:t>Required CGPA: True</a:t>
            </a:r>
          </a:p>
          <a:p>
            <a:r>
              <a:rPr lang="en-US" dirty="0"/>
              <a:t>No active backlog: True</a:t>
            </a:r>
          </a:p>
          <a:p>
            <a:r>
              <a:rPr lang="en-US" dirty="0"/>
              <a:t>Required attendance: True</a:t>
            </a:r>
          </a:p>
          <a:p>
            <a:r>
              <a:rPr lang="en-US" dirty="0"/>
              <a:t>Placement eligible: True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43033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Student Eligibility Using Boolean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 empty collection is </a:t>
            </a:r>
            <a:r>
              <a:rPr lang="en-US" dirty="0" err="1"/>
              <a:t>falsy</a:t>
            </a:r>
            <a:r>
              <a:rPr lang="en-US" dirty="0"/>
              <a:t>, so this pattern is preferred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courses </a:t>
            </a:r>
            <a:r>
              <a:rPr lang="en-US" dirty="0"/>
              <a:t>= []</a:t>
            </a:r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not courses:</a:t>
            </a:r>
          </a:p>
          <a:p>
            <a:pPr marL="0" indent="0">
              <a:buNone/>
            </a:pPr>
            <a:r>
              <a:rPr lang="en-US" dirty="0"/>
              <a:t>    print("No course has been selected</a:t>
            </a:r>
            <a:r>
              <a:rPr lang="en-US" dirty="0" smtClean="0"/>
              <a:t>")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Instead of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	if </a:t>
            </a:r>
            <a:r>
              <a:rPr lang="en-US" dirty="0" err="1"/>
              <a:t>len</a:t>
            </a:r>
            <a:r>
              <a:rPr lang="en-US" dirty="0"/>
              <a:t>(courses) == 0: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		print</a:t>
            </a:r>
            <a:r>
              <a:rPr lang="en-US" dirty="0"/>
              <a:t>("No course has been selected</a:t>
            </a:r>
            <a:r>
              <a:rPr lang="en-US" dirty="0" smtClean="0"/>
              <a:t>")</a:t>
            </a:r>
          </a:p>
          <a:p>
            <a:r>
              <a:rPr lang="en-US" dirty="0"/>
              <a:t>One advanced detail is that bool is a subclass of </a:t>
            </a:r>
            <a:r>
              <a:rPr lang="en-US" dirty="0" err="1"/>
              <a:t>int</a:t>
            </a:r>
            <a:r>
              <a:rPr lang="en-US" dirty="0"/>
              <a:t> in Python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IN" dirty="0" smtClean="0"/>
              <a:t>	print(True </a:t>
            </a:r>
            <a:r>
              <a:rPr lang="en-IN" dirty="0"/>
              <a:t>+ True)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	print(False </a:t>
            </a:r>
            <a:r>
              <a:rPr lang="en-IN" dirty="0"/>
              <a:t>+ 10)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417238" y="2310486"/>
            <a:ext cx="3476049" cy="14773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 smtClean="0"/>
              <a:t>Output</a:t>
            </a:r>
          </a:p>
          <a:p>
            <a:r>
              <a:rPr lang="en-US" dirty="0"/>
              <a:t>Required CGPA: True</a:t>
            </a:r>
          </a:p>
          <a:p>
            <a:r>
              <a:rPr lang="en-US" dirty="0"/>
              <a:t>No active backlog: True</a:t>
            </a:r>
          </a:p>
          <a:p>
            <a:r>
              <a:rPr lang="en-US" dirty="0"/>
              <a:t>Required attendance: True</a:t>
            </a:r>
          </a:p>
          <a:p>
            <a:r>
              <a:rPr lang="en-US" dirty="0"/>
              <a:t>Placement eligible: True</a:t>
            </a:r>
            <a:endParaRPr lang="en-IN" dirty="0" smtClean="0"/>
          </a:p>
        </p:txBody>
      </p:sp>
      <p:sp>
        <p:nvSpPr>
          <p:cNvPr id="8" name="Rectangle 7"/>
          <p:cNvSpPr/>
          <p:nvPr/>
        </p:nvSpPr>
        <p:spPr>
          <a:xfrm>
            <a:off x="8468139" y="5762677"/>
            <a:ext cx="1928191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 smtClean="0"/>
              <a:t>Output</a:t>
            </a:r>
          </a:p>
          <a:p>
            <a:r>
              <a:rPr lang="en-US" dirty="0" smtClean="0"/>
              <a:t>2</a:t>
            </a:r>
          </a:p>
          <a:p>
            <a:r>
              <a:rPr lang="en-US" dirty="0" smtClean="0"/>
              <a:t>10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002920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Dictionary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A </a:t>
            </a:r>
            <a:r>
              <a:rPr lang="en-US" dirty="0"/>
              <a:t>dictionary is a mutable mapping that stores data as </a:t>
            </a:r>
            <a:r>
              <a:rPr lang="en-US" b="1" dirty="0"/>
              <a:t>key–value pairs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dictionary_name</a:t>
            </a:r>
            <a:r>
              <a:rPr lang="en-US" dirty="0" smtClean="0"/>
              <a:t> </a:t>
            </a:r>
            <a:r>
              <a:rPr lang="en-US" dirty="0"/>
              <a:t>= {</a:t>
            </a:r>
          </a:p>
          <a:p>
            <a:pPr marL="0" indent="0" algn="just">
              <a:buNone/>
            </a:pPr>
            <a:r>
              <a:rPr lang="en-US" dirty="0"/>
              <a:t>    key1: value1,</a:t>
            </a:r>
          </a:p>
          <a:p>
            <a:pPr marL="0" indent="0" algn="just">
              <a:buNone/>
            </a:pPr>
            <a:r>
              <a:rPr lang="en-US" dirty="0"/>
              <a:t>    key2: </a:t>
            </a:r>
            <a:r>
              <a:rPr lang="en-US" dirty="0" smtClean="0"/>
              <a:t>value2}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 smtClean="0"/>
              <a:t>Example</a:t>
            </a:r>
          </a:p>
          <a:p>
            <a:pPr marL="0" indent="0" algn="just">
              <a:buNone/>
            </a:pPr>
            <a:r>
              <a:rPr lang="en-US" dirty="0"/>
              <a:t>student = {</a:t>
            </a:r>
          </a:p>
          <a:p>
            <a:pPr marL="0" indent="0" algn="just">
              <a:buNone/>
            </a:pPr>
            <a:r>
              <a:rPr lang="en-US" dirty="0"/>
              <a:t>    "</a:t>
            </a:r>
            <a:r>
              <a:rPr lang="en-US" dirty="0" err="1"/>
              <a:t>roll_number</a:t>
            </a:r>
            <a:r>
              <a:rPr lang="en-US" dirty="0"/>
              <a:t>": 101,</a:t>
            </a:r>
          </a:p>
          <a:p>
            <a:pPr marL="0" indent="0" algn="just">
              <a:buNone/>
            </a:pPr>
            <a:r>
              <a:rPr lang="en-US" dirty="0"/>
              <a:t>    "name": "</a:t>
            </a:r>
            <a:r>
              <a:rPr lang="en-US" dirty="0" err="1"/>
              <a:t>Aman</a:t>
            </a:r>
            <a:r>
              <a:rPr lang="en-US" dirty="0"/>
              <a:t>",</a:t>
            </a:r>
          </a:p>
          <a:p>
            <a:pPr marL="0" indent="0" algn="just">
              <a:buNone/>
            </a:pPr>
            <a:r>
              <a:rPr lang="en-US" dirty="0"/>
              <a:t>    "branch": "CSE",</a:t>
            </a:r>
          </a:p>
          <a:p>
            <a:pPr marL="0" indent="0" algn="just">
              <a:buNone/>
            </a:pPr>
            <a:r>
              <a:rPr lang="en-US" dirty="0"/>
              <a:t>    "</a:t>
            </a:r>
            <a:r>
              <a:rPr lang="en-US" dirty="0" err="1"/>
              <a:t>cgpa</a:t>
            </a:r>
            <a:r>
              <a:rPr lang="en-US" dirty="0"/>
              <a:t>": </a:t>
            </a:r>
            <a:r>
              <a:rPr lang="en-US" dirty="0" smtClean="0"/>
              <a:t>8.4}</a:t>
            </a:r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361509" y="3058803"/>
            <a:ext cx="3968843" cy="3477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IN" sz="2600" b="1" dirty="0"/>
              <a:t>Accessing </a:t>
            </a:r>
            <a:r>
              <a:rPr lang="en-IN" sz="2600" b="1" dirty="0" smtClean="0"/>
              <a:t>values</a:t>
            </a:r>
          </a:p>
          <a:p>
            <a:endParaRPr lang="en-US" sz="2600" b="1" dirty="0"/>
          </a:p>
          <a:p>
            <a:r>
              <a:rPr lang="en-IN" sz="2800" dirty="0"/>
              <a:t>print(student["name"])</a:t>
            </a:r>
          </a:p>
          <a:p>
            <a:r>
              <a:rPr lang="en-IN" sz="2800" dirty="0"/>
              <a:t>print(</a:t>
            </a:r>
            <a:r>
              <a:rPr lang="en-IN" sz="2800" dirty="0" err="1"/>
              <a:t>student.get</a:t>
            </a:r>
            <a:r>
              <a:rPr lang="en-IN" sz="2800" dirty="0"/>
              <a:t>("</a:t>
            </a:r>
            <a:r>
              <a:rPr lang="en-IN" sz="2800" dirty="0" err="1"/>
              <a:t>cgpa</a:t>
            </a:r>
            <a:r>
              <a:rPr lang="en-IN" sz="2800" dirty="0" smtClean="0"/>
              <a:t>"))</a:t>
            </a:r>
          </a:p>
          <a:p>
            <a:endParaRPr lang="en-US" sz="2800" dirty="0"/>
          </a:p>
          <a:p>
            <a:r>
              <a:rPr lang="en-US" sz="2800" b="1" dirty="0" smtClean="0"/>
              <a:t>Output</a:t>
            </a:r>
          </a:p>
          <a:p>
            <a:r>
              <a:rPr lang="en-IN" sz="2800" dirty="0" err="1"/>
              <a:t>Aman</a:t>
            </a:r>
            <a:r>
              <a:rPr lang="en-IN" sz="2800" dirty="0"/>
              <a:t> </a:t>
            </a:r>
            <a:endParaRPr lang="en-IN" sz="2800" dirty="0" smtClean="0"/>
          </a:p>
          <a:p>
            <a:r>
              <a:rPr lang="en-IN" sz="2800" dirty="0" smtClean="0"/>
              <a:t>8.4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478346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Dictionary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b="1" dirty="0"/>
              <a:t>Properties of dictionaries</a:t>
            </a:r>
          </a:p>
          <a:p>
            <a:pPr lvl="1"/>
            <a:r>
              <a:rPr lang="en-IN" dirty="0"/>
              <a:t>Data is stored in key–value pairs. </a:t>
            </a:r>
          </a:p>
          <a:p>
            <a:pPr lvl="1"/>
            <a:r>
              <a:rPr lang="en-IN" dirty="0"/>
              <a:t>Keys must be unique. </a:t>
            </a:r>
          </a:p>
          <a:p>
            <a:pPr lvl="1"/>
            <a:r>
              <a:rPr lang="en-IN" dirty="0"/>
              <a:t>Values may be duplicated. </a:t>
            </a:r>
          </a:p>
          <a:p>
            <a:pPr lvl="1"/>
            <a:r>
              <a:rPr lang="en-IN" dirty="0"/>
              <a:t>Dictionaries are mutable. </a:t>
            </a:r>
          </a:p>
          <a:p>
            <a:pPr lvl="1"/>
            <a:r>
              <a:rPr lang="en-IN" dirty="0"/>
              <a:t>Values can have different data types. </a:t>
            </a:r>
          </a:p>
          <a:p>
            <a:pPr lvl="1" algn="just"/>
            <a:r>
              <a:rPr lang="en-IN" dirty="0"/>
              <a:t>A key must be </a:t>
            </a:r>
            <a:r>
              <a:rPr lang="en-IN" dirty="0" err="1"/>
              <a:t>hashable</a:t>
            </a:r>
            <a:r>
              <a:rPr lang="en-IN" dirty="0"/>
              <a:t>; strings, numbers and suitable tuples are commonly used. </a:t>
            </a:r>
          </a:p>
          <a:p>
            <a:pPr lvl="1"/>
            <a:r>
              <a:rPr lang="en-IN" dirty="0"/>
              <a:t>Modern Python dictionaries preserve insertion order.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751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Dictionary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b="1" dirty="0"/>
              <a:t>[] versus get</a:t>
            </a:r>
            <a:r>
              <a:rPr lang="en-IN" b="1" dirty="0" smtClean="0"/>
              <a:t>()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IN" dirty="0"/>
              <a:t>print(student["email</a:t>
            </a:r>
            <a:r>
              <a:rPr lang="en-IN" dirty="0" smtClean="0"/>
              <a:t>"])</a:t>
            </a:r>
          </a:p>
          <a:p>
            <a:endParaRPr lang="en-IN" dirty="0" smtClean="0"/>
          </a:p>
          <a:p>
            <a:r>
              <a:rPr lang="en-IN" dirty="0" smtClean="0"/>
              <a:t>This </a:t>
            </a:r>
            <a:r>
              <a:rPr lang="en-IN" dirty="0"/>
              <a:t>raises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IN" dirty="0" err="1"/>
              <a:t>KeyError</a:t>
            </a:r>
            <a:r>
              <a:rPr lang="en-IN" dirty="0"/>
              <a:t>: </a:t>
            </a:r>
            <a:r>
              <a:rPr lang="en-IN" dirty="0" smtClean="0"/>
              <a:t>'email‘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A safer alternative is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student.get</a:t>
            </a:r>
            <a:r>
              <a:rPr lang="en-IN" dirty="0"/>
              <a:t>("email"))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816930" y="5921274"/>
            <a:ext cx="1300566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 smtClean="0"/>
              <a:t>Output</a:t>
            </a:r>
          </a:p>
          <a:p>
            <a:r>
              <a:rPr lang="en-IN" dirty="0" smtClean="0"/>
              <a:t>None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095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Dictionary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Adding and updating </a:t>
            </a:r>
            <a:r>
              <a:rPr lang="en-IN" dirty="0" smtClean="0"/>
              <a:t>data</a:t>
            </a:r>
          </a:p>
          <a:p>
            <a:pPr marL="0" indent="0">
              <a:buNone/>
            </a:pPr>
            <a:r>
              <a:rPr lang="en-US" dirty="0" smtClean="0"/>
              <a:t>	student</a:t>
            </a:r>
            <a:r>
              <a:rPr lang="en-US" dirty="0"/>
              <a:t>["email"] = </a:t>
            </a:r>
            <a:r>
              <a:rPr lang="en-US" dirty="0" smtClean="0">
                <a:hlinkClick r:id="rId2"/>
              </a:rPr>
              <a:t>aman@abes.ac.in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student</a:t>
            </a:r>
            <a:r>
              <a:rPr lang="en-US" dirty="0"/>
              <a:t>["</a:t>
            </a:r>
            <a:r>
              <a:rPr lang="en-US" dirty="0" err="1"/>
              <a:t>cgpa</a:t>
            </a:r>
            <a:r>
              <a:rPr lang="en-US" dirty="0"/>
              <a:t>"] = </a:t>
            </a:r>
            <a:r>
              <a:rPr lang="en-US" dirty="0" smtClean="0"/>
              <a:t>8.6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Removing </a:t>
            </a:r>
            <a:r>
              <a:rPr lang="en-IN" dirty="0" smtClean="0"/>
              <a:t>data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student.pop</a:t>
            </a:r>
            <a:r>
              <a:rPr lang="en-IN" dirty="0"/>
              <a:t>("branch</a:t>
            </a:r>
            <a:r>
              <a:rPr lang="en-IN" dirty="0" smtClean="0"/>
              <a:t>")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Other removal options include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IN" dirty="0" smtClean="0"/>
              <a:t>	del </a:t>
            </a:r>
            <a:r>
              <a:rPr lang="en-IN" dirty="0"/>
              <a:t>student["</a:t>
            </a:r>
            <a:r>
              <a:rPr lang="en-IN" dirty="0" err="1"/>
              <a:t>cgpa</a:t>
            </a:r>
            <a:r>
              <a:rPr lang="en-IN" dirty="0"/>
              <a:t>"]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student.clear</a:t>
            </a:r>
            <a:r>
              <a:rPr lang="en-IN" dirty="0"/>
              <a:t>()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62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Useful dictionary methods</a:t>
            </a:r>
            <a:endParaRPr lang="en-US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940879"/>
              </p:ext>
            </p:extLst>
          </p:nvPr>
        </p:nvGraphicFramePr>
        <p:xfrm>
          <a:off x="2378695" y="2152581"/>
          <a:ext cx="6805062" cy="3901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79236">
                  <a:extLst>
                    <a:ext uri="{9D8B030D-6E8A-4147-A177-3AD203B41FA5}">
                      <a16:colId xmlns:a16="http://schemas.microsoft.com/office/drawing/2014/main" val="442678244"/>
                    </a:ext>
                  </a:extLst>
                </a:gridCol>
                <a:gridCol w="5125826">
                  <a:extLst>
                    <a:ext uri="{9D8B030D-6E8A-4147-A177-3AD203B41FA5}">
                      <a16:colId xmlns:a16="http://schemas.microsoft.com/office/drawing/2014/main" val="828580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600" b="1"/>
                        <a:t>Method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 dirty="0"/>
                        <a:t>Purpose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552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get(key)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Safely returns a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350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keys()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Returns all keys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668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values()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Returns all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703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items()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Returns key–value pairs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3275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update()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Adds or updates multiple entries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503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pop(key)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Removes a specified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3398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clear()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Removes all entries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389557"/>
                  </a:ext>
                </a:extLst>
              </a:tr>
            </a:tbl>
          </a:graphicData>
        </a:graphic>
      </p:graphicFrame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17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3: Student Record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student = {</a:t>
            </a:r>
          </a:p>
          <a:p>
            <a:pPr marL="0" indent="0">
              <a:buNone/>
            </a:pPr>
            <a:r>
              <a:rPr lang="en-IN" dirty="0"/>
              <a:t>    "</a:t>
            </a:r>
            <a:r>
              <a:rPr lang="en-IN" dirty="0" err="1"/>
              <a:t>roll_number</a:t>
            </a:r>
            <a:r>
              <a:rPr lang="en-IN" dirty="0"/>
              <a:t>": 101,</a:t>
            </a:r>
          </a:p>
          <a:p>
            <a:pPr marL="0" indent="0">
              <a:buNone/>
            </a:pPr>
            <a:r>
              <a:rPr lang="en-IN" dirty="0"/>
              <a:t>    "name": "</a:t>
            </a:r>
            <a:r>
              <a:rPr lang="en-IN" dirty="0" err="1"/>
              <a:t>Aman</a:t>
            </a:r>
            <a:r>
              <a:rPr lang="en-IN" dirty="0"/>
              <a:t> Sharma",</a:t>
            </a:r>
          </a:p>
          <a:p>
            <a:pPr marL="0" indent="0">
              <a:buNone/>
            </a:pPr>
            <a:r>
              <a:rPr lang="en-IN" dirty="0"/>
              <a:t>    "branch": "CSE",</a:t>
            </a:r>
          </a:p>
          <a:p>
            <a:pPr marL="0" indent="0">
              <a:buNone/>
            </a:pPr>
            <a:r>
              <a:rPr lang="en-IN" dirty="0"/>
              <a:t>    "marks": {</a:t>
            </a:r>
          </a:p>
          <a:p>
            <a:pPr marL="0" indent="0">
              <a:buNone/>
            </a:pPr>
            <a:r>
              <a:rPr lang="en-IN" dirty="0"/>
              <a:t>        "Python": 84,</a:t>
            </a:r>
          </a:p>
          <a:p>
            <a:pPr marL="0" indent="0">
              <a:buNone/>
            </a:pPr>
            <a:r>
              <a:rPr lang="en-IN" dirty="0"/>
              <a:t>        "DBMS": 78,</a:t>
            </a:r>
          </a:p>
          <a:p>
            <a:pPr marL="0" indent="0">
              <a:buNone/>
            </a:pPr>
            <a:r>
              <a:rPr lang="en-IN" dirty="0"/>
              <a:t>        "DSA": 88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student["section"] = "CSE-2"</a:t>
            </a:r>
          </a:p>
          <a:p>
            <a:pPr marL="0" indent="0">
              <a:buNone/>
            </a:pPr>
            <a:r>
              <a:rPr lang="en-IN" dirty="0"/>
              <a:t>student["marks"]["Python"] = 90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total = sum(student["marks"].values())</a:t>
            </a:r>
          </a:p>
          <a:p>
            <a:pPr marL="0" indent="0">
              <a:buNone/>
            </a:pPr>
            <a:r>
              <a:rPr lang="en-IN" dirty="0"/>
              <a:t>average = total / </a:t>
            </a:r>
            <a:r>
              <a:rPr lang="en-IN" dirty="0" err="1"/>
              <a:t>len</a:t>
            </a:r>
            <a:r>
              <a:rPr lang="en-IN" dirty="0"/>
              <a:t>(student["marks"])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print("Student:", student["name"])</a:t>
            </a:r>
          </a:p>
          <a:p>
            <a:pPr marL="0" indent="0">
              <a:buNone/>
            </a:pPr>
            <a:r>
              <a:rPr lang="en-IN" dirty="0"/>
              <a:t>print("Python marks:", student["marks"]["Python"])</a:t>
            </a:r>
          </a:p>
          <a:p>
            <a:pPr marL="0" indent="0">
              <a:buNone/>
            </a:pPr>
            <a:r>
              <a:rPr lang="en-IN" dirty="0"/>
              <a:t>print("Subjects:", list(student["marks"].keys()))</a:t>
            </a:r>
          </a:p>
          <a:p>
            <a:pPr marL="0" indent="0">
              <a:buNone/>
            </a:pPr>
            <a:r>
              <a:rPr lang="en-IN" dirty="0"/>
              <a:t>print("Average:", round(average, 2))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for subject, marks in student["marks"].items():</a:t>
            </a:r>
          </a:p>
          <a:p>
            <a:pPr marL="0" indent="0">
              <a:buNone/>
            </a:pPr>
            <a:r>
              <a:rPr lang="en-IN" dirty="0"/>
              <a:t>    print(subject, ":", marks)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632034" y="1690688"/>
            <a:ext cx="5936974" cy="28007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1" dirty="0" smtClean="0"/>
              <a:t>Output</a:t>
            </a:r>
          </a:p>
          <a:p>
            <a:r>
              <a:rPr lang="en-IN" sz="2200" dirty="0"/>
              <a:t>Student: </a:t>
            </a:r>
            <a:r>
              <a:rPr lang="en-IN" sz="2200" dirty="0" err="1"/>
              <a:t>Aman</a:t>
            </a:r>
            <a:r>
              <a:rPr lang="en-IN" sz="2200" dirty="0"/>
              <a:t> Sharma</a:t>
            </a:r>
          </a:p>
          <a:p>
            <a:r>
              <a:rPr lang="en-IN" sz="2200" dirty="0"/>
              <a:t>Python marks: 90</a:t>
            </a:r>
          </a:p>
          <a:p>
            <a:r>
              <a:rPr lang="en-IN" sz="2200" dirty="0"/>
              <a:t>Subjects: ['Python', 'DBMS', 'DSA']</a:t>
            </a:r>
          </a:p>
          <a:p>
            <a:r>
              <a:rPr lang="en-IN" sz="2200" dirty="0"/>
              <a:t>Average: 85.33</a:t>
            </a:r>
          </a:p>
          <a:p>
            <a:r>
              <a:rPr lang="en-IN" sz="2200" dirty="0"/>
              <a:t>Python : 90</a:t>
            </a:r>
          </a:p>
          <a:p>
            <a:r>
              <a:rPr lang="en-IN" sz="2200" dirty="0"/>
              <a:t>DBMS : 78</a:t>
            </a:r>
          </a:p>
          <a:p>
            <a:r>
              <a:rPr lang="en-IN" sz="2200" dirty="0"/>
              <a:t>DSA : 88</a:t>
            </a:r>
          </a:p>
        </p:txBody>
      </p:sp>
      <p:sp>
        <p:nvSpPr>
          <p:cNvPr id="9" name="Rectangle 8"/>
          <p:cNvSpPr/>
          <p:nvPr/>
        </p:nvSpPr>
        <p:spPr>
          <a:xfrm>
            <a:off x="5552521" y="4751397"/>
            <a:ext cx="6096000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r>
              <a:rPr lang="en-US" b="1" dirty="0" smtClean="0"/>
              <a:t>Note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marks value is itself a dictionary. This structure is called a nested dictionary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Python’s </a:t>
            </a:r>
            <a:r>
              <a:rPr lang="en-US" dirty="0"/>
              <a:t>standard dictionary is a mutable mapping from </a:t>
            </a:r>
            <a:r>
              <a:rPr lang="en-US" dirty="0" err="1"/>
              <a:t>hashable</a:t>
            </a:r>
            <a:r>
              <a:rPr lang="en-US" dirty="0"/>
              <a:t> keys to arbitrary objects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2065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set is an unordered collection </a:t>
            </a:r>
            <a:r>
              <a:rPr lang="en-US" dirty="0"/>
              <a:t>of unique, </a:t>
            </a:r>
            <a:r>
              <a:rPr lang="en-US" dirty="0" err="1"/>
              <a:t>hashable</a:t>
            </a:r>
            <a:r>
              <a:rPr lang="en-US" dirty="0"/>
              <a:t> elements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skills = {"Python", "Java", "SQL</a:t>
            </a:r>
            <a:r>
              <a:rPr lang="en-IN" dirty="0" smtClean="0"/>
              <a:t>"}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Example</a:t>
            </a:r>
          </a:p>
          <a:p>
            <a:pPr marL="0" indent="0">
              <a:buNone/>
            </a:pPr>
            <a:r>
              <a:rPr lang="en-US" dirty="0" smtClean="0"/>
              <a:t>numbers </a:t>
            </a:r>
            <a:r>
              <a:rPr lang="en-US" dirty="0"/>
              <a:t>= {10, 20, 10, 30, 20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print(numbers)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Output</a:t>
            </a:r>
          </a:p>
          <a:p>
            <a:pPr marL="0" indent="0">
              <a:buNone/>
            </a:pPr>
            <a:r>
              <a:rPr lang="en-IN" dirty="0"/>
              <a:t>{10, 20, 30}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881027" y="4341810"/>
            <a:ext cx="3635111" cy="163121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Creating an empty </a:t>
            </a:r>
            <a:r>
              <a:rPr lang="en-IN" sz="2000" dirty="0" smtClean="0"/>
              <a:t>set</a:t>
            </a:r>
          </a:p>
          <a:p>
            <a:r>
              <a:rPr lang="en-IN" sz="2000" dirty="0" smtClean="0"/>
              <a:t>	empty </a:t>
            </a:r>
            <a:r>
              <a:rPr lang="en-IN" sz="2000" dirty="0"/>
              <a:t>= set</a:t>
            </a:r>
            <a:r>
              <a:rPr lang="en-IN" sz="2000" dirty="0" smtClean="0"/>
              <a:t>()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creates an empty </a:t>
            </a:r>
            <a:r>
              <a:rPr lang="en-IN" sz="2000" dirty="0" smtClean="0"/>
              <a:t>dictionary</a:t>
            </a:r>
          </a:p>
          <a:p>
            <a:r>
              <a:rPr lang="en-IN" sz="2000" dirty="0" smtClean="0"/>
              <a:t>	empty </a:t>
            </a:r>
            <a:r>
              <a:rPr lang="en-IN" sz="2000" dirty="0"/>
              <a:t>= {}</a:t>
            </a:r>
          </a:p>
        </p:txBody>
      </p:sp>
    </p:spTree>
    <p:extLst>
      <p:ext uri="{BB962C8B-B14F-4D97-AF65-F5344CB8AC3E}">
        <p14:creationId xmlns:p14="http://schemas.microsoft.com/office/powerpoint/2010/main" val="349537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b="1" dirty="0"/>
              <a:t>Properties of sets</a:t>
            </a:r>
          </a:p>
          <a:p>
            <a:pPr lvl="1"/>
            <a:r>
              <a:rPr lang="en-US" dirty="0"/>
              <a:t>Duplicate elements are automatically removed. </a:t>
            </a:r>
          </a:p>
          <a:p>
            <a:pPr lvl="1"/>
            <a:r>
              <a:rPr lang="en-US" dirty="0"/>
              <a:t>Elements are not accessed through positional indexes. </a:t>
            </a:r>
          </a:p>
          <a:p>
            <a:pPr lvl="1"/>
            <a:r>
              <a:rPr lang="en-US" dirty="0"/>
              <a:t>A set is mutable. </a:t>
            </a:r>
          </a:p>
          <a:p>
            <a:pPr lvl="1"/>
            <a:r>
              <a:rPr lang="en-US" dirty="0"/>
              <a:t>Set elements must be </a:t>
            </a:r>
            <a:r>
              <a:rPr lang="en-US" dirty="0" err="1"/>
              <a:t>hashable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Mathematical set operations are supported. </a:t>
            </a:r>
          </a:p>
          <a:p>
            <a:pPr lvl="1"/>
            <a:r>
              <a:rPr lang="en-US" dirty="0"/>
              <a:t>The displayed or iteration order should not be relied upon.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522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methods</a:t>
            </a:r>
            <a:endParaRPr lang="en-US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407500"/>
              </p:ext>
            </p:extLst>
          </p:nvPr>
        </p:nvGraphicFramePr>
        <p:xfrm>
          <a:off x="1977884" y="1690688"/>
          <a:ext cx="8372063" cy="3413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41107">
                  <a:extLst>
                    <a:ext uri="{9D8B030D-6E8A-4147-A177-3AD203B41FA5}">
                      <a16:colId xmlns:a16="http://schemas.microsoft.com/office/drawing/2014/main" val="2284815241"/>
                    </a:ext>
                  </a:extLst>
                </a:gridCol>
                <a:gridCol w="5830956">
                  <a:extLst>
                    <a:ext uri="{9D8B030D-6E8A-4147-A177-3AD203B41FA5}">
                      <a16:colId xmlns:a16="http://schemas.microsoft.com/office/drawing/2014/main" val="32602932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600" b="1"/>
                        <a:t>Method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 dirty="0"/>
                        <a:t>Purpose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796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add(x)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Adds one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277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 dirty="0"/>
                        <a:t>update(values)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Adds multiple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62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remove(x)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Removes x; raises an error if absent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720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discard(x)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Removes x without an error if absent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552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pop()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Removes an arbitrary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419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clear()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Removes all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030729"/>
                  </a:ext>
                </a:extLst>
              </a:tr>
            </a:tbl>
          </a:graphicData>
        </a:graphic>
      </p:graphicFrame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442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set operations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7831788"/>
              </p:ext>
            </p:extLst>
          </p:nvPr>
        </p:nvGraphicFramePr>
        <p:xfrm>
          <a:off x="1341781" y="2234027"/>
          <a:ext cx="9114183" cy="381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51551">
                  <a:extLst>
                    <a:ext uri="{9D8B030D-6E8A-4147-A177-3AD203B41FA5}">
                      <a16:colId xmlns:a16="http://schemas.microsoft.com/office/drawing/2014/main" val="1287724175"/>
                    </a:ext>
                  </a:extLst>
                </a:gridCol>
                <a:gridCol w="1726807">
                  <a:extLst>
                    <a:ext uri="{9D8B030D-6E8A-4147-A177-3AD203B41FA5}">
                      <a16:colId xmlns:a16="http://schemas.microsoft.com/office/drawing/2014/main" val="2108136999"/>
                    </a:ext>
                  </a:extLst>
                </a:gridCol>
                <a:gridCol w="5035825">
                  <a:extLst>
                    <a:ext uri="{9D8B030D-6E8A-4147-A177-3AD203B41FA5}">
                      <a16:colId xmlns:a16="http://schemas.microsoft.com/office/drawing/2014/main" val="3745052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600" b="1"/>
                        <a:t>Operation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/>
                        <a:t>Syntax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 dirty="0"/>
                        <a:t>Meaning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0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Union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 |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Elements present in either 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756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Intersection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 &amp;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Elements common to both 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846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 -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Elements in A but not in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472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Symmetric 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 ^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Elements in exactly one 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308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Subset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 &lt;=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Every element of A is in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33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Superset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 &gt;=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A contains every element of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936949"/>
                  </a:ext>
                </a:extLst>
              </a:tr>
            </a:tbl>
          </a:graphicData>
        </a:graphic>
      </p:graphicFrame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328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4: </a:t>
            </a:r>
            <a:r>
              <a:rPr lang="en-US" dirty="0" err="1"/>
              <a:t>Analysing</a:t>
            </a:r>
            <a:r>
              <a:rPr lang="en-US" dirty="0"/>
              <a:t> Course Enrolment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/>
              <a:t>python_students</a:t>
            </a:r>
            <a:r>
              <a:rPr lang="en-IN" dirty="0"/>
              <a:t> = {"</a:t>
            </a:r>
            <a:r>
              <a:rPr lang="en-IN" dirty="0" err="1"/>
              <a:t>Aman</a:t>
            </a:r>
            <a:r>
              <a:rPr lang="en-IN" dirty="0"/>
              <a:t>", "Riya", "</a:t>
            </a:r>
            <a:r>
              <a:rPr lang="en-IN" dirty="0" err="1"/>
              <a:t>Kabir</a:t>
            </a:r>
            <a:r>
              <a:rPr lang="en-IN" dirty="0"/>
              <a:t>", "Neha"}</a:t>
            </a:r>
          </a:p>
          <a:p>
            <a:pPr marL="0" indent="0">
              <a:buNone/>
            </a:pPr>
            <a:r>
              <a:rPr lang="en-IN" dirty="0" err="1"/>
              <a:t>java_students</a:t>
            </a:r>
            <a:r>
              <a:rPr lang="en-IN" dirty="0"/>
              <a:t> = {"Riya", "</a:t>
            </a:r>
            <a:r>
              <a:rPr lang="en-IN" dirty="0" err="1"/>
              <a:t>Kabir</a:t>
            </a:r>
            <a:r>
              <a:rPr lang="en-IN" dirty="0"/>
              <a:t>", "</a:t>
            </a:r>
            <a:r>
              <a:rPr lang="en-IN" dirty="0" err="1"/>
              <a:t>Meera</a:t>
            </a:r>
            <a:r>
              <a:rPr lang="en-IN" dirty="0"/>
              <a:t>"}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all_students</a:t>
            </a:r>
            <a:r>
              <a:rPr lang="en-IN" dirty="0"/>
              <a:t> = </a:t>
            </a:r>
            <a:r>
              <a:rPr lang="en-IN" dirty="0" err="1"/>
              <a:t>python_students</a:t>
            </a:r>
            <a:r>
              <a:rPr lang="en-IN" dirty="0"/>
              <a:t> | </a:t>
            </a:r>
            <a:r>
              <a:rPr lang="en-IN" dirty="0" err="1"/>
              <a:t>java_students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both_courses</a:t>
            </a:r>
            <a:r>
              <a:rPr lang="en-IN" dirty="0"/>
              <a:t> = </a:t>
            </a:r>
            <a:r>
              <a:rPr lang="en-IN" dirty="0" err="1"/>
              <a:t>python_students</a:t>
            </a:r>
            <a:r>
              <a:rPr lang="en-IN" dirty="0"/>
              <a:t> &amp; </a:t>
            </a:r>
            <a:r>
              <a:rPr lang="en-IN" dirty="0" err="1"/>
              <a:t>java_students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only_python</a:t>
            </a:r>
            <a:r>
              <a:rPr lang="en-IN" dirty="0"/>
              <a:t> = </a:t>
            </a:r>
            <a:r>
              <a:rPr lang="en-IN" dirty="0" err="1"/>
              <a:t>python_students</a:t>
            </a:r>
            <a:r>
              <a:rPr lang="en-IN" dirty="0"/>
              <a:t> - </a:t>
            </a:r>
            <a:r>
              <a:rPr lang="en-IN" dirty="0" err="1"/>
              <a:t>java_students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only_one_course</a:t>
            </a:r>
            <a:r>
              <a:rPr lang="en-IN" dirty="0"/>
              <a:t> = </a:t>
            </a:r>
            <a:r>
              <a:rPr lang="en-IN" dirty="0" err="1"/>
              <a:t>python_students</a:t>
            </a:r>
            <a:r>
              <a:rPr lang="en-IN" dirty="0"/>
              <a:t> ^ </a:t>
            </a:r>
            <a:r>
              <a:rPr lang="en-IN" dirty="0" err="1"/>
              <a:t>java_students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print("All students:", </a:t>
            </a:r>
            <a:r>
              <a:rPr lang="en-IN" dirty="0" err="1"/>
              <a:t>all_students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print("Both courses:", </a:t>
            </a:r>
            <a:r>
              <a:rPr lang="en-IN" dirty="0" err="1"/>
              <a:t>both_courses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print("Only Python:", </a:t>
            </a:r>
            <a:r>
              <a:rPr lang="en-IN" dirty="0" err="1"/>
              <a:t>only_python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print("Exactly one course:", </a:t>
            </a:r>
            <a:r>
              <a:rPr lang="en-IN" dirty="0" err="1"/>
              <a:t>only_one_course</a:t>
            </a:r>
            <a:r>
              <a:rPr lang="en-IN" dirty="0"/>
              <a:t>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6942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4: </a:t>
            </a:r>
            <a:r>
              <a:rPr lang="en-US" dirty="0" err="1"/>
              <a:t>Analysing</a:t>
            </a:r>
            <a:r>
              <a:rPr lang="en-US" dirty="0"/>
              <a:t> Course Enrolment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Sets are useful for:</a:t>
            </a:r>
          </a:p>
          <a:p>
            <a:pPr lvl="1"/>
            <a:r>
              <a:rPr lang="en-US" dirty="0"/>
              <a:t>removing duplicate records, </a:t>
            </a:r>
          </a:p>
          <a:p>
            <a:pPr lvl="1"/>
            <a:r>
              <a:rPr lang="en-US" dirty="0"/>
              <a:t>finding common students or products, </a:t>
            </a:r>
          </a:p>
          <a:p>
            <a:pPr lvl="1"/>
            <a:r>
              <a:rPr lang="en-US" dirty="0"/>
              <a:t>membership testing, </a:t>
            </a:r>
          </a:p>
          <a:p>
            <a:pPr lvl="1"/>
            <a:r>
              <a:rPr lang="en-US" dirty="0"/>
              <a:t>permission management, </a:t>
            </a:r>
          </a:p>
          <a:p>
            <a:pPr lvl="1"/>
            <a:r>
              <a:rPr lang="en-US" dirty="0"/>
              <a:t>comparing groups, </a:t>
            </a:r>
          </a:p>
          <a:p>
            <a:pPr lvl="1"/>
            <a:r>
              <a:rPr lang="en-US" dirty="0" err="1"/>
              <a:t>analysing</a:t>
            </a:r>
            <a:r>
              <a:rPr lang="en-US" dirty="0"/>
              <a:t> survey responses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Python also provides </a:t>
            </a:r>
            <a:r>
              <a:rPr lang="en-US" sz="2800" dirty="0" err="1"/>
              <a:t>frozenset</a:t>
            </a:r>
            <a:r>
              <a:rPr lang="en-US" sz="2800" dirty="0"/>
              <a:t>, an immutable set</a:t>
            </a:r>
            <a:r>
              <a:rPr lang="en-US" sz="2800" dirty="0" smtClean="0"/>
              <a:t>: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IN" sz="2800" dirty="0" smtClean="0"/>
              <a:t>	</a:t>
            </a:r>
            <a:r>
              <a:rPr lang="en-IN" sz="2800" dirty="0" err="1" smtClean="0"/>
              <a:t>fixed_permissions</a:t>
            </a:r>
            <a:r>
              <a:rPr lang="en-IN" sz="2800" dirty="0" smtClean="0"/>
              <a:t> </a:t>
            </a:r>
            <a:r>
              <a:rPr lang="en-IN" sz="2800" dirty="0"/>
              <a:t>= </a:t>
            </a:r>
            <a:r>
              <a:rPr lang="en-IN" sz="2800" dirty="0" err="1"/>
              <a:t>frozenset</a:t>
            </a:r>
            <a:r>
              <a:rPr lang="en-IN" sz="2800" dirty="0"/>
              <a:t>({"read", "write</a:t>
            </a:r>
            <a:r>
              <a:rPr lang="en-IN" sz="2800" dirty="0" smtClean="0"/>
              <a:t>"})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/>
              <a:t>A </a:t>
            </a:r>
            <a:r>
              <a:rPr lang="en-US" sz="2800" dirty="0" err="1"/>
              <a:t>frozenset</a:t>
            </a:r>
            <a:r>
              <a:rPr lang="en-US" sz="2800" dirty="0"/>
              <a:t> cannot be modified after creation.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546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</a:t>
            </a:r>
            <a:r>
              <a:rPr lang="en-US" dirty="0"/>
              <a:t>sequence stores multiple elements in a particular order.</a:t>
            </a:r>
          </a:p>
          <a:p>
            <a:r>
              <a:rPr lang="en-US" dirty="0"/>
              <a:t>The main sequence types covered here are:</a:t>
            </a:r>
          </a:p>
          <a:p>
            <a:pPr lvl="1"/>
            <a:r>
              <a:rPr lang="en-US" dirty="0" smtClean="0"/>
              <a:t>String</a:t>
            </a:r>
            <a:r>
              <a:rPr lang="en-US" dirty="0"/>
              <a:t>: </a:t>
            </a:r>
            <a:r>
              <a:rPr lang="en-US" dirty="0" err="1"/>
              <a:t>str</a:t>
            </a:r>
            <a:r>
              <a:rPr lang="en-US" dirty="0"/>
              <a:t> </a:t>
            </a:r>
          </a:p>
          <a:p>
            <a:pPr lvl="1"/>
            <a:r>
              <a:rPr lang="en-US" dirty="0" smtClean="0"/>
              <a:t>List</a:t>
            </a:r>
            <a:r>
              <a:rPr lang="en-US" dirty="0"/>
              <a:t>: list </a:t>
            </a:r>
          </a:p>
          <a:p>
            <a:pPr lvl="1"/>
            <a:r>
              <a:rPr lang="en-US" dirty="0" smtClean="0"/>
              <a:t>Tuple</a:t>
            </a:r>
            <a:r>
              <a:rPr lang="en-US" dirty="0"/>
              <a:t>: tuple </a:t>
            </a:r>
          </a:p>
          <a:p>
            <a:pPr lvl="1"/>
            <a:r>
              <a:rPr lang="en-US" dirty="0" smtClean="0"/>
              <a:t>Range</a:t>
            </a:r>
            <a:r>
              <a:rPr lang="en-US" dirty="0"/>
              <a:t>: range </a:t>
            </a:r>
          </a:p>
          <a:p>
            <a:r>
              <a:rPr lang="en-US" dirty="0"/>
              <a:t>Sequences commonly support:</a:t>
            </a:r>
          </a:p>
          <a:p>
            <a:pPr lvl="1"/>
            <a:r>
              <a:rPr lang="en-US" dirty="0" smtClean="0"/>
              <a:t>indexing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negative </a:t>
            </a:r>
            <a:r>
              <a:rPr lang="en-US" dirty="0"/>
              <a:t>indexing, </a:t>
            </a:r>
          </a:p>
          <a:p>
            <a:pPr lvl="1"/>
            <a:r>
              <a:rPr lang="en-US" dirty="0" smtClean="0"/>
              <a:t>slicing</a:t>
            </a:r>
            <a:r>
              <a:rPr lang="en-US" dirty="0"/>
              <a:t>, </a:t>
            </a:r>
          </a:p>
          <a:p>
            <a:pPr lvl="1"/>
            <a:r>
              <a:rPr lang="en-US" dirty="0" smtClean="0"/>
              <a:t>membership </a:t>
            </a:r>
            <a:r>
              <a:rPr lang="en-US" dirty="0"/>
              <a:t>testing, </a:t>
            </a:r>
          </a:p>
          <a:p>
            <a:pPr lvl="1"/>
            <a:r>
              <a:rPr lang="en-US" dirty="0" smtClean="0"/>
              <a:t>iteration</a:t>
            </a:r>
            <a:r>
              <a:rPr lang="en-US" dirty="0"/>
              <a:t>, </a:t>
            </a:r>
          </a:p>
          <a:p>
            <a:pPr lvl="1"/>
            <a:r>
              <a:rPr lang="en-US" dirty="0" smtClean="0"/>
              <a:t>concatenation </a:t>
            </a:r>
            <a:r>
              <a:rPr lang="en-US" dirty="0"/>
              <a:t>where applicable, </a:t>
            </a:r>
          </a:p>
          <a:p>
            <a:pPr lvl="1"/>
            <a:r>
              <a:rPr lang="en-US" dirty="0" smtClean="0"/>
              <a:t>repetition </a:t>
            </a:r>
            <a:r>
              <a:rPr lang="en-US" dirty="0"/>
              <a:t>where applicable, </a:t>
            </a:r>
          </a:p>
          <a:p>
            <a:pPr lvl="1"/>
            <a:r>
              <a:rPr lang="en-US" dirty="0" err="1" smtClean="0"/>
              <a:t>len</a:t>
            </a:r>
            <a:r>
              <a:rPr lang="en-US" dirty="0"/>
              <a:t>(), min(), max() and related operations where valid.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557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String: </a:t>
            </a:r>
            <a:r>
              <a:rPr lang="en-US" dirty="0" err="1"/>
              <a:t>str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string is an immutable sequence of Unicode characters.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IN" dirty="0"/>
              <a:t>course = "Python </a:t>
            </a:r>
            <a:r>
              <a:rPr lang="en-IN" dirty="0" smtClean="0"/>
              <a:t>Programming“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Strings can use single, double or triple quotation marks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name = '</a:t>
            </a:r>
            <a:r>
              <a:rPr lang="en-US" dirty="0" err="1"/>
              <a:t>Aman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lang="en-US" dirty="0"/>
              <a:t>branch = "CSE"</a:t>
            </a:r>
          </a:p>
          <a:p>
            <a:pPr marL="0" indent="0">
              <a:buNone/>
            </a:pPr>
            <a:r>
              <a:rPr lang="en-US" dirty="0"/>
              <a:t>message = """Welcome to</a:t>
            </a:r>
          </a:p>
          <a:p>
            <a:pPr marL="0" indent="0">
              <a:buNone/>
            </a:pPr>
            <a:r>
              <a:rPr lang="en-US" dirty="0"/>
              <a:t>Python programming."""</a:t>
            </a:r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417683" y="3853614"/>
            <a:ext cx="3936117" cy="28007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200" b="1" dirty="0" smtClean="0"/>
              <a:t>Indexing</a:t>
            </a:r>
          </a:p>
          <a:p>
            <a:r>
              <a:rPr lang="en-IN" sz="2200" dirty="0"/>
              <a:t>language = "Python"</a:t>
            </a:r>
          </a:p>
          <a:p>
            <a:r>
              <a:rPr lang="en-IN" sz="2200" dirty="0" smtClean="0"/>
              <a:t>print(language[0</a:t>
            </a:r>
            <a:r>
              <a:rPr lang="en-IN" sz="2200" dirty="0"/>
              <a:t>])</a:t>
            </a:r>
          </a:p>
          <a:p>
            <a:r>
              <a:rPr lang="en-IN" sz="2200" dirty="0"/>
              <a:t>print(language[-1</a:t>
            </a:r>
            <a:r>
              <a:rPr lang="en-IN" sz="2200" dirty="0" smtClean="0"/>
              <a:t>])</a:t>
            </a:r>
          </a:p>
          <a:p>
            <a:endParaRPr lang="en-US" sz="2200" dirty="0"/>
          </a:p>
          <a:p>
            <a:r>
              <a:rPr lang="en-US" sz="2200" b="1" dirty="0" smtClean="0"/>
              <a:t>Output</a:t>
            </a:r>
          </a:p>
          <a:p>
            <a:r>
              <a:rPr lang="en-IN" sz="2200" dirty="0" smtClean="0"/>
              <a:t>P</a:t>
            </a:r>
          </a:p>
          <a:p>
            <a:r>
              <a:rPr lang="en-IN" sz="2200" dirty="0" smtClean="0"/>
              <a:t>n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528483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String: </a:t>
            </a:r>
            <a:r>
              <a:rPr lang="en-US" dirty="0" err="1"/>
              <a:t>str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pt-BR" dirty="0" smtClean="0"/>
              <a:t>I</a:t>
            </a:r>
            <a:r>
              <a:rPr lang="en-IN" dirty="0" err="1" smtClean="0"/>
              <a:t>ndex</a:t>
            </a:r>
            <a:r>
              <a:rPr lang="en-IN" dirty="0" smtClean="0"/>
              <a:t> </a:t>
            </a:r>
            <a:r>
              <a:rPr lang="en-IN" dirty="0"/>
              <a:t>positions</a:t>
            </a:r>
            <a:r>
              <a:rPr lang="en-IN" dirty="0" smtClean="0"/>
              <a:t>:</a:t>
            </a:r>
          </a:p>
          <a:p>
            <a:pPr lvl="1"/>
            <a:r>
              <a:rPr lang="pt-BR" dirty="0" smtClean="0"/>
              <a:t>Characters</a:t>
            </a:r>
            <a:r>
              <a:rPr lang="pt-BR" dirty="0"/>
              <a:t>:      </a:t>
            </a:r>
            <a:r>
              <a:rPr lang="pt-BR" dirty="0" smtClean="0"/>
              <a:t>     P     y     </a:t>
            </a:r>
            <a:r>
              <a:rPr lang="pt-BR" dirty="0"/>
              <a:t>t  </a:t>
            </a:r>
            <a:r>
              <a:rPr lang="pt-BR" dirty="0" smtClean="0"/>
              <a:t>   h     o     </a:t>
            </a:r>
            <a:r>
              <a:rPr lang="pt-BR" dirty="0"/>
              <a:t>n</a:t>
            </a:r>
          </a:p>
          <a:p>
            <a:pPr lvl="1"/>
            <a:r>
              <a:rPr lang="pt-BR" dirty="0"/>
              <a:t>Positive index:   </a:t>
            </a:r>
            <a:r>
              <a:rPr lang="pt-BR" dirty="0" smtClean="0"/>
              <a:t>  0     1     2     </a:t>
            </a:r>
            <a:r>
              <a:rPr lang="pt-BR" dirty="0"/>
              <a:t>3 </a:t>
            </a:r>
            <a:r>
              <a:rPr lang="pt-BR" dirty="0" smtClean="0"/>
              <a:t>    4     </a:t>
            </a:r>
            <a:r>
              <a:rPr lang="pt-BR" dirty="0"/>
              <a:t>5</a:t>
            </a:r>
          </a:p>
          <a:p>
            <a:pPr lvl="1"/>
            <a:r>
              <a:rPr lang="pt-BR" dirty="0"/>
              <a:t>Negative </a:t>
            </a:r>
            <a:r>
              <a:rPr lang="pt-BR" dirty="0" smtClean="0"/>
              <a:t>index</a:t>
            </a:r>
            <a:r>
              <a:rPr lang="pt-BR" dirty="0"/>
              <a:t>:  -6 </a:t>
            </a:r>
            <a:r>
              <a:rPr lang="pt-BR" dirty="0" smtClean="0"/>
              <a:t>   -5    -</a:t>
            </a:r>
            <a:r>
              <a:rPr lang="pt-BR" dirty="0"/>
              <a:t>4 </a:t>
            </a:r>
            <a:r>
              <a:rPr lang="pt-BR" dirty="0" smtClean="0"/>
              <a:t>  -</a:t>
            </a:r>
            <a:r>
              <a:rPr lang="pt-BR" dirty="0"/>
              <a:t>3 </a:t>
            </a:r>
            <a:r>
              <a:rPr lang="pt-BR" dirty="0" smtClean="0"/>
              <a:t>  -</a:t>
            </a:r>
            <a:r>
              <a:rPr lang="pt-BR" dirty="0"/>
              <a:t>2 </a:t>
            </a:r>
            <a:r>
              <a:rPr lang="pt-BR" dirty="0" smtClean="0"/>
              <a:t>   -1</a:t>
            </a:r>
          </a:p>
          <a:p>
            <a:pPr lvl="1"/>
            <a:endParaRPr lang="pt-BR" dirty="0"/>
          </a:p>
          <a:p>
            <a:pPr marL="228600" lvl="1">
              <a:spcBef>
                <a:spcPts val="1000"/>
              </a:spcBef>
            </a:pPr>
            <a:r>
              <a:rPr lang="en-IN" sz="2800" dirty="0" smtClean="0"/>
              <a:t>Slicing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IN" sz="2800" dirty="0" smtClean="0"/>
              <a:t>sequence[</a:t>
            </a:r>
            <a:r>
              <a:rPr lang="en-IN" sz="2800" dirty="0" err="1" smtClean="0"/>
              <a:t>start:stop:step</a:t>
            </a:r>
            <a:r>
              <a:rPr lang="en-IN" sz="2800" dirty="0" smtClean="0"/>
              <a:t>]</a:t>
            </a:r>
          </a:p>
          <a:p>
            <a:pPr marL="457200" lvl="1" indent="-457200">
              <a:spcBef>
                <a:spcPts val="1000"/>
              </a:spcBef>
            </a:pPr>
            <a:r>
              <a:rPr lang="en-US" sz="2800" dirty="0"/>
              <a:t>The stop position is excluded</a:t>
            </a:r>
            <a:r>
              <a:rPr lang="en-US" sz="2800" dirty="0" smtClean="0"/>
              <a:t>.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IN" sz="2800" dirty="0"/>
              <a:t>language = "Python"</a:t>
            </a:r>
          </a:p>
          <a:p>
            <a:pPr marL="0" lvl="1" indent="0">
              <a:spcBef>
                <a:spcPts val="1000"/>
              </a:spcBef>
              <a:buNone/>
            </a:pPr>
            <a:endParaRPr lang="en-IN" sz="28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IN" sz="2800" dirty="0"/>
              <a:t>print(language[0:3])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IN" sz="2800" dirty="0"/>
              <a:t>print(language[2:])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IN" sz="2800" dirty="0"/>
              <a:t>print(language[::-1])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305260" y="5165579"/>
            <a:ext cx="2276061" cy="15388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1" dirty="0" smtClean="0"/>
              <a:t>Output</a:t>
            </a:r>
          </a:p>
          <a:p>
            <a:r>
              <a:rPr lang="en-IN" sz="2400" dirty="0" err="1"/>
              <a:t>Pyt</a:t>
            </a:r>
            <a:r>
              <a:rPr lang="en-IN" sz="2400" dirty="0"/>
              <a:t> </a:t>
            </a:r>
            <a:endParaRPr lang="en-IN" sz="2400" dirty="0" smtClean="0"/>
          </a:p>
          <a:p>
            <a:r>
              <a:rPr lang="en-IN" sz="2400" dirty="0" smtClean="0"/>
              <a:t>thon </a:t>
            </a:r>
          </a:p>
          <a:p>
            <a:r>
              <a:rPr lang="en-IN" sz="2400" dirty="0" err="1" smtClean="0"/>
              <a:t>nohtyP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7127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5: Processing a Student Email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email = "anil.dubey@abes.ac.in"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email = </a:t>
            </a:r>
            <a:r>
              <a:rPr lang="en-IN" dirty="0" err="1"/>
              <a:t>email.strip</a:t>
            </a:r>
            <a:r>
              <a:rPr lang="en-IN" dirty="0"/>
              <a:t>().lower()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username, domain = </a:t>
            </a:r>
            <a:r>
              <a:rPr lang="en-IN" dirty="0" err="1"/>
              <a:t>email.split</a:t>
            </a:r>
            <a:r>
              <a:rPr lang="en-IN" dirty="0"/>
              <a:t>("@")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print("Complete email:", email)</a:t>
            </a:r>
          </a:p>
          <a:p>
            <a:pPr marL="0" indent="0">
              <a:buNone/>
            </a:pPr>
            <a:r>
              <a:rPr lang="en-IN" dirty="0"/>
              <a:t>print("Username:", username)</a:t>
            </a:r>
          </a:p>
          <a:p>
            <a:pPr marL="0" indent="0">
              <a:buNone/>
            </a:pPr>
            <a:r>
              <a:rPr lang="en-IN" dirty="0"/>
              <a:t>print("Domain:", domain)</a:t>
            </a:r>
          </a:p>
          <a:p>
            <a:pPr marL="0" indent="0">
              <a:buNone/>
            </a:pPr>
            <a:r>
              <a:rPr lang="en-IN" dirty="0"/>
              <a:t>print("Institutional email:", domain == "abes.ac.in")</a:t>
            </a:r>
          </a:p>
          <a:p>
            <a:pPr marL="0" indent="0">
              <a:buNone/>
            </a:pPr>
            <a:r>
              <a:rPr lang="en-IN" dirty="0"/>
              <a:t>print("Username length:", </a:t>
            </a:r>
            <a:r>
              <a:rPr lang="en-IN" dirty="0" err="1"/>
              <a:t>len</a:t>
            </a:r>
            <a:r>
              <a:rPr lang="en-IN" dirty="0"/>
              <a:t>(username))</a:t>
            </a:r>
          </a:p>
          <a:p>
            <a:pPr marL="0" indent="0">
              <a:buNone/>
            </a:pPr>
            <a:r>
              <a:rPr lang="en-IN" dirty="0"/>
              <a:t>print("Domain parts:", </a:t>
            </a:r>
            <a:r>
              <a:rPr lang="en-IN" dirty="0" err="1"/>
              <a:t>domain.split</a:t>
            </a:r>
            <a:r>
              <a:rPr lang="en-IN" dirty="0"/>
              <a:t>("."))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510449" y="2488640"/>
            <a:ext cx="3936117" cy="28007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1" dirty="0" smtClean="0"/>
              <a:t>Output</a:t>
            </a:r>
          </a:p>
          <a:p>
            <a:r>
              <a:rPr lang="en-US" sz="2200" dirty="0"/>
              <a:t>Complete email: anil.dubey@abes.ac.in</a:t>
            </a:r>
          </a:p>
          <a:p>
            <a:r>
              <a:rPr lang="en-US" sz="2200" dirty="0"/>
              <a:t>Username: </a:t>
            </a:r>
            <a:r>
              <a:rPr lang="en-US" sz="2200" dirty="0" err="1"/>
              <a:t>anil.dubey</a:t>
            </a:r>
            <a:endParaRPr lang="en-US" sz="2200" dirty="0"/>
          </a:p>
          <a:p>
            <a:r>
              <a:rPr lang="en-US" sz="2200" dirty="0"/>
              <a:t>Domain: abes.ac.in</a:t>
            </a:r>
          </a:p>
          <a:p>
            <a:r>
              <a:rPr lang="en-US" sz="2200" dirty="0"/>
              <a:t>Institutional email: True</a:t>
            </a:r>
          </a:p>
          <a:p>
            <a:r>
              <a:rPr lang="en-US" sz="2200" dirty="0"/>
              <a:t>Username length: 11</a:t>
            </a:r>
          </a:p>
          <a:p>
            <a:r>
              <a:rPr lang="en-US" sz="2200" dirty="0"/>
              <a:t>Domain parts: ['</a:t>
            </a:r>
            <a:r>
              <a:rPr lang="en-US" sz="2200" dirty="0" err="1"/>
              <a:t>abes</a:t>
            </a:r>
            <a:r>
              <a:rPr lang="en-US" sz="2200" dirty="0"/>
              <a:t>', 'ac', 'in']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1265601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List: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</a:t>
            </a:r>
            <a:r>
              <a:rPr lang="en-US" dirty="0"/>
              <a:t>list is an ordered, mutable sequence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	marks </a:t>
            </a:r>
            <a:r>
              <a:rPr lang="en-US" dirty="0"/>
              <a:t>= [78, 82, 91, 69</a:t>
            </a:r>
            <a:r>
              <a:rPr lang="en-US" dirty="0" smtClean="0"/>
              <a:t>]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list may contain different types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IN" dirty="0" smtClean="0"/>
              <a:t>	student </a:t>
            </a:r>
            <a:r>
              <a:rPr lang="en-IN" dirty="0"/>
              <a:t>= [101, "</a:t>
            </a:r>
            <a:r>
              <a:rPr lang="en-IN" dirty="0" err="1"/>
              <a:t>Aman</a:t>
            </a:r>
            <a:r>
              <a:rPr lang="en-IN" dirty="0"/>
              <a:t>", 8.4, True</a:t>
            </a:r>
            <a:r>
              <a:rPr lang="en-IN" dirty="0" smtClean="0"/>
              <a:t>]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Access and </a:t>
            </a:r>
            <a:r>
              <a:rPr lang="en-IN" dirty="0" smtClean="0"/>
              <a:t>modification</a:t>
            </a:r>
          </a:p>
          <a:p>
            <a:pPr marL="0" indent="0">
              <a:buNone/>
            </a:pPr>
            <a:r>
              <a:rPr lang="en-US" dirty="0" smtClean="0"/>
              <a:t>	marks </a:t>
            </a:r>
            <a:r>
              <a:rPr lang="en-US" dirty="0"/>
              <a:t>= [78, 82, 91]</a:t>
            </a:r>
          </a:p>
          <a:p>
            <a:pPr marL="0" indent="0">
              <a:buNone/>
            </a:pPr>
            <a:r>
              <a:rPr lang="en-US" dirty="0" smtClean="0"/>
              <a:t>	print(marks[0</a:t>
            </a:r>
            <a:r>
              <a:rPr lang="en-US" dirty="0"/>
              <a:t>])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marks[0</a:t>
            </a:r>
            <a:r>
              <a:rPr lang="en-US" dirty="0"/>
              <a:t>] = 80</a:t>
            </a:r>
          </a:p>
          <a:p>
            <a:pPr marL="0" indent="0">
              <a:buNone/>
            </a:pPr>
            <a:r>
              <a:rPr lang="en-US" dirty="0" smtClean="0"/>
              <a:t>	print(marks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305260" y="5165579"/>
            <a:ext cx="2276061" cy="1107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1" dirty="0" smtClean="0"/>
              <a:t>Output</a:t>
            </a:r>
          </a:p>
          <a:p>
            <a:r>
              <a:rPr lang="en-US" sz="2200" b="1" dirty="0"/>
              <a:t>78</a:t>
            </a:r>
          </a:p>
          <a:p>
            <a:r>
              <a:rPr lang="en-US" sz="2200" b="1" dirty="0"/>
              <a:t>[80, 82, 91]</a:t>
            </a:r>
            <a:endParaRPr lang="en-US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4113566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list methods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657186"/>
              </p:ext>
            </p:extLst>
          </p:nvPr>
        </p:nvGraphicFramePr>
        <p:xfrm>
          <a:off x="2454964" y="1883596"/>
          <a:ext cx="6569765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69817">
                  <a:extLst>
                    <a:ext uri="{9D8B030D-6E8A-4147-A177-3AD203B41FA5}">
                      <a16:colId xmlns:a16="http://schemas.microsoft.com/office/drawing/2014/main" val="17027598"/>
                    </a:ext>
                  </a:extLst>
                </a:gridCol>
                <a:gridCol w="4599948">
                  <a:extLst>
                    <a:ext uri="{9D8B030D-6E8A-4147-A177-3AD203B41FA5}">
                      <a16:colId xmlns:a16="http://schemas.microsoft.com/office/drawing/2014/main" val="4014185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Method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056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append(x)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Adds one item at the 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7549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extend(values)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Adds multiple items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373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insert(i, 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Adds an item at a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407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remove(x)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Removes the first matching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326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pop()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Removes and returns an item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449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sort()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Sorts the list in place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420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reverse()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Reverses the list in place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7774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index(x)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Finds the position of a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900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count(x)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Counts occurrences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450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clear()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Removes all items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891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534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6: Marks Analysis Using a List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marks = [78, 85, 91, 67, 88]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marks.append</a:t>
            </a:r>
            <a:r>
              <a:rPr lang="en-US" dirty="0"/>
              <a:t>(94)</a:t>
            </a:r>
          </a:p>
          <a:p>
            <a:pPr marL="0" indent="0">
              <a:buNone/>
            </a:pPr>
            <a:r>
              <a:rPr lang="en-US" dirty="0"/>
              <a:t>marks[3] = 72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total = sum(marks)</a:t>
            </a:r>
          </a:p>
          <a:p>
            <a:pPr marL="0" indent="0">
              <a:buNone/>
            </a:pPr>
            <a:r>
              <a:rPr lang="en-US" dirty="0"/>
              <a:t>average = total / </a:t>
            </a:r>
            <a:r>
              <a:rPr lang="en-US" dirty="0" err="1"/>
              <a:t>len</a:t>
            </a:r>
            <a:r>
              <a:rPr lang="en-US" dirty="0"/>
              <a:t>(marks)</a:t>
            </a:r>
          </a:p>
          <a:p>
            <a:pPr marL="0" indent="0">
              <a:buNone/>
            </a:pPr>
            <a:r>
              <a:rPr lang="en-US" dirty="0"/>
              <a:t>highest = max(marks)</a:t>
            </a:r>
          </a:p>
          <a:p>
            <a:pPr marL="0" indent="0">
              <a:buNone/>
            </a:pPr>
            <a:r>
              <a:rPr lang="en-US" dirty="0"/>
              <a:t>lowest = min(marks)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sorted_marks</a:t>
            </a:r>
            <a:r>
              <a:rPr lang="en-US" dirty="0"/>
              <a:t> = sorted(marks, reverse=True)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print("Updated marks:", marks)</a:t>
            </a:r>
          </a:p>
          <a:p>
            <a:pPr marL="0" indent="0">
              <a:buNone/>
            </a:pPr>
            <a:r>
              <a:rPr lang="en-US" dirty="0"/>
              <a:t>print("Total:", total)</a:t>
            </a:r>
          </a:p>
          <a:p>
            <a:pPr marL="0" indent="0">
              <a:buNone/>
            </a:pPr>
            <a:r>
              <a:rPr lang="en-US" dirty="0"/>
              <a:t>print("Average:", round(average, 2))</a:t>
            </a:r>
          </a:p>
          <a:p>
            <a:pPr marL="0" indent="0">
              <a:buNone/>
            </a:pPr>
            <a:r>
              <a:rPr lang="en-US" dirty="0"/>
              <a:t>print("Highest:", highest)</a:t>
            </a:r>
          </a:p>
          <a:p>
            <a:pPr marL="0" indent="0">
              <a:buNone/>
            </a:pPr>
            <a:r>
              <a:rPr lang="en-US" dirty="0"/>
              <a:t>print("Lowest:", lowest)</a:t>
            </a:r>
          </a:p>
          <a:p>
            <a:pPr marL="0" indent="0">
              <a:buNone/>
            </a:pPr>
            <a:r>
              <a:rPr lang="en-US" dirty="0"/>
              <a:t>print("Descending order:", </a:t>
            </a:r>
            <a:r>
              <a:rPr lang="en-US" dirty="0" err="1"/>
              <a:t>sorted_marks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print("Top three:", </a:t>
            </a:r>
            <a:r>
              <a:rPr lang="en-US" dirty="0" err="1"/>
              <a:t>sorted_marks</a:t>
            </a:r>
            <a:r>
              <a:rPr lang="en-US" dirty="0"/>
              <a:t>[:3])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321286" y="2006807"/>
            <a:ext cx="5221357" cy="28007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1" dirty="0" smtClean="0"/>
              <a:t>Output</a:t>
            </a:r>
          </a:p>
          <a:p>
            <a:r>
              <a:rPr lang="en-US" sz="2200" dirty="0"/>
              <a:t>Updated marks: [78, 85, 91, 72, 88, 94]</a:t>
            </a:r>
          </a:p>
          <a:p>
            <a:r>
              <a:rPr lang="en-US" sz="2200" dirty="0"/>
              <a:t>Total: 508</a:t>
            </a:r>
          </a:p>
          <a:p>
            <a:r>
              <a:rPr lang="en-US" sz="2200" dirty="0"/>
              <a:t>Average: 84.67</a:t>
            </a:r>
          </a:p>
          <a:p>
            <a:r>
              <a:rPr lang="en-US" sz="2200" dirty="0"/>
              <a:t>Highest: 94</a:t>
            </a:r>
          </a:p>
          <a:p>
            <a:r>
              <a:rPr lang="en-US" sz="2200" dirty="0"/>
              <a:t>Lowest: 72</a:t>
            </a:r>
          </a:p>
          <a:p>
            <a:r>
              <a:rPr lang="en-US" sz="2200" dirty="0"/>
              <a:t>Descending order: [94, 91, 88, 85, 78, 72]</a:t>
            </a:r>
          </a:p>
          <a:p>
            <a:r>
              <a:rPr lang="en-US" sz="2200" dirty="0"/>
              <a:t>Top three: [94, 91, 88]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16419184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6: Marks Analysis Using a List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sort() versus sorted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577392"/>
              </p:ext>
            </p:extLst>
          </p:nvPr>
        </p:nvGraphicFramePr>
        <p:xfrm>
          <a:off x="651633" y="2866844"/>
          <a:ext cx="10888733" cy="20116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49445">
                  <a:extLst>
                    <a:ext uri="{9D8B030D-6E8A-4147-A177-3AD203B41FA5}">
                      <a16:colId xmlns:a16="http://schemas.microsoft.com/office/drawing/2014/main" val="797878432"/>
                    </a:ext>
                  </a:extLst>
                </a:gridCol>
                <a:gridCol w="3631096">
                  <a:extLst>
                    <a:ext uri="{9D8B030D-6E8A-4147-A177-3AD203B41FA5}">
                      <a16:colId xmlns:a16="http://schemas.microsoft.com/office/drawing/2014/main" val="3950834379"/>
                    </a:ext>
                  </a:extLst>
                </a:gridCol>
                <a:gridCol w="5908192">
                  <a:extLst>
                    <a:ext uri="{9D8B030D-6E8A-4147-A177-3AD203B41FA5}">
                      <a16:colId xmlns:a16="http://schemas.microsoft.com/office/drawing/2014/main" val="3769126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Program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/>
                        <a:t>marks.sort</a:t>
                      </a:r>
                      <a:r>
                        <a:rPr lang="en-IN" sz="2400" dirty="0" smtClean="0"/>
                        <a:t>()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err="1" smtClean="0"/>
                        <a:t>new_marks</a:t>
                      </a:r>
                      <a:r>
                        <a:rPr lang="en-IN" sz="2400" dirty="0" smtClean="0"/>
                        <a:t> = sorted(marks)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202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Remark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Modifies the original list.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Returns None.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Creates a new sorted list.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Does not need to modify the original sequence.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742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0243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Tuple: tuple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</a:t>
            </a:r>
            <a:r>
              <a:rPr lang="en-US" dirty="0"/>
              <a:t>tuple is an ordered, immutable sequence.</a:t>
            </a:r>
          </a:p>
          <a:p>
            <a:pPr marL="0" indent="0">
              <a:buNone/>
            </a:pPr>
            <a:r>
              <a:rPr lang="en-IN" dirty="0" smtClean="0"/>
              <a:t>	coordinate </a:t>
            </a:r>
            <a:r>
              <a:rPr lang="en-IN" dirty="0"/>
              <a:t>= (10, </a:t>
            </a:r>
            <a:r>
              <a:rPr lang="en-IN" dirty="0" smtClean="0"/>
              <a:t>20)	</a:t>
            </a:r>
          </a:p>
          <a:p>
            <a:endParaRPr lang="en-US" dirty="0" smtClean="0"/>
          </a:p>
          <a:p>
            <a:r>
              <a:rPr lang="en-US" dirty="0" smtClean="0"/>
              <a:t>Tuples </a:t>
            </a:r>
            <a:r>
              <a:rPr lang="en-US" dirty="0"/>
              <a:t>are useful for data that should not change, such as:</a:t>
            </a:r>
          </a:p>
          <a:p>
            <a:pPr lvl="1"/>
            <a:r>
              <a:rPr lang="en-US" dirty="0"/>
              <a:t>coordinates, </a:t>
            </a:r>
          </a:p>
          <a:p>
            <a:pPr lvl="1"/>
            <a:r>
              <a:rPr lang="en-US" dirty="0"/>
              <a:t>RGB </a:t>
            </a:r>
            <a:r>
              <a:rPr lang="en-US" dirty="0" err="1"/>
              <a:t>colour</a:t>
            </a:r>
            <a:r>
              <a:rPr lang="en-US" dirty="0"/>
              <a:t> values, </a:t>
            </a:r>
          </a:p>
          <a:p>
            <a:pPr lvl="1"/>
            <a:r>
              <a:rPr lang="en-US" dirty="0"/>
              <a:t>database records, </a:t>
            </a:r>
          </a:p>
          <a:p>
            <a:pPr lvl="1"/>
            <a:r>
              <a:rPr lang="en-US" dirty="0" smtClean="0"/>
              <a:t>fixed </a:t>
            </a:r>
            <a:r>
              <a:rPr lang="en-US" dirty="0"/>
              <a:t>configuration values, </a:t>
            </a:r>
          </a:p>
          <a:p>
            <a:pPr lvl="1"/>
            <a:r>
              <a:rPr lang="en-US" dirty="0"/>
              <a:t>function return values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sz="3200" dirty="0"/>
              <a:t>The comma creates the tuple, not the parentheses alone.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861974"/>
              </p:ext>
            </p:extLst>
          </p:nvPr>
        </p:nvGraphicFramePr>
        <p:xfrm>
          <a:off x="5950226" y="4072467"/>
          <a:ext cx="6016488" cy="165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5287">
                  <a:extLst>
                    <a:ext uri="{9D8B030D-6E8A-4147-A177-3AD203B41FA5}">
                      <a16:colId xmlns:a16="http://schemas.microsoft.com/office/drawing/2014/main" val="3812801284"/>
                    </a:ext>
                  </a:extLst>
                </a:gridCol>
                <a:gridCol w="1899943">
                  <a:extLst>
                    <a:ext uri="{9D8B030D-6E8A-4147-A177-3AD203B41FA5}">
                      <a16:colId xmlns:a16="http://schemas.microsoft.com/office/drawing/2014/main" val="3966790796"/>
                    </a:ext>
                  </a:extLst>
                </a:gridCol>
                <a:gridCol w="2571258">
                  <a:extLst>
                    <a:ext uri="{9D8B030D-6E8A-4147-A177-3AD203B41FA5}">
                      <a16:colId xmlns:a16="http://schemas.microsoft.com/office/drawing/2014/main" val="191557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Single-element tuple</a:t>
                      </a:r>
                      <a:endParaRPr lang="en-IN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Incorrect</a:t>
                      </a:r>
                      <a:endParaRPr lang="en-IN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Correct</a:t>
                      </a:r>
                      <a:endParaRPr lang="en-IN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763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Program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value = (10) print(type(value))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 smtClean="0"/>
                        <a:t>value = (10,) print(type(value))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634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Output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&lt;class '</a:t>
                      </a:r>
                      <a:r>
                        <a:rPr lang="en-IN" dirty="0" err="1" smtClean="0"/>
                        <a:t>int</a:t>
                      </a:r>
                      <a:r>
                        <a:rPr lang="en-IN" dirty="0" smtClean="0"/>
                        <a:t>'&gt;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&lt;class 'tuple'&gt;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792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3065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Tuple packing and unpacking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428334"/>
              </p:ext>
            </p:extLst>
          </p:nvPr>
        </p:nvGraphicFramePr>
        <p:xfrm>
          <a:off x="680279" y="1690688"/>
          <a:ext cx="10372034" cy="4731555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499434">
                  <a:extLst>
                    <a:ext uri="{9D8B030D-6E8A-4147-A177-3AD203B41FA5}">
                      <a16:colId xmlns:a16="http://schemas.microsoft.com/office/drawing/2014/main" val="412467101"/>
                    </a:ext>
                  </a:extLst>
                </a:gridCol>
                <a:gridCol w="4689539">
                  <a:extLst>
                    <a:ext uri="{9D8B030D-6E8A-4147-A177-3AD203B41FA5}">
                      <a16:colId xmlns:a16="http://schemas.microsoft.com/office/drawing/2014/main" val="4048875145"/>
                    </a:ext>
                  </a:extLst>
                </a:gridCol>
                <a:gridCol w="4183061">
                  <a:extLst>
                    <a:ext uri="{9D8B030D-6E8A-4147-A177-3AD203B41FA5}">
                      <a16:colId xmlns:a16="http://schemas.microsoft.com/office/drawing/2014/main" val="598445914"/>
                    </a:ext>
                  </a:extLst>
                </a:gridCol>
              </a:tblGrid>
              <a:tr h="2273645">
                <a:tc>
                  <a:txBody>
                    <a:bodyPr/>
                    <a:lstStyle/>
                    <a:p>
                      <a:r>
                        <a:rPr lang="en-US" sz="2100" dirty="0" smtClean="0"/>
                        <a:t>Program</a:t>
                      </a:r>
                      <a:endParaRPr lang="en-IN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b="0" dirty="0" smtClean="0"/>
                        <a:t>student = (101, "</a:t>
                      </a:r>
                      <a:r>
                        <a:rPr lang="en-US" sz="2100" b="0" dirty="0" err="1" smtClean="0"/>
                        <a:t>Aman</a:t>
                      </a:r>
                      <a:r>
                        <a:rPr lang="en-US" sz="2100" b="0" dirty="0" smtClean="0"/>
                        <a:t>", 8.5)</a:t>
                      </a:r>
                    </a:p>
                    <a:p>
                      <a:endParaRPr lang="en-US" sz="2100" b="0" dirty="0" smtClean="0"/>
                    </a:p>
                    <a:p>
                      <a:r>
                        <a:rPr lang="en-US" sz="2100" b="0" dirty="0" err="1" smtClean="0"/>
                        <a:t>roll_number</a:t>
                      </a:r>
                      <a:r>
                        <a:rPr lang="en-US" sz="2100" b="0" dirty="0" smtClean="0"/>
                        <a:t>, name, </a:t>
                      </a:r>
                      <a:r>
                        <a:rPr lang="en-US" sz="2100" b="0" dirty="0" err="1" smtClean="0"/>
                        <a:t>cgpa</a:t>
                      </a:r>
                      <a:r>
                        <a:rPr lang="en-US" sz="2100" b="0" dirty="0" smtClean="0"/>
                        <a:t> = student</a:t>
                      </a:r>
                    </a:p>
                    <a:p>
                      <a:endParaRPr lang="en-US" sz="2100" b="0" dirty="0" smtClean="0"/>
                    </a:p>
                    <a:p>
                      <a:r>
                        <a:rPr lang="en-US" sz="2100" b="0" dirty="0" smtClean="0"/>
                        <a:t>print(</a:t>
                      </a:r>
                      <a:r>
                        <a:rPr lang="en-US" sz="2100" b="0" dirty="0" err="1" smtClean="0"/>
                        <a:t>roll_number</a:t>
                      </a:r>
                      <a:r>
                        <a:rPr lang="en-US" sz="2100" b="0" dirty="0" smtClean="0"/>
                        <a:t>)</a:t>
                      </a:r>
                    </a:p>
                    <a:p>
                      <a:r>
                        <a:rPr lang="en-US" sz="2100" b="0" dirty="0" smtClean="0"/>
                        <a:t>print(name)</a:t>
                      </a:r>
                    </a:p>
                    <a:p>
                      <a:r>
                        <a:rPr lang="en-US" sz="2100" b="0" dirty="0" smtClean="0"/>
                        <a:t>print(</a:t>
                      </a:r>
                      <a:r>
                        <a:rPr lang="en-US" sz="2100" b="0" dirty="0" err="1" smtClean="0"/>
                        <a:t>cgpa</a:t>
                      </a:r>
                      <a:r>
                        <a:rPr lang="en-US" sz="2100" b="0" dirty="0" smtClean="0"/>
                        <a:t>)</a:t>
                      </a:r>
                      <a:endParaRPr lang="en-IN" sz="2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b="0" dirty="0" smtClean="0"/>
                        <a:t>record = ([10, 20], "CSE")</a:t>
                      </a:r>
                    </a:p>
                    <a:p>
                      <a:r>
                        <a:rPr lang="en-IN" sz="2100" b="0" dirty="0" smtClean="0"/>
                        <a:t>record[0].append(30)</a:t>
                      </a:r>
                    </a:p>
                    <a:p>
                      <a:endParaRPr lang="en-IN" sz="2100" b="0" dirty="0" smtClean="0"/>
                    </a:p>
                    <a:p>
                      <a:r>
                        <a:rPr lang="en-IN" sz="2100" b="0" dirty="0" smtClean="0"/>
                        <a:t>print(record)</a:t>
                      </a:r>
                      <a:endParaRPr lang="en-IN" sz="2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118100"/>
                  </a:ext>
                </a:extLst>
              </a:tr>
              <a:tr h="1007165">
                <a:tc>
                  <a:txBody>
                    <a:bodyPr/>
                    <a:lstStyle/>
                    <a:p>
                      <a:r>
                        <a:rPr lang="en-US" sz="2100" b="1" dirty="0" smtClean="0"/>
                        <a:t>Output</a:t>
                      </a:r>
                      <a:endParaRPr lang="en-IN" sz="2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b="0" dirty="0" smtClean="0"/>
                        <a:t>101</a:t>
                      </a:r>
                    </a:p>
                    <a:p>
                      <a:r>
                        <a:rPr lang="en-IN" sz="2100" b="0" dirty="0" err="1" smtClean="0"/>
                        <a:t>Aman</a:t>
                      </a:r>
                      <a:endParaRPr lang="en-IN" sz="2100" b="0" dirty="0" smtClean="0"/>
                    </a:p>
                    <a:p>
                      <a:r>
                        <a:rPr lang="en-IN" sz="2100" b="0" dirty="0" smtClean="0"/>
                        <a:t>8.5</a:t>
                      </a:r>
                      <a:endParaRPr lang="en-IN" sz="2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 smtClean="0"/>
                        <a:t>([10, 20, 30], 'CSE')</a:t>
                      </a:r>
                      <a:endParaRPr lang="en-IN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332005"/>
                  </a:ext>
                </a:extLst>
              </a:tr>
              <a:tr h="1348275">
                <a:tc>
                  <a:txBody>
                    <a:bodyPr/>
                    <a:lstStyle/>
                    <a:p>
                      <a:r>
                        <a:rPr lang="en-US" sz="2100" b="1" dirty="0" smtClean="0"/>
                        <a:t>Remark</a:t>
                      </a:r>
                      <a:endParaRPr lang="en-IN" sz="2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100" dirty="0" smtClean="0"/>
                        <a:t>A tuple itself is immutable, although it can contain a mutable object:</a:t>
                      </a:r>
                      <a:endParaRPr lang="en-IN" sz="2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100" dirty="0" smtClean="0"/>
                        <a:t>The tuple still refers to the same list object, but the list’s contents have changed.</a:t>
                      </a:r>
                      <a:endParaRPr lang="en-IN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639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811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Range: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 </a:t>
            </a:r>
            <a:r>
              <a:rPr lang="en-US" dirty="0"/>
              <a:t>range represents an immutable sequence of integers. It is commonly used with loops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	range(stop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 smtClean="0"/>
              <a:t>	range(start</a:t>
            </a:r>
            <a:r>
              <a:rPr lang="en-US" dirty="0"/>
              <a:t>, stop)</a:t>
            </a:r>
          </a:p>
          <a:p>
            <a:pPr marL="0" indent="0" algn="just">
              <a:buNone/>
            </a:pPr>
            <a:r>
              <a:rPr lang="en-US" dirty="0" smtClean="0"/>
              <a:t>	range(start</a:t>
            </a:r>
            <a:r>
              <a:rPr lang="en-US" dirty="0"/>
              <a:t>, stop, step</a:t>
            </a:r>
            <a:r>
              <a:rPr lang="en-US" dirty="0" smtClean="0"/>
              <a:t>)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IN" b="1" dirty="0" smtClean="0"/>
              <a:t>Examples</a:t>
            </a:r>
            <a:r>
              <a:rPr lang="en-IN" dirty="0" smtClean="0"/>
              <a:t>:</a:t>
            </a:r>
          </a:p>
          <a:p>
            <a:pPr marL="0" indent="0" algn="just">
              <a:buNone/>
            </a:pPr>
            <a:r>
              <a:rPr lang="en-IN" dirty="0"/>
              <a:t>print(list(range(5)))</a:t>
            </a:r>
          </a:p>
          <a:p>
            <a:pPr marL="0" indent="0" algn="just">
              <a:buNone/>
            </a:pPr>
            <a:r>
              <a:rPr lang="en-IN" dirty="0"/>
              <a:t>print(list(range(2, 7)))</a:t>
            </a:r>
          </a:p>
          <a:p>
            <a:pPr marL="0" indent="0" algn="just">
              <a:buNone/>
            </a:pPr>
            <a:r>
              <a:rPr lang="en-IN" dirty="0"/>
              <a:t>print(list(range(10, 0, -2)))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763303" y="3986456"/>
            <a:ext cx="5123758" cy="2677656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Output</a:t>
            </a:r>
            <a:r>
              <a:rPr lang="en-IN" sz="2800" dirty="0"/>
              <a:t> </a:t>
            </a:r>
          </a:p>
          <a:p>
            <a:r>
              <a:rPr lang="en-IN" sz="2800" dirty="0"/>
              <a:t>[0, 1, 2, 3, 4] </a:t>
            </a:r>
          </a:p>
          <a:p>
            <a:r>
              <a:rPr lang="en-IN" sz="2800" dirty="0"/>
              <a:t>[2, 3, 4, 5, 6] </a:t>
            </a:r>
          </a:p>
          <a:p>
            <a:r>
              <a:rPr lang="en-IN" sz="2800" dirty="0"/>
              <a:t>[10, 8, 6, 4, 2</a:t>
            </a:r>
            <a:r>
              <a:rPr lang="en-IN" sz="2800" dirty="0" smtClean="0"/>
              <a:t>]</a:t>
            </a:r>
          </a:p>
          <a:p>
            <a:endParaRPr lang="en-US" sz="2800" dirty="0"/>
          </a:p>
          <a:p>
            <a:r>
              <a:rPr lang="en-US" sz="2800" dirty="0"/>
              <a:t>Note: The stop value is excluded.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338925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7: Combining Sequence Types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 err="1"/>
              <a:t>course_name</a:t>
            </a:r>
            <a:r>
              <a:rPr lang="en-US" dirty="0"/>
              <a:t> = "Python"                  # String</a:t>
            </a:r>
          </a:p>
          <a:p>
            <a:pPr marL="0" indent="0">
              <a:buNone/>
            </a:pPr>
            <a:r>
              <a:rPr lang="en-US" dirty="0" err="1"/>
              <a:t>weekly_marks</a:t>
            </a:r>
            <a:r>
              <a:rPr lang="en-US" dirty="0"/>
              <a:t> = [72, 78, 81, 85, 90]    # List</a:t>
            </a:r>
          </a:p>
          <a:p>
            <a:pPr marL="0" indent="0">
              <a:buNone/>
            </a:pPr>
            <a:r>
              <a:rPr lang="en-US" dirty="0" err="1"/>
              <a:t>course_info</a:t>
            </a:r>
            <a:r>
              <a:rPr lang="en-US" dirty="0"/>
              <a:t> = ("CSE", 2, </a:t>
            </a:r>
            <a:r>
              <a:rPr lang="en-US" dirty="0" err="1"/>
              <a:t>course_name</a:t>
            </a:r>
            <a:r>
              <a:rPr lang="en-US" dirty="0"/>
              <a:t>)   # Tuple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print("Course:", </a:t>
            </a:r>
            <a:r>
              <a:rPr lang="en-US" dirty="0" err="1"/>
              <a:t>course_name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print("First character:", </a:t>
            </a:r>
            <a:r>
              <a:rPr lang="en-US" dirty="0" err="1"/>
              <a:t>course_name</a:t>
            </a:r>
            <a:r>
              <a:rPr lang="en-US" dirty="0"/>
              <a:t>[0])</a:t>
            </a:r>
          </a:p>
          <a:p>
            <a:pPr marL="0" indent="0">
              <a:buNone/>
            </a:pPr>
            <a:r>
              <a:rPr lang="en-US" dirty="0"/>
              <a:t>print("First three characters:", </a:t>
            </a:r>
            <a:r>
              <a:rPr lang="en-US" dirty="0" err="1"/>
              <a:t>course_name</a:t>
            </a:r>
            <a:r>
              <a:rPr lang="en-US" dirty="0"/>
              <a:t>[:3])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print("\</a:t>
            </a:r>
            <a:r>
              <a:rPr lang="en-US" dirty="0" err="1"/>
              <a:t>nWeekly</a:t>
            </a:r>
            <a:r>
              <a:rPr lang="en-US" dirty="0"/>
              <a:t> performance:")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week in range(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weekly_marks</a:t>
            </a:r>
            <a:r>
              <a:rPr lang="en-US" dirty="0"/>
              <a:t>)):</a:t>
            </a:r>
          </a:p>
          <a:p>
            <a:pPr marL="0" indent="0">
              <a:buNone/>
            </a:pPr>
            <a:r>
              <a:rPr lang="en-US" dirty="0"/>
              <a:t>    print("Week", week + 1, ":", </a:t>
            </a:r>
            <a:r>
              <a:rPr lang="en-US" dirty="0" err="1"/>
              <a:t>weekly_marks</a:t>
            </a:r>
            <a:r>
              <a:rPr lang="en-US" dirty="0"/>
              <a:t>[week])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branch, year, subject = </a:t>
            </a:r>
            <a:r>
              <a:rPr lang="en-US" dirty="0" err="1"/>
              <a:t>course_info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print("\</a:t>
            </a:r>
            <a:r>
              <a:rPr lang="en-US" dirty="0" err="1"/>
              <a:t>nBranch</a:t>
            </a:r>
            <a:r>
              <a:rPr lang="en-US" dirty="0"/>
              <a:t>:", branch)</a:t>
            </a:r>
          </a:p>
          <a:p>
            <a:pPr marL="0" indent="0">
              <a:buNone/>
            </a:pPr>
            <a:r>
              <a:rPr lang="en-US" dirty="0"/>
              <a:t>print("Year:", year)</a:t>
            </a:r>
          </a:p>
          <a:p>
            <a:pPr marL="0" indent="0">
              <a:buNone/>
            </a:pPr>
            <a:r>
              <a:rPr lang="en-US" dirty="0"/>
              <a:t>print("Subject:", subject)</a:t>
            </a:r>
          </a:p>
          <a:p>
            <a:pPr marL="0" indent="0">
              <a:buNone/>
            </a:pPr>
            <a:r>
              <a:rPr lang="en-US" dirty="0"/>
              <a:t>print("Average marks:", sum(</a:t>
            </a:r>
            <a:r>
              <a:rPr lang="en-US" dirty="0" err="1"/>
              <a:t>weekly_marks</a:t>
            </a:r>
            <a:r>
              <a:rPr lang="en-US" dirty="0"/>
              <a:t>) /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weekly_marks</a:t>
            </a:r>
            <a:r>
              <a:rPr lang="en-US" dirty="0"/>
              <a:t>))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378147" y="2006807"/>
            <a:ext cx="4134679" cy="45243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 smtClean="0"/>
              <a:t>Output</a:t>
            </a:r>
          </a:p>
          <a:p>
            <a:r>
              <a:rPr lang="en-IN" dirty="0" smtClean="0"/>
              <a:t>Course</a:t>
            </a:r>
            <a:r>
              <a:rPr lang="en-IN" dirty="0"/>
              <a:t>: Python</a:t>
            </a:r>
          </a:p>
          <a:p>
            <a:r>
              <a:rPr lang="en-IN" dirty="0"/>
              <a:t>First character: P</a:t>
            </a:r>
          </a:p>
          <a:p>
            <a:r>
              <a:rPr lang="en-IN" dirty="0"/>
              <a:t>First three characters: </a:t>
            </a:r>
            <a:r>
              <a:rPr lang="en-IN" dirty="0" err="1"/>
              <a:t>Pyt</a:t>
            </a:r>
            <a:endParaRPr lang="en-IN" dirty="0"/>
          </a:p>
          <a:p>
            <a:endParaRPr lang="en-IN" dirty="0"/>
          </a:p>
          <a:p>
            <a:r>
              <a:rPr lang="en-IN" dirty="0"/>
              <a:t>Weekly performance:</a:t>
            </a:r>
          </a:p>
          <a:p>
            <a:r>
              <a:rPr lang="en-IN" dirty="0"/>
              <a:t>Week 1 : 72</a:t>
            </a:r>
          </a:p>
          <a:p>
            <a:r>
              <a:rPr lang="en-IN" dirty="0"/>
              <a:t>Week 2 : 78</a:t>
            </a:r>
          </a:p>
          <a:p>
            <a:r>
              <a:rPr lang="en-IN" dirty="0"/>
              <a:t>Week 3 : 81</a:t>
            </a:r>
          </a:p>
          <a:p>
            <a:r>
              <a:rPr lang="en-IN" dirty="0"/>
              <a:t>Week 4 : 85</a:t>
            </a:r>
          </a:p>
          <a:p>
            <a:r>
              <a:rPr lang="en-IN" dirty="0"/>
              <a:t>Week 5 : 90</a:t>
            </a:r>
          </a:p>
          <a:p>
            <a:endParaRPr lang="en-IN" dirty="0"/>
          </a:p>
          <a:p>
            <a:r>
              <a:rPr lang="en-IN" dirty="0"/>
              <a:t>Branch: CSE</a:t>
            </a:r>
          </a:p>
          <a:p>
            <a:r>
              <a:rPr lang="en-IN" dirty="0"/>
              <a:t>Year: 2</a:t>
            </a:r>
          </a:p>
          <a:p>
            <a:r>
              <a:rPr lang="en-IN" dirty="0"/>
              <a:t>Subject: Python</a:t>
            </a:r>
          </a:p>
          <a:p>
            <a:r>
              <a:rPr lang="en-IN" dirty="0"/>
              <a:t>Average marks: 81.2</a:t>
            </a:r>
          </a:p>
        </p:txBody>
      </p:sp>
    </p:spTree>
    <p:extLst>
      <p:ext uri="{BB962C8B-B14F-4D97-AF65-F5344CB8AC3E}">
        <p14:creationId xmlns:p14="http://schemas.microsoft.com/office/powerpoint/2010/main" val="29320720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7: Combining Sequence Types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This example demonstrates:</a:t>
            </a:r>
          </a:p>
          <a:p>
            <a:pPr lvl="1"/>
            <a:r>
              <a:rPr lang="en-US" dirty="0"/>
              <a:t>a string as a sequence of characters, </a:t>
            </a:r>
          </a:p>
          <a:p>
            <a:pPr lvl="1"/>
            <a:r>
              <a:rPr lang="en-US" dirty="0"/>
              <a:t>a list as a mutable collection of marks, </a:t>
            </a:r>
          </a:p>
          <a:p>
            <a:pPr lvl="1"/>
            <a:r>
              <a:rPr lang="en-US" dirty="0"/>
              <a:t>a tuple as a fixed course record, </a:t>
            </a:r>
          </a:p>
          <a:p>
            <a:pPr lvl="1"/>
            <a:r>
              <a:rPr lang="en-US" dirty="0"/>
              <a:t>a range as a sequence of loop indexes. </a:t>
            </a:r>
          </a:p>
          <a:p>
            <a:endParaRPr lang="en-US" dirty="0" smtClean="0"/>
          </a:p>
          <a:p>
            <a:pPr algn="just"/>
            <a:r>
              <a:rPr lang="en-US" dirty="0" smtClean="0"/>
              <a:t>Lists</a:t>
            </a:r>
            <a:r>
              <a:rPr lang="en-US" dirty="0"/>
              <a:t>, tuples and ranges are core sequence types.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Strings </a:t>
            </a:r>
            <a:r>
              <a:rPr lang="en-US" dirty="0"/>
              <a:t>are text sequences and share important sequence operations such as indexing, slicing and iteration.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6328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and Immutable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Mutable objects: </a:t>
            </a:r>
            <a:r>
              <a:rPr lang="en-US" dirty="0" smtClean="0"/>
              <a:t>A </a:t>
            </a:r>
            <a:r>
              <a:rPr lang="en-US" dirty="0"/>
              <a:t>mutable object can be changed after creation.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 smtClean="0"/>
              <a:t>list </a:t>
            </a:r>
            <a:endParaRPr lang="en-US" dirty="0"/>
          </a:p>
          <a:p>
            <a:pPr lvl="1"/>
            <a:r>
              <a:rPr lang="en-US" dirty="0" err="1" smtClean="0"/>
              <a:t>dict</a:t>
            </a:r>
            <a:r>
              <a:rPr lang="en-US" dirty="0" smtClean="0"/>
              <a:t> </a:t>
            </a:r>
            <a:endParaRPr lang="en-US" dirty="0"/>
          </a:p>
          <a:p>
            <a:pPr lvl="1"/>
            <a:r>
              <a:rPr lang="en-US" dirty="0" smtClean="0"/>
              <a:t>Set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numbers = [10, 20]</a:t>
            </a:r>
          </a:p>
          <a:p>
            <a:pPr marL="457200" lvl="1" indent="0">
              <a:buNone/>
            </a:pPr>
            <a:r>
              <a:rPr lang="en-US" dirty="0" err="1"/>
              <a:t>numbers.append</a:t>
            </a:r>
            <a:r>
              <a:rPr lang="en-US" dirty="0"/>
              <a:t>(30)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print(numbers</a:t>
            </a:r>
            <a:r>
              <a:rPr lang="en-US" dirty="0" smtClean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 smtClean="0"/>
              <a:t>Output</a:t>
            </a:r>
            <a:r>
              <a:rPr lang="en-US" dirty="0" smtClean="0"/>
              <a:t>: </a:t>
            </a:r>
            <a:r>
              <a:rPr lang="en-IN" dirty="0"/>
              <a:t>[10, 20, 30]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0336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and Immutable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Immutable </a:t>
            </a:r>
            <a:r>
              <a:rPr lang="en-US" b="1" dirty="0" smtClean="0"/>
              <a:t>objects: </a:t>
            </a:r>
            <a:r>
              <a:rPr lang="en-US" dirty="0" smtClean="0"/>
              <a:t>An </a:t>
            </a:r>
            <a:r>
              <a:rPr lang="en-US" dirty="0"/>
              <a:t>immutable object cannot be changed after creation.</a:t>
            </a:r>
          </a:p>
          <a:p>
            <a:r>
              <a:rPr lang="en-US" dirty="0" smtClean="0"/>
              <a:t>Examples:</a:t>
            </a:r>
          </a:p>
          <a:p>
            <a:pPr lvl="1"/>
            <a:r>
              <a:rPr lang="en-US" dirty="0" err="1" smtClean="0"/>
              <a:t>int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float </a:t>
            </a:r>
          </a:p>
          <a:p>
            <a:pPr lvl="1"/>
            <a:r>
              <a:rPr lang="en-US" sz="2400" dirty="0" smtClean="0"/>
              <a:t>complex </a:t>
            </a:r>
            <a:endParaRPr lang="en-US" dirty="0"/>
          </a:p>
          <a:p>
            <a:pPr lvl="1"/>
            <a:r>
              <a:rPr lang="en-US" sz="2400" dirty="0" smtClean="0"/>
              <a:t>bool </a:t>
            </a:r>
            <a:endParaRPr lang="en-US" dirty="0"/>
          </a:p>
          <a:p>
            <a:pPr lvl="1"/>
            <a:r>
              <a:rPr lang="en-US" sz="2400" dirty="0" err="1" smtClean="0"/>
              <a:t>str</a:t>
            </a:r>
            <a:r>
              <a:rPr lang="en-US" sz="2400" dirty="0" smtClean="0"/>
              <a:t> </a:t>
            </a:r>
            <a:endParaRPr lang="en-US" dirty="0"/>
          </a:p>
          <a:p>
            <a:pPr lvl="1"/>
            <a:r>
              <a:rPr lang="en-US" sz="2400" dirty="0" smtClean="0"/>
              <a:t>tuple </a:t>
            </a:r>
            <a:endParaRPr lang="en-US" dirty="0"/>
          </a:p>
          <a:p>
            <a:pPr lvl="1"/>
            <a:r>
              <a:rPr lang="en-US" sz="2400" dirty="0" smtClean="0"/>
              <a:t>range </a:t>
            </a:r>
            <a:endParaRPr lang="en-US" dirty="0"/>
          </a:p>
          <a:p>
            <a:pPr lvl="1"/>
            <a:r>
              <a:rPr lang="en-US" sz="2400" dirty="0" err="1" smtClean="0"/>
              <a:t>frozenset</a:t>
            </a:r>
            <a:endParaRPr lang="en-US" sz="2400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5512905" y="3589462"/>
            <a:ext cx="6467060" cy="17851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IN" sz="2200" dirty="0"/>
              <a:t>name = "</a:t>
            </a:r>
            <a:r>
              <a:rPr lang="en-IN" sz="2200" dirty="0" err="1"/>
              <a:t>Aman</a:t>
            </a:r>
            <a:r>
              <a:rPr lang="en-IN" sz="2200" dirty="0"/>
              <a:t>“</a:t>
            </a:r>
          </a:p>
          <a:p>
            <a:r>
              <a:rPr lang="en-IN" sz="2200" dirty="0"/>
              <a:t>name = name + " </a:t>
            </a:r>
            <a:r>
              <a:rPr lang="en-IN" sz="2200" dirty="0" smtClean="0"/>
              <a:t>Sharma“</a:t>
            </a:r>
          </a:p>
          <a:p>
            <a:endParaRPr lang="en-US" sz="2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This does not modify the original string. </a:t>
            </a:r>
            <a:endParaRPr lang="en-US" sz="2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smtClean="0"/>
              <a:t>It </a:t>
            </a:r>
            <a:r>
              <a:rPr lang="en-US" sz="2200" dirty="0"/>
              <a:t>creates a new string and makes name refer to it.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31992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Compare 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800391"/>
              </p:ext>
            </p:extLst>
          </p:nvPr>
        </p:nvGraphicFramePr>
        <p:xfrm>
          <a:off x="581787" y="1552162"/>
          <a:ext cx="11028425" cy="472092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32543">
                  <a:extLst>
                    <a:ext uri="{9D8B030D-6E8A-4147-A177-3AD203B41FA5}">
                      <a16:colId xmlns:a16="http://schemas.microsoft.com/office/drawing/2014/main" val="909417755"/>
                    </a:ext>
                  </a:extLst>
                </a:gridCol>
                <a:gridCol w="2345635">
                  <a:extLst>
                    <a:ext uri="{9D8B030D-6E8A-4147-A177-3AD203B41FA5}">
                      <a16:colId xmlns:a16="http://schemas.microsoft.com/office/drawing/2014/main" val="1638131124"/>
                    </a:ext>
                  </a:extLst>
                </a:gridCol>
                <a:gridCol w="1749287">
                  <a:extLst>
                    <a:ext uri="{9D8B030D-6E8A-4147-A177-3AD203B41FA5}">
                      <a16:colId xmlns:a16="http://schemas.microsoft.com/office/drawing/2014/main" val="4044979698"/>
                    </a:ext>
                  </a:extLst>
                </a:gridCol>
                <a:gridCol w="2968487">
                  <a:extLst>
                    <a:ext uri="{9D8B030D-6E8A-4147-A177-3AD203B41FA5}">
                      <a16:colId xmlns:a16="http://schemas.microsoft.com/office/drawing/2014/main" val="2063435656"/>
                    </a:ext>
                  </a:extLst>
                </a:gridCol>
                <a:gridCol w="2532473">
                  <a:extLst>
                    <a:ext uri="{9D8B030D-6E8A-4147-A177-3AD203B41FA5}">
                      <a16:colId xmlns:a16="http://schemas.microsoft.com/office/drawing/2014/main" val="878039113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r>
                        <a:rPr lang="en-IN" sz="1900" b="1"/>
                        <a:t>Type</a:t>
                      </a:r>
                    </a:p>
                  </a:txBody>
                  <a:tcPr marL="85320" marR="85320" marT="42660" marB="4266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b="1"/>
                        <a:t>Ordered?</a:t>
                      </a:r>
                    </a:p>
                  </a:txBody>
                  <a:tcPr marL="85320" marR="85320" marT="42660" marB="4266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b="1"/>
                        <a:t>Mutable?</a:t>
                      </a:r>
                    </a:p>
                  </a:txBody>
                  <a:tcPr marL="85320" marR="85320" marT="42660" marB="4266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b="1"/>
                        <a:t>Allows duplicates?</a:t>
                      </a:r>
                    </a:p>
                  </a:txBody>
                  <a:tcPr marL="85320" marR="85320" marT="42660" marB="4266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b="1" dirty="0"/>
                        <a:t>Access method</a:t>
                      </a:r>
                    </a:p>
                  </a:txBody>
                  <a:tcPr marL="85320" marR="85320" marT="42660" marB="4266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47709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900"/>
                        <a:t>int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Not applicable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Not applicable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Direct value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9802001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900"/>
                        <a:t>float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Not applicable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Not applicable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Direct value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1601626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900"/>
                        <a:t>complex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Not applicable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Not applicable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.real, .imag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74035136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900"/>
                        <a:t>bool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Not applicable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Not applicable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Direct value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36276708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900" dirty="0" err="1"/>
                        <a:t>str</a:t>
                      </a:r>
                      <a:endParaRPr lang="en-IN" sz="190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Yes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Yes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Integer index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25883172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900"/>
                        <a:t>list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Yes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Yes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Yes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Integer index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34708751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900"/>
                        <a:t>tuple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Yes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Yes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Integer index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528895231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en-IN" sz="1900"/>
                        <a:t>range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Yes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Represents a progression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Integer index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221907290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900"/>
                        <a:t>dict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Insertion ordered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Yes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Keys: No; values: Yes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Key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54901337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900"/>
                        <a:t>set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 positional order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Yes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 indexing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67455925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900"/>
                        <a:t>frozenset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 positional order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No indexing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361210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6875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Type </a:t>
            </a:r>
            <a:r>
              <a:rPr lang="en-US" dirty="0"/>
              <a:t>conversion changes a value from one compatible type to another.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757206"/>
              </p:ext>
            </p:extLst>
          </p:nvPr>
        </p:nvGraphicFramePr>
        <p:xfrm>
          <a:off x="3740424" y="2689326"/>
          <a:ext cx="4250636" cy="39500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25318">
                  <a:extLst>
                    <a:ext uri="{9D8B030D-6E8A-4147-A177-3AD203B41FA5}">
                      <a16:colId xmlns:a16="http://schemas.microsoft.com/office/drawing/2014/main" val="4268923184"/>
                    </a:ext>
                  </a:extLst>
                </a:gridCol>
                <a:gridCol w="2125318">
                  <a:extLst>
                    <a:ext uri="{9D8B030D-6E8A-4147-A177-3AD203B41FA5}">
                      <a16:colId xmlns:a16="http://schemas.microsoft.com/office/drawing/2014/main" val="2490829837"/>
                    </a:ext>
                  </a:extLst>
                </a:gridCol>
              </a:tblGrid>
              <a:tr h="367443">
                <a:tc>
                  <a:txBody>
                    <a:bodyPr/>
                    <a:lstStyle/>
                    <a:p>
                      <a:r>
                        <a:rPr lang="en-IN" b="1"/>
                        <a:t>Function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Converts to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806347"/>
                  </a:ext>
                </a:extLst>
              </a:tr>
              <a:tr h="367443">
                <a:tc>
                  <a:txBody>
                    <a:bodyPr/>
                    <a:lstStyle/>
                    <a:p>
                      <a:r>
                        <a:rPr lang="en-IN"/>
                        <a:t>int()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3140294"/>
                  </a:ext>
                </a:extLst>
              </a:tr>
              <a:tr h="643025">
                <a:tc>
                  <a:txBody>
                    <a:bodyPr/>
                    <a:lstStyle/>
                    <a:p>
                      <a:r>
                        <a:rPr lang="en-IN"/>
                        <a:t>float()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Floating-point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1390806"/>
                  </a:ext>
                </a:extLst>
              </a:tr>
              <a:tr h="367443">
                <a:tc>
                  <a:txBody>
                    <a:bodyPr/>
                    <a:lstStyle/>
                    <a:p>
                      <a:r>
                        <a:rPr lang="en-IN"/>
                        <a:t>complex()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Complex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057613"/>
                  </a:ext>
                </a:extLst>
              </a:tr>
              <a:tr h="367443">
                <a:tc>
                  <a:txBody>
                    <a:bodyPr/>
                    <a:lstStyle/>
                    <a:p>
                      <a:r>
                        <a:rPr lang="en-IN"/>
                        <a:t>bool()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Boolean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608470"/>
                  </a:ext>
                </a:extLst>
              </a:tr>
              <a:tr h="367443">
                <a:tc>
                  <a:txBody>
                    <a:bodyPr/>
                    <a:lstStyle/>
                    <a:p>
                      <a:r>
                        <a:rPr lang="en-IN"/>
                        <a:t>str()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148382"/>
                  </a:ext>
                </a:extLst>
              </a:tr>
              <a:tr h="367443">
                <a:tc>
                  <a:txBody>
                    <a:bodyPr/>
                    <a:lstStyle/>
                    <a:p>
                      <a:r>
                        <a:rPr lang="en-IN"/>
                        <a:t>list()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297689"/>
                  </a:ext>
                </a:extLst>
              </a:tr>
              <a:tr h="367443">
                <a:tc>
                  <a:txBody>
                    <a:bodyPr/>
                    <a:lstStyle/>
                    <a:p>
                      <a:r>
                        <a:rPr lang="en-IN"/>
                        <a:t>tuple()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Tuple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854776"/>
                  </a:ext>
                </a:extLst>
              </a:tr>
              <a:tr h="367443">
                <a:tc>
                  <a:txBody>
                    <a:bodyPr/>
                    <a:lstStyle/>
                    <a:p>
                      <a:r>
                        <a:rPr lang="en-IN"/>
                        <a:t>set()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761156"/>
                  </a:ext>
                </a:extLst>
              </a:tr>
              <a:tr h="367443">
                <a:tc>
                  <a:txBody>
                    <a:bodyPr/>
                    <a:lstStyle/>
                    <a:p>
                      <a:r>
                        <a:rPr lang="en-IN"/>
                        <a:t>dict()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Dictionary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499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374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age = </a:t>
            </a:r>
            <a:r>
              <a:rPr lang="en-US" dirty="0" err="1"/>
              <a:t>int</a:t>
            </a:r>
            <a:r>
              <a:rPr lang="en-US" dirty="0"/>
              <a:t>("20")</a:t>
            </a:r>
          </a:p>
          <a:p>
            <a:pPr marL="0" indent="0">
              <a:buNone/>
            </a:pPr>
            <a:r>
              <a:rPr lang="en-US" dirty="0"/>
              <a:t>price = float("149.50")</a:t>
            </a:r>
          </a:p>
          <a:p>
            <a:pPr marL="0" indent="0">
              <a:buNone/>
            </a:pPr>
            <a:r>
              <a:rPr lang="en-US" dirty="0"/>
              <a:t>message = </a:t>
            </a:r>
            <a:r>
              <a:rPr lang="en-US" dirty="0" err="1"/>
              <a:t>str</a:t>
            </a:r>
            <a:r>
              <a:rPr lang="en-US" dirty="0"/>
              <a:t>(2026)</a:t>
            </a:r>
          </a:p>
          <a:p>
            <a:pPr marL="0" indent="0">
              <a:buNone/>
            </a:pPr>
            <a:r>
              <a:rPr lang="en-US" dirty="0"/>
              <a:t>characters = list("CSE")</a:t>
            </a:r>
          </a:p>
          <a:p>
            <a:pPr marL="0" indent="0">
              <a:buNone/>
            </a:pPr>
            <a:r>
              <a:rPr lang="en-US" dirty="0" err="1"/>
              <a:t>unique_values</a:t>
            </a:r>
            <a:r>
              <a:rPr lang="en-US" dirty="0"/>
              <a:t> = set([10, 20, 10, 30</a:t>
            </a:r>
            <a:r>
              <a:rPr lang="en-US" dirty="0" smtClean="0"/>
              <a:t>])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print(age, type(age))</a:t>
            </a:r>
          </a:p>
          <a:p>
            <a:pPr marL="0" indent="0">
              <a:buNone/>
            </a:pPr>
            <a:r>
              <a:rPr lang="en-IN" dirty="0"/>
              <a:t>print(price, type(price))</a:t>
            </a:r>
          </a:p>
          <a:p>
            <a:pPr marL="0" indent="0">
              <a:buNone/>
            </a:pPr>
            <a:r>
              <a:rPr lang="en-IN" dirty="0"/>
              <a:t>print(message, type(message))</a:t>
            </a:r>
          </a:p>
          <a:p>
            <a:pPr marL="0" indent="0">
              <a:buNone/>
            </a:pPr>
            <a:r>
              <a:rPr lang="en-IN" dirty="0"/>
              <a:t>print(characters)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unique_values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Not every conversion is valid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IN" dirty="0" smtClean="0"/>
              <a:t>	number </a:t>
            </a:r>
            <a:r>
              <a:rPr lang="en-IN" dirty="0"/>
              <a:t>= </a:t>
            </a:r>
            <a:r>
              <a:rPr lang="en-IN" dirty="0" err="1"/>
              <a:t>int</a:t>
            </a:r>
            <a:r>
              <a:rPr lang="en-IN" dirty="0"/>
              <a:t>("Python</a:t>
            </a:r>
            <a:r>
              <a:rPr lang="en-IN" dirty="0" smtClean="0"/>
              <a:t>") </a:t>
            </a:r>
          </a:p>
          <a:p>
            <a:r>
              <a:rPr lang="en-US" dirty="0" smtClean="0"/>
              <a:t>This rise 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ValueError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642111" y="2194960"/>
            <a:ext cx="4760705" cy="24929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IN" sz="2600" dirty="0"/>
              <a:t>print(age, type(age))</a:t>
            </a:r>
          </a:p>
          <a:p>
            <a:r>
              <a:rPr lang="en-IN" sz="2600" dirty="0"/>
              <a:t>print(price, type(price))</a:t>
            </a:r>
          </a:p>
          <a:p>
            <a:r>
              <a:rPr lang="en-IN" sz="2600" dirty="0"/>
              <a:t>print(message, type(message))</a:t>
            </a:r>
          </a:p>
          <a:p>
            <a:r>
              <a:rPr lang="en-IN" sz="2600" dirty="0"/>
              <a:t>print(characters)</a:t>
            </a:r>
          </a:p>
          <a:p>
            <a:r>
              <a:rPr lang="en-IN" sz="2600" dirty="0"/>
              <a:t>print(</a:t>
            </a:r>
            <a:r>
              <a:rPr lang="en-IN" sz="2600" dirty="0" err="1"/>
              <a:t>unique_values</a:t>
            </a:r>
            <a:r>
              <a:rPr lang="en-IN" sz="2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900944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Shallow Copy and Shared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Mutable </a:t>
            </a:r>
            <a:r>
              <a:rPr lang="en-US" dirty="0"/>
              <a:t>objects require special attention during assignment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list1 = [10, 20]</a:t>
            </a:r>
          </a:p>
          <a:p>
            <a:pPr marL="0" indent="0">
              <a:buNone/>
            </a:pPr>
            <a:r>
              <a:rPr lang="en-US" dirty="0"/>
              <a:t>list2 = list1</a:t>
            </a:r>
          </a:p>
          <a:p>
            <a:pPr marL="0" indent="0">
              <a:buNone/>
            </a:pPr>
            <a:r>
              <a:rPr lang="en-US" dirty="0" smtClean="0"/>
              <a:t>list2.append(30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print(list1)</a:t>
            </a:r>
          </a:p>
          <a:p>
            <a:pPr marL="0" indent="0">
              <a:buNone/>
            </a:pPr>
            <a:r>
              <a:rPr lang="en-US" dirty="0"/>
              <a:t>print(list2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Output</a:t>
            </a:r>
          </a:p>
          <a:p>
            <a:pPr marL="0" indent="0">
              <a:buNone/>
            </a:pPr>
            <a:r>
              <a:rPr lang="en-US" dirty="0"/>
              <a:t>[10, 20, 30]</a:t>
            </a:r>
          </a:p>
          <a:p>
            <a:pPr marL="0" indent="0">
              <a:buNone/>
            </a:pPr>
            <a:r>
              <a:rPr lang="en-US" dirty="0"/>
              <a:t>[10, 20, 30</a:t>
            </a:r>
            <a:r>
              <a:rPr lang="en-US" dirty="0" smtClean="0"/>
              <a:t>]</a:t>
            </a:r>
          </a:p>
          <a:p>
            <a:r>
              <a:rPr lang="en-US" dirty="0"/>
              <a:t>Both variables refer to the same list.</a:t>
            </a:r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7135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Shallow Copy and Shared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To create a shallow copy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list1 = [10, 20]</a:t>
            </a:r>
          </a:p>
          <a:p>
            <a:pPr marL="0" indent="0">
              <a:buNone/>
            </a:pPr>
            <a:r>
              <a:rPr lang="en-IN" dirty="0"/>
              <a:t>list2 = list1.copy()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list2.append(30)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print(list1)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print(list2)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315200" y="4894879"/>
            <a:ext cx="1868557" cy="1384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Output</a:t>
            </a:r>
          </a:p>
          <a:p>
            <a:r>
              <a:rPr lang="en-IN" sz="2800" dirty="0"/>
              <a:t>[10</a:t>
            </a:r>
            <a:r>
              <a:rPr lang="en-IN" sz="2800" dirty="0"/>
              <a:t>, 20]</a:t>
            </a:r>
          </a:p>
          <a:p>
            <a:r>
              <a:rPr lang="en-IN" sz="2800" dirty="0"/>
              <a:t>[10, 20, 30]</a:t>
            </a:r>
          </a:p>
        </p:txBody>
      </p:sp>
    </p:spTree>
    <p:extLst>
      <p:ext uri="{BB962C8B-B14F-4D97-AF65-F5344CB8AC3E}">
        <p14:creationId xmlns:p14="http://schemas.microsoft.com/office/powerpoint/2010/main" val="22270645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Correct Data Type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067485"/>
              </p:ext>
            </p:extLst>
          </p:nvPr>
        </p:nvGraphicFramePr>
        <p:xfrm>
          <a:off x="665922" y="1836048"/>
          <a:ext cx="9604513" cy="4693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84891">
                  <a:extLst>
                    <a:ext uri="{9D8B030D-6E8A-4147-A177-3AD203B41FA5}">
                      <a16:colId xmlns:a16="http://schemas.microsoft.com/office/drawing/2014/main" val="2765463399"/>
                    </a:ext>
                  </a:extLst>
                </a:gridCol>
                <a:gridCol w="2018118">
                  <a:extLst>
                    <a:ext uri="{9D8B030D-6E8A-4147-A177-3AD203B41FA5}">
                      <a16:colId xmlns:a16="http://schemas.microsoft.com/office/drawing/2014/main" val="403884172"/>
                    </a:ext>
                  </a:extLst>
                </a:gridCol>
                <a:gridCol w="3201504">
                  <a:extLst>
                    <a:ext uri="{9D8B030D-6E8A-4147-A177-3AD203B41FA5}">
                      <a16:colId xmlns:a16="http://schemas.microsoft.com/office/drawing/2014/main" val="1975363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200" b="1"/>
                        <a:t>Requirement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/>
                        <a:t>Suitable type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Reason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402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/>
                        <a:t>Store a student’s 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Whole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590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/>
                        <a:t>Store CGPA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Decimal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424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/>
                        <a:t>Store eligibility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bool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True/false condition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3129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/>
                        <a:t>Store a student’s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str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Text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016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Store marks for several subjects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Ordered and changeable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815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/>
                        <a:t>Store fixed coordinates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tuple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Ordered and immutable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53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/>
                        <a:t>Store unique course registrations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Removes duplicates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/>
                        <a:t>Store a student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dict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Named key–value fields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5455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/>
                        <a:t>Generate loop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Efficient integer sequence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26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/>
                        <a:t>Store fixed permissions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frozenset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Unique and immutable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404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7744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Home </a:t>
            </a:r>
            <a:r>
              <a:rPr lang="en-IN" dirty="0"/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40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dirty="0"/>
              <a:t>Create variables of types </a:t>
            </a:r>
            <a:r>
              <a:rPr lang="en-IN" dirty="0" err="1"/>
              <a:t>int</a:t>
            </a:r>
            <a:r>
              <a:rPr lang="en-IN" dirty="0"/>
              <a:t>, float, complex, bool, </a:t>
            </a:r>
            <a:r>
              <a:rPr lang="en-IN" dirty="0" err="1"/>
              <a:t>str</a:t>
            </a:r>
            <a:r>
              <a:rPr lang="en-IN" dirty="0"/>
              <a:t>, list, tuple, set, and dict. Display their values and types.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Input a student’s marks in five subjects and calculate the total, average and percentage.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Demonstrate the floating-point result of 0.1 + 0.2 and compare it using </a:t>
            </a:r>
            <a:r>
              <a:rPr lang="en-IN" dirty="0" err="1"/>
              <a:t>math.isclose</a:t>
            </a:r>
            <a:r>
              <a:rPr lang="en-IN" dirty="0"/>
              <a:t>().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Create a complex number and display its real part, imaginary part and magnitude.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Convert the strings "100" and "85.5" into appropriate numeric types.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Check whether a given string, list and dictionary are </a:t>
            </a:r>
            <a:r>
              <a:rPr lang="en-IN" dirty="0" err="1"/>
              <a:t>truthy</a:t>
            </a:r>
            <a:r>
              <a:rPr lang="en-IN" dirty="0"/>
              <a:t> or </a:t>
            </a:r>
            <a:r>
              <a:rPr lang="en-IN" dirty="0" err="1"/>
              <a:t>falsy</a:t>
            </a:r>
            <a:r>
              <a:rPr lang="en-IN" dirty="0"/>
              <a:t>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Create a student dictionary containing roll number, name, branch, semester and marks.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Update and remove fields from the student dictionary.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Count the frequency of every word in a sentence using a dictionary.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Remove duplicate values from a list using a set.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Find the union, intersection, difference and symmetric difference of two student groups.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Demonstrate why {} is not an empty set.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Perform indexing, negative indexing and slicing on a string.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Store ten marks in a list and find the highest, lowest and average marks.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Create a tuple representing an RGB colour and unpack its values.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Generate all even numbers from 2 to 50 using range().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Demonstrate the difference between mutable and immutable objects.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Demonstrate shared list references and list copying.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Create a nested dictionary for three students and their subject marks.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Design a small inventory system using a dictionary, with product names as keys and quantities as values.  </a:t>
            </a:r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0596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1095" y="3121577"/>
            <a:ext cx="3246783" cy="1325563"/>
          </a:xfrm>
        </p:spPr>
        <p:txBody>
          <a:bodyPr/>
          <a:lstStyle/>
          <a:p>
            <a:pPr algn="ctr"/>
            <a:r>
              <a:rPr lang="en-US" dirty="0" smtClean="0"/>
              <a:t>Thanks</a:t>
            </a:r>
            <a:endParaRPr lang="en-IN" dirty="0"/>
          </a:p>
        </p:txBody>
      </p:sp>
      <p:pic>
        <p:nvPicPr>
          <p:cNvPr id="3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487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358</TotalTime>
  <Words>3442</Words>
  <Application>Microsoft Office PowerPoint</Application>
  <PresentationFormat>Widescreen</PresentationFormat>
  <Paragraphs>977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Arial</vt:lpstr>
      <vt:lpstr>Calibri</vt:lpstr>
      <vt:lpstr>Calibri Light</vt:lpstr>
      <vt:lpstr>Office Theme</vt:lpstr>
      <vt:lpstr>Python: Data- Types</vt:lpstr>
      <vt:lpstr>Introduction</vt:lpstr>
      <vt:lpstr>Example</vt:lpstr>
      <vt:lpstr>Example</vt:lpstr>
      <vt:lpstr>Python is Dynamically Typed</vt:lpstr>
      <vt:lpstr>Python is Dynamically Typed</vt:lpstr>
      <vt:lpstr>Classification of the Required Data Types</vt:lpstr>
      <vt:lpstr>Numeric Data Types</vt:lpstr>
      <vt:lpstr>Integer: int</vt:lpstr>
      <vt:lpstr>Integer: int</vt:lpstr>
      <vt:lpstr>Integer: int</vt:lpstr>
      <vt:lpstr>Floating-Point Number: float</vt:lpstr>
      <vt:lpstr>Floating-Point Number: float</vt:lpstr>
      <vt:lpstr>Complex Number: complex</vt:lpstr>
      <vt:lpstr>Complex Number: complex</vt:lpstr>
      <vt:lpstr>Example 1: Working with Numeric Types</vt:lpstr>
      <vt:lpstr>Boolean Data Type</vt:lpstr>
      <vt:lpstr>Boolean Data Type</vt:lpstr>
      <vt:lpstr>Truthy and falsy values</vt:lpstr>
      <vt:lpstr>Truthy and falsy values</vt:lpstr>
      <vt:lpstr>Example 2: Student Eligibility Using Boolean Data</vt:lpstr>
      <vt:lpstr>Example 2: Student Eligibility Using Boolean Data</vt:lpstr>
      <vt:lpstr>Dictionary Data Type</vt:lpstr>
      <vt:lpstr>Dictionary Data Type</vt:lpstr>
      <vt:lpstr>Dictionary Data Type</vt:lpstr>
      <vt:lpstr>Dictionary Data Type</vt:lpstr>
      <vt:lpstr>Useful dictionary methods</vt:lpstr>
      <vt:lpstr>Example 3: Student Record Management</vt:lpstr>
      <vt:lpstr>Set Data Type</vt:lpstr>
      <vt:lpstr>Set Data Type</vt:lpstr>
      <vt:lpstr>Set methods</vt:lpstr>
      <vt:lpstr>Mathematical set operations</vt:lpstr>
      <vt:lpstr>Example 4: Analysing Course Enrolment</vt:lpstr>
      <vt:lpstr>Example 4: Analysing Course Enrolment</vt:lpstr>
      <vt:lpstr>Sequence Data Types</vt:lpstr>
      <vt:lpstr>String: str</vt:lpstr>
      <vt:lpstr>String: str</vt:lpstr>
      <vt:lpstr>Example 5: Processing a Student Email</vt:lpstr>
      <vt:lpstr>List: list</vt:lpstr>
      <vt:lpstr>Common list methods</vt:lpstr>
      <vt:lpstr>Example 6: Marks Analysis Using a List</vt:lpstr>
      <vt:lpstr>Example 6: Marks Analysis Using a List</vt:lpstr>
      <vt:lpstr>Tuple: tuple</vt:lpstr>
      <vt:lpstr>Tuple packing and unpacking</vt:lpstr>
      <vt:lpstr>Range: range</vt:lpstr>
      <vt:lpstr>Example 7: Combining Sequence Types</vt:lpstr>
      <vt:lpstr>Example 7: Combining Sequence Types</vt:lpstr>
      <vt:lpstr>Mutable and Immutable Data Types</vt:lpstr>
      <vt:lpstr>Mutable and Immutable Data Types</vt:lpstr>
      <vt:lpstr>Compare </vt:lpstr>
      <vt:lpstr>Type Conversion</vt:lpstr>
      <vt:lpstr>Type Conversion</vt:lpstr>
      <vt:lpstr>Shallow Copy and Shared References</vt:lpstr>
      <vt:lpstr>Shallow Copy and Shared References</vt:lpstr>
      <vt:lpstr>Choosing the Correct Data Type</vt:lpstr>
      <vt:lpstr>Home Exercises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DrAnilKDubey</dc:creator>
  <cp:lastModifiedBy>DrAnilKDubey</cp:lastModifiedBy>
  <cp:revision>528</cp:revision>
  <dcterms:created xsi:type="dcterms:W3CDTF">2026-07-06T04:33:03Z</dcterms:created>
  <dcterms:modified xsi:type="dcterms:W3CDTF">2026-07-21T10:02:38Z</dcterms:modified>
</cp:coreProperties>
</file>