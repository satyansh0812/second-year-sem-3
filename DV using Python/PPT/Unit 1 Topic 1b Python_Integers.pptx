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  <p:sldId id="271" r:id="rId3"/>
    <p:sldId id="300" r:id="rId4"/>
    <p:sldId id="301" r:id="rId5"/>
    <p:sldId id="302" r:id="rId6"/>
    <p:sldId id="303" r:id="rId7"/>
    <p:sldId id="305" r:id="rId8"/>
    <p:sldId id="304" r:id="rId9"/>
    <p:sldId id="306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07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332" r:id="rId36"/>
    <p:sldId id="333" r:id="rId37"/>
    <p:sldId id="299" r:id="rId38"/>
    <p:sldId id="26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Python: </a:t>
            </a:r>
            <a:r>
              <a:rPr lang="en-US" b="1" dirty="0"/>
              <a:t>Integers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61043" y="4012856"/>
            <a:ext cx="3949148" cy="1089231"/>
          </a:xfrm>
        </p:spPr>
        <p:txBody>
          <a:bodyPr/>
          <a:lstStyle/>
          <a:p>
            <a:r>
              <a:rPr lang="en-US" dirty="0"/>
              <a:t>Prof. (Dr.) Anil Kumar Dubey</a:t>
            </a:r>
          </a:p>
          <a:p>
            <a:r>
              <a:rPr lang="en-US" dirty="0"/>
              <a:t>Professor - CSE </a:t>
            </a:r>
            <a:r>
              <a:rPr lang="en-US" dirty="0" err="1"/>
              <a:t>Dept</a:t>
            </a:r>
            <a:endParaRPr lang="en-US" dirty="0"/>
          </a:p>
          <a:p>
            <a:endParaRPr lang="en-IN" dirty="0"/>
          </a:p>
        </p:txBody>
      </p:sp>
      <p:pic>
        <p:nvPicPr>
          <p:cNvPr id="1026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081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An </a:t>
            </a:r>
            <a:r>
              <a:rPr lang="en-US" b="1" dirty="0"/>
              <a:t>integer</a:t>
            </a:r>
            <a:r>
              <a:rPr lang="en-US" dirty="0"/>
              <a:t> is a whole number without a fractional or decimal part.</a:t>
            </a:r>
          </a:p>
          <a:p>
            <a:r>
              <a:rPr lang="en-US" dirty="0"/>
              <a:t>Integers can be:</a:t>
            </a:r>
          </a:p>
          <a:p>
            <a:pPr lvl="1"/>
            <a:r>
              <a:rPr lang="en-US" dirty="0"/>
              <a:t>Positive </a:t>
            </a:r>
          </a:p>
          <a:p>
            <a:pPr lvl="1"/>
            <a:r>
              <a:rPr lang="en-US" dirty="0"/>
              <a:t>Negative </a:t>
            </a:r>
          </a:p>
          <a:p>
            <a:pPr lvl="1"/>
            <a:r>
              <a:rPr lang="en-US" dirty="0"/>
              <a:t>Zero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Example: </a:t>
            </a:r>
          </a:p>
          <a:p>
            <a:pPr marL="457200" lvl="1" indent="0">
              <a:buNone/>
            </a:pPr>
            <a:r>
              <a:rPr lang="en-US" dirty="0"/>
              <a:t>-250</a:t>
            </a:r>
          </a:p>
          <a:p>
            <a:pPr marL="457200" lvl="1" indent="0">
              <a:buNone/>
            </a:pPr>
            <a:r>
              <a:rPr lang="en-US" dirty="0"/>
              <a:t>-1</a:t>
            </a:r>
          </a:p>
          <a:p>
            <a:pPr marL="457200" lvl="1" indent="0">
              <a:buNone/>
            </a:pPr>
            <a:r>
              <a:rPr lang="en-US" dirty="0"/>
              <a:t>0</a:t>
            </a:r>
          </a:p>
          <a:p>
            <a:pPr marL="457200" lvl="1" indent="0">
              <a:buNone/>
            </a:pPr>
            <a:r>
              <a:rPr lang="en-US" dirty="0"/>
              <a:t>7</a:t>
            </a:r>
          </a:p>
          <a:p>
            <a:pPr marL="457200" lvl="1" indent="0">
              <a:buNone/>
            </a:pPr>
            <a:r>
              <a:rPr lang="en-US" dirty="0"/>
              <a:t>25</a:t>
            </a:r>
          </a:p>
          <a:p>
            <a:pPr marL="457200" lvl="1" indent="0">
              <a:buNone/>
            </a:pPr>
            <a:r>
              <a:rPr lang="en-US" dirty="0"/>
              <a:t>1000</a:t>
            </a:r>
          </a:p>
          <a:p>
            <a:pPr marL="457200" lvl="1" indent="0">
              <a:buNone/>
            </a:pPr>
            <a:r>
              <a:rPr lang="en-US" dirty="0"/>
              <a:t>987654321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787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Python represents integers using the built-in </a:t>
            </a:r>
            <a:r>
              <a:rPr lang="en-US" b="1" dirty="0" err="1"/>
              <a:t>int</a:t>
            </a:r>
            <a:r>
              <a:rPr lang="en-US" dirty="0"/>
              <a:t> type.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x = 25 </a:t>
            </a:r>
          </a:p>
          <a:p>
            <a:pPr marL="0" indent="0">
              <a:buNone/>
            </a:pPr>
            <a:r>
              <a:rPr lang="en-IN" dirty="0"/>
              <a:t>print(type(x))</a:t>
            </a:r>
          </a:p>
        </p:txBody>
      </p:sp>
      <p:pic>
        <p:nvPicPr>
          <p:cNvPr id="5" name="Picture 4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62258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628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Importance of Integer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Integers are used in almost every software application.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 include:</a:t>
            </a:r>
          </a:p>
          <a:p>
            <a:pPr lvl="1"/>
            <a:r>
              <a:rPr lang="en-US" dirty="0"/>
              <a:t>Student roll numbers </a:t>
            </a:r>
          </a:p>
          <a:p>
            <a:pPr lvl="1"/>
            <a:r>
              <a:rPr lang="en-US" dirty="0"/>
              <a:t>Mobile OTPs </a:t>
            </a:r>
          </a:p>
          <a:p>
            <a:pPr lvl="1"/>
            <a:r>
              <a:rPr lang="en-US" dirty="0"/>
              <a:t>Bank account balances (stored in smallest currency unit) </a:t>
            </a:r>
          </a:p>
          <a:p>
            <a:pPr lvl="1"/>
            <a:r>
              <a:rPr lang="en-US" dirty="0"/>
              <a:t>Inventory counts </a:t>
            </a:r>
          </a:p>
          <a:p>
            <a:pPr lvl="1"/>
            <a:r>
              <a:rPr lang="en-US" dirty="0"/>
              <a:t>Number of users </a:t>
            </a:r>
          </a:p>
          <a:p>
            <a:pPr lvl="1"/>
            <a:r>
              <a:rPr lang="en-US" dirty="0"/>
              <a:t>Population statistics </a:t>
            </a:r>
          </a:p>
          <a:p>
            <a:pPr lvl="1"/>
            <a:r>
              <a:rPr lang="en-US" dirty="0"/>
              <a:t>AI dataset indexing </a:t>
            </a:r>
          </a:p>
          <a:p>
            <a:pPr lvl="1"/>
            <a:r>
              <a:rPr lang="en-US" dirty="0"/>
              <a:t>Image pixel coordinates </a:t>
            </a:r>
          </a:p>
          <a:p>
            <a:pPr lvl="1"/>
            <a:r>
              <a:rPr lang="en-US" dirty="0"/>
              <a:t>Epoch timestamps </a:t>
            </a:r>
          </a:p>
          <a:p>
            <a:pPr lvl="1"/>
            <a:r>
              <a:rPr lang="en-US" dirty="0"/>
              <a:t>Cryptography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969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Integer vs Floating Point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497225"/>
              </p:ext>
            </p:extLst>
          </p:nvPr>
        </p:nvGraphicFramePr>
        <p:xfrm>
          <a:off x="467139" y="1690688"/>
          <a:ext cx="1051560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6964038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340975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Integer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Float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287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25.0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665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 dirty="0"/>
                        <a:t>-12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-12.75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72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No decimal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Contains 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359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Exact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Approximate representation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863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Faster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Slightly 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12695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80524" y="5095945"/>
            <a:ext cx="2079544" cy="1692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600" dirty="0"/>
              <a:t>a = 25 </a:t>
            </a:r>
          </a:p>
          <a:p>
            <a:r>
              <a:rPr lang="en-IN" sz="2600" dirty="0"/>
              <a:t>b = 25.0 </a:t>
            </a:r>
          </a:p>
          <a:p>
            <a:r>
              <a:rPr lang="en-IN" sz="2600" dirty="0"/>
              <a:t>print(type(a)) </a:t>
            </a:r>
          </a:p>
          <a:p>
            <a:r>
              <a:rPr lang="en-IN" sz="2600" dirty="0"/>
              <a:t>print(type(b))</a:t>
            </a:r>
          </a:p>
        </p:txBody>
      </p:sp>
      <p:pic>
        <p:nvPicPr>
          <p:cNvPr id="6" name="Picture 5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88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Integer Representation in Memory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Unlike C,</a:t>
            </a:r>
          </a:p>
          <a:p>
            <a:r>
              <a:rPr lang="en-US" dirty="0"/>
              <a:t>Python integers are </a:t>
            </a:r>
            <a:r>
              <a:rPr lang="en-US" b="1" dirty="0"/>
              <a:t>objects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IN" dirty="0"/>
              <a:t>x = 25</a:t>
            </a:r>
          </a:p>
          <a:p>
            <a:pPr marL="0" indent="0">
              <a:buNone/>
            </a:pPr>
            <a:r>
              <a:rPr lang="en-IN" dirty="0"/>
              <a:t>		Variable x  --------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Integer Object (25)</a:t>
            </a:r>
            <a:endParaRPr lang="en-US" dirty="0"/>
          </a:p>
          <a:p>
            <a:endParaRPr lang="en-US" dirty="0"/>
          </a:p>
          <a:p>
            <a:r>
              <a:rPr lang="en-US" dirty="0"/>
              <a:t>Variables store references, not raw values.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361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Everything is an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x = 10</a:t>
            </a:r>
          </a:p>
          <a:p>
            <a:pPr marL="0" indent="0">
              <a:buNone/>
            </a:pPr>
            <a:r>
              <a:rPr lang="en-IN" dirty="0"/>
              <a:t>print(type(x))</a:t>
            </a:r>
          </a:p>
          <a:p>
            <a:endParaRPr lang="en-US" dirty="0"/>
          </a:p>
          <a:p>
            <a:r>
              <a:rPr lang="en-US" dirty="0"/>
              <a:t>An integer object contains</a:t>
            </a:r>
          </a:p>
          <a:p>
            <a:pPr lvl="1"/>
            <a:r>
              <a:rPr lang="en-US" dirty="0"/>
              <a:t>Value </a:t>
            </a:r>
          </a:p>
          <a:p>
            <a:pPr lvl="1"/>
            <a:r>
              <a:rPr lang="en-US" dirty="0"/>
              <a:t>Type </a:t>
            </a:r>
          </a:p>
          <a:p>
            <a:pPr lvl="1"/>
            <a:r>
              <a:rPr lang="en-US" dirty="0"/>
              <a:t>Reference count </a:t>
            </a:r>
          </a:p>
          <a:p>
            <a:pPr lvl="1"/>
            <a:r>
              <a:rPr lang="en-US" dirty="0"/>
              <a:t>Internal metadata</a:t>
            </a:r>
          </a:p>
          <a:p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933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Arbitrary Precision Integers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Python's biggest advantages.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261086"/>
              </p:ext>
            </p:extLst>
          </p:nvPr>
        </p:nvGraphicFramePr>
        <p:xfrm>
          <a:off x="1342886" y="2919528"/>
          <a:ext cx="10319026" cy="2199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42366">
                  <a:extLst>
                    <a:ext uri="{9D8B030D-6E8A-4147-A177-3AD203B41FA5}">
                      <a16:colId xmlns:a16="http://schemas.microsoft.com/office/drawing/2014/main" val="1193791"/>
                    </a:ext>
                  </a:extLst>
                </a:gridCol>
                <a:gridCol w="7076660">
                  <a:extLst>
                    <a:ext uri="{9D8B030D-6E8A-4147-A177-3AD203B41FA5}">
                      <a16:colId xmlns:a16="http://schemas.microsoft.com/office/drawing/2014/main" val="2219020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200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int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 = 999999999999999999999999999999999999999999 </a:t>
                      </a:r>
                    </a:p>
                    <a:p>
                      <a:r>
                        <a:rPr lang="en-IN" dirty="0"/>
                        <a:t>print(x)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39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usually store: 32 bits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Maximum: </a:t>
                      </a:r>
                      <a:r>
                        <a:rPr lang="en-IN" dirty="0"/>
                        <a:t>2,147,483,647</a:t>
                      </a:r>
                      <a:endParaRPr lang="en-US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 prints the complete number.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No practical upper limit (other than available memory).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193485"/>
                  </a:ext>
                </a:extLst>
              </a:tr>
            </a:tbl>
          </a:graphicData>
        </a:graphic>
      </p:graphicFrame>
      <p:pic>
        <p:nvPicPr>
          <p:cNvPr id="5" name="Picture 4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71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Supports Large Integers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Applications:</a:t>
            </a:r>
          </a:p>
          <a:p>
            <a:pPr lvl="1"/>
            <a:r>
              <a:rPr lang="en-IN" dirty="0"/>
              <a:t>Cryptography </a:t>
            </a:r>
          </a:p>
          <a:p>
            <a:pPr lvl="1"/>
            <a:r>
              <a:rPr lang="en-IN" dirty="0" err="1"/>
              <a:t>Blockchain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Scientific Computing </a:t>
            </a:r>
          </a:p>
          <a:p>
            <a:pPr lvl="1"/>
            <a:r>
              <a:rPr lang="en-IN" dirty="0"/>
              <a:t>Astronomy </a:t>
            </a:r>
          </a:p>
          <a:p>
            <a:pPr lvl="1"/>
            <a:r>
              <a:rPr lang="en-IN" dirty="0"/>
              <a:t>AI </a:t>
            </a:r>
          </a:p>
          <a:p>
            <a:pPr lvl="1"/>
            <a:r>
              <a:rPr lang="en-IN" dirty="0"/>
              <a:t>Financial Systems </a:t>
            </a:r>
          </a:p>
          <a:p>
            <a:pPr lvl="1"/>
            <a:r>
              <a:rPr lang="en-IN" dirty="0"/>
              <a:t>RSA Encryption</a:t>
            </a:r>
          </a:p>
          <a:p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41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545417" cy="503237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Creating Integers</a:t>
            </a:r>
          </a:p>
          <a:p>
            <a:pPr marL="0" indent="0">
              <a:buNone/>
            </a:pPr>
            <a:r>
              <a:rPr lang="pt-BR" dirty="0"/>
              <a:t>a = 10 </a:t>
            </a:r>
          </a:p>
          <a:p>
            <a:pPr marL="0" indent="0">
              <a:buNone/>
            </a:pPr>
            <a:r>
              <a:rPr lang="pt-BR" dirty="0"/>
              <a:t>b = -50 </a:t>
            </a:r>
          </a:p>
          <a:p>
            <a:pPr marL="0" indent="0">
              <a:buNone/>
            </a:pPr>
            <a:r>
              <a:rPr lang="pt-BR" dirty="0"/>
              <a:t>c = 0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en-IN" b="1" dirty="0"/>
              <a:t>Checking Integer Type</a:t>
            </a:r>
          </a:p>
          <a:p>
            <a:pPr marL="0" indent="0">
              <a:buNone/>
            </a:pPr>
            <a:r>
              <a:rPr lang="en-IN" dirty="0"/>
              <a:t>x = 100 </a:t>
            </a:r>
          </a:p>
          <a:p>
            <a:pPr marL="0" indent="0">
              <a:buNone/>
            </a:pPr>
            <a:r>
              <a:rPr lang="en-IN" dirty="0"/>
              <a:t>print(type(x))</a:t>
            </a:r>
            <a:endParaRPr lang="en-IN" b="1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017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Integer Literals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Python allows multiple number systems.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540243"/>
              </p:ext>
            </p:extLst>
          </p:nvPr>
        </p:nvGraphicFramePr>
        <p:xfrm>
          <a:off x="1236870" y="2747248"/>
          <a:ext cx="8808280" cy="259337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02070">
                  <a:extLst>
                    <a:ext uri="{9D8B030D-6E8A-4147-A177-3AD203B41FA5}">
                      <a16:colId xmlns:a16="http://schemas.microsoft.com/office/drawing/2014/main" val="3799955092"/>
                    </a:ext>
                  </a:extLst>
                </a:gridCol>
                <a:gridCol w="2202070">
                  <a:extLst>
                    <a:ext uri="{9D8B030D-6E8A-4147-A177-3AD203B41FA5}">
                      <a16:colId xmlns:a16="http://schemas.microsoft.com/office/drawing/2014/main" val="3003008057"/>
                    </a:ext>
                  </a:extLst>
                </a:gridCol>
                <a:gridCol w="2202070">
                  <a:extLst>
                    <a:ext uri="{9D8B030D-6E8A-4147-A177-3AD203B41FA5}">
                      <a16:colId xmlns:a16="http://schemas.microsoft.com/office/drawing/2014/main" val="2684800540"/>
                    </a:ext>
                  </a:extLst>
                </a:gridCol>
                <a:gridCol w="2202070">
                  <a:extLst>
                    <a:ext uri="{9D8B030D-6E8A-4147-A177-3AD203B41FA5}">
                      <a16:colId xmlns:a16="http://schemas.microsoft.com/office/drawing/2014/main" val="2036459417"/>
                    </a:ext>
                  </a:extLst>
                </a:gridCol>
              </a:tblGrid>
              <a:tr h="86445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Octal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Hexadecimal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532171"/>
                  </a:ext>
                </a:extLst>
              </a:tr>
              <a:tr h="86445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 =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 = 0b11001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 = 0o31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 = 0x19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981608"/>
                  </a:ext>
                </a:extLst>
              </a:tr>
              <a:tr h="864459">
                <a:tc gridSpan="4"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All represent 25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772708"/>
                  </a:ext>
                </a:extLst>
              </a:tr>
            </a:tbl>
          </a:graphicData>
        </a:graphic>
      </p:graphicFrame>
      <p:pic>
        <p:nvPicPr>
          <p:cNvPr id="5" name="Picture 4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119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Binary Numbers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618774"/>
              </p:ext>
            </p:extLst>
          </p:nvPr>
        </p:nvGraphicFramePr>
        <p:xfrm>
          <a:off x="838200" y="1690688"/>
          <a:ext cx="7497417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9139">
                  <a:extLst>
                    <a:ext uri="{9D8B030D-6E8A-4147-A177-3AD203B41FA5}">
                      <a16:colId xmlns:a16="http://schemas.microsoft.com/office/drawing/2014/main" val="872285093"/>
                    </a:ext>
                  </a:extLst>
                </a:gridCol>
                <a:gridCol w="2961956">
                  <a:extLst>
                    <a:ext uri="{9D8B030D-6E8A-4147-A177-3AD203B41FA5}">
                      <a16:colId xmlns:a16="http://schemas.microsoft.com/office/drawing/2014/main" val="4255020077"/>
                    </a:ext>
                  </a:extLst>
                </a:gridCol>
                <a:gridCol w="2036322">
                  <a:extLst>
                    <a:ext uri="{9D8B030D-6E8A-4147-A177-3AD203B41FA5}">
                      <a16:colId xmlns:a16="http://schemas.microsoft.com/office/drawing/2014/main" val="3136440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Base = 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Output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293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 </a:t>
                      </a:r>
                    </a:p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 = 0b1010 </a:t>
                      </a:r>
                    </a:p>
                    <a:p>
                      <a:r>
                        <a:rPr lang="en-IN" dirty="0"/>
                        <a:t>print(x)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214408"/>
                  </a:ext>
                </a:extLst>
              </a:tr>
            </a:tbl>
          </a:graphicData>
        </a:graphic>
      </p:graphicFrame>
      <p:pic>
        <p:nvPicPr>
          <p:cNvPr id="5" name="Picture 4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264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Octal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146241"/>
              </p:ext>
            </p:extLst>
          </p:nvPr>
        </p:nvGraphicFramePr>
        <p:xfrm>
          <a:off x="838200" y="1690688"/>
          <a:ext cx="7497417" cy="2656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9139">
                  <a:extLst>
                    <a:ext uri="{9D8B030D-6E8A-4147-A177-3AD203B41FA5}">
                      <a16:colId xmlns:a16="http://schemas.microsoft.com/office/drawing/2014/main" val="872285093"/>
                    </a:ext>
                  </a:extLst>
                </a:gridCol>
                <a:gridCol w="2961956">
                  <a:extLst>
                    <a:ext uri="{9D8B030D-6E8A-4147-A177-3AD203B41FA5}">
                      <a16:colId xmlns:a16="http://schemas.microsoft.com/office/drawing/2014/main" val="4255020077"/>
                    </a:ext>
                  </a:extLst>
                </a:gridCol>
                <a:gridCol w="2036322">
                  <a:extLst>
                    <a:ext uri="{9D8B030D-6E8A-4147-A177-3AD203B41FA5}">
                      <a16:colId xmlns:a16="http://schemas.microsoft.com/office/drawing/2014/main" val="3136440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Base = 8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Output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293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 </a:t>
                      </a:r>
                    </a:p>
                    <a:p>
                      <a:r>
                        <a:rPr lang="en-IN" dirty="0"/>
                        <a:t>1</a:t>
                      </a:r>
                    </a:p>
                    <a:p>
                      <a:r>
                        <a:rPr lang="en-US" dirty="0"/>
                        <a:t>2</a:t>
                      </a:r>
                    </a:p>
                    <a:p>
                      <a:r>
                        <a:rPr lang="en-US" dirty="0"/>
                        <a:t>3</a:t>
                      </a:r>
                    </a:p>
                    <a:p>
                      <a:r>
                        <a:rPr lang="en-US" dirty="0"/>
                        <a:t>4</a:t>
                      </a:r>
                    </a:p>
                    <a:p>
                      <a:r>
                        <a:rPr lang="en-US" dirty="0"/>
                        <a:t>5</a:t>
                      </a:r>
                    </a:p>
                    <a:p>
                      <a:r>
                        <a:rPr lang="en-US" dirty="0"/>
                        <a:t>6</a:t>
                      </a:r>
                    </a:p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 = 0o25 </a:t>
                      </a:r>
                    </a:p>
                    <a:p>
                      <a:r>
                        <a:rPr lang="en-IN" dirty="0"/>
                        <a:t>print(x)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214408"/>
                  </a:ext>
                </a:extLst>
              </a:tr>
            </a:tbl>
          </a:graphicData>
        </a:graphic>
      </p:graphicFrame>
      <p:pic>
        <p:nvPicPr>
          <p:cNvPr id="5" name="Picture 4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8591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Hexadecimal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443735"/>
              </p:ext>
            </p:extLst>
          </p:nvPr>
        </p:nvGraphicFramePr>
        <p:xfrm>
          <a:off x="838200" y="1690688"/>
          <a:ext cx="7497417" cy="4851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9139">
                  <a:extLst>
                    <a:ext uri="{9D8B030D-6E8A-4147-A177-3AD203B41FA5}">
                      <a16:colId xmlns:a16="http://schemas.microsoft.com/office/drawing/2014/main" val="872285093"/>
                    </a:ext>
                  </a:extLst>
                </a:gridCol>
                <a:gridCol w="2961956">
                  <a:extLst>
                    <a:ext uri="{9D8B030D-6E8A-4147-A177-3AD203B41FA5}">
                      <a16:colId xmlns:a16="http://schemas.microsoft.com/office/drawing/2014/main" val="4255020077"/>
                    </a:ext>
                  </a:extLst>
                </a:gridCol>
                <a:gridCol w="2036322">
                  <a:extLst>
                    <a:ext uri="{9D8B030D-6E8A-4147-A177-3AD203B41FA5}">
                      <a16:colId xmlns:a16="http://schemas.microsoft.com/office/drawing/2014/main" val="3136440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Base = 16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Output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293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 </a:t>
                      </a:r>
                    </a:p>
                    <a:p>
                      <a:r>
                        <a:rPr lang="en-IN" dirty="0"/>
                        <a:t>1</a:t>
                      </a:r>
                    </a:p>
                    <a:p>
                      <a:r>
                        <a:rPr lang="en-US" dirty="0"/>
                        <a:t>2</a:t>
                      </a:r>
                    </a:p>
                    <a:p>
                      <a:r>
                        <a:rPr lang="en-US" dirty="0"/>
                        <a:t>3</a:t>
                      </a:r>
                    </a:p>
                    <a:p>
                      <a:r>
                        <a:rPr lang="en-US" dirty="0"/>
                        <a:t>4</a:t>
                      </a:r>
                    </a:p>
                    <a:p>
                      <a:r>
                        <a:rPr lang="en-US" dirty="0"/>
                        <a:t>5</a:t>
                      </a:r>
                    </a:p>
                    <a:p>
                      <a:r>
                        <a:rPr lang="en-US" dirty="0"/>
                        <a:t>6</a:t>
                      </a:r>
                    </a:p>
                    <a:p>
                      <a:r>
                        <a:rPr lang="en-US" dirty="0"/>
                        <a:t>7</a:t>
                      </a:r>
                    </a:p>
                    <a:p>
                      <a:r>
                        <a:rPr lang="en-US" dirty="0"/>
                        <a:t>8</a:t>
                      </a:r>
                    </a:p>
                    <a:p>
                      <a:r>
                        <a:rPr lang="en-US" dirty="0"/>
                        <a:t>9</a:t>
                      </a:r>
                    </a:p>
                    <a:p>
                      <a:r>
                        <a:rPr lang="en-US" dirty="0"/>
                        <a:t>A</a:t>
                      </a:r>
                    </a:p>
                    <a:p>
                      <a:r>
                        <a:rPr lang="en-US" dirty="0"/>
                        <a:t>B</a:t>
                      </a:r>
                    </a:p>
                    <a:p>
                      <a:r>
                        <a:rPr lang="en-US" dirty="0"/>
                        <a:t>C</a:t>
                      </a:r>
                    </a:p>
                    <a:p>
                      <a:r>
                        <a:rPr lang="en-US" dirty="0"/>
                        <a:t>D</a:t>
                      </a:r>
                    </a:p>
                    <a:p>
                      <a:r>
                        <a:rPr lang="en-US" dirty="0"/>
                        <a:t>E</a:t>
                      </a:r>
                    </a:p>
                    <a:p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 = 0xFF </a:t>
                      </a:r>
                    </a:p>
                    <a:p>
                      <a:r>
                        <a:rPr lang="en-IN" dirty="0"/>
                        <a:t>print(x)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214408"/>
                  </a:ext>
                </a:extLst>
              </a:tr>
            </a:tbl>
          </a:graphicData>
        </a:graphic>
      </p:graphicFrame>
      <p:pic>
        <p:nvPicPr>
          <p:cNvPr id="5" name="Picture 4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164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Number Base Conversion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458801"/>
              </p:ext>
            </p:extLst>
          </p:nvPr>
        </p:nvGraphicFramePr>
        <p:xfrm>
          <a:off x="587513" y="2031631"/>
          <a:ext cx="9682923" cy="261988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27641">
                  <a:extLst>
                    <a:ext uri="{9D8B030D-6E8A-4147-A177-3AD203B41FA5}">
                      <a16:colId xmlns:a16="http://schemas.microsoft.com/office/drawing/2014/main" val="1284905886"/>
                    </a:ext>
                  </a:extLst>
                </a:gridCol>
                <a:gridCol w="3227641">
                  <a:extLst>
                    <a:ext uri="{9D8B030D-6E8A-4147-A177-3AD203B41FA5}">
                      <a16:colId xmlns:a16="http://schemas.microsoft.com/office/drawing/2014/main" val="4191795269"/>
                    </a:ext>
                  </a:extLst>
                </a:gridCol>
                <a:gridCol w="3227641">
                  <a:extLst>
                    <a:ext uri="{9D8B030D-6E8A-4147-A177-3AD203B41FA5}">
                      <a16:colId xmlns:a16="http://schemas.microsoft.com/office/drawing/2014/main" val="2890651426"/>
                    </a:ext>
                  </a:extLst>
                </a:gridCol>
              </a:tblGrid>
              <a:tr h="873294">
                <a:tc>
                  <a:txBody>
                    <a:bodyPr/>
                    <a:lstStyle/>
                    <a:p>
                      <a:r>
                        <a:rPr lang="en-IN" dirty="0"/>
                        <a:t>Decimal → 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Decimal → Octal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Decimal → Hexadecimal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290278"/>
                  </a:ext>
                </a:extLst>
              </a:tr>
              <a:tr h="873294">
                <a:tc>
                  <a:txBody>
                    <a:bodyPr/>
                    <a:lstStyle/>
                    <a:p>
                      <a:r>
                        <a:rPr lang="en-IN" dirty="0"/>
                        <a:t>bin(25)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oct</a:t>
                      </a:r>
                      <a:r>
                        <a:rPr lang="en-IN" dirty="0"/>
                        <a:t>(25)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hex(25)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90411"/>
                  </a:ext>
                </a:extLst>
              </a:tr>
              <a:tr h="873294">
                <a:tc>
                  <a:txBody>
                    <a:bodyPr/>
                    <a:lstStyle/>
                    <a:p>
                      <a:r>
                        <a:rPr lang="en-IN" b="1" dirty="0"/>
                        <a:t>OUTPUT</a:t>
                      </a:r>
                      <a:r>
                        <a:rPr lang="en-IN" dirty="0"/>
                        <a:t>: 0b11001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0o31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0x19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038392"/>
                  </a:ext>
                </a:extLst>
              </a:tr>
            </a:tbl>
          </a:graphicData>
        </a:graphic>
      </p:graphicFrame>
      <p:pic>
        <p:nvPicPr>
          <p:cNvPr id="5" name="Picture 4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694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Integer Arithmetic Operators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48256"/>
              </p:ext>
            </p:extLst>
          </p:nvPr>
        </p:nvGraphicFramePr>
        <p:xfrm>
          <a:off x="732183" y="1951119"/>
          <a:ext cx="4316895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1904">
                  <a:extLst>
                    <a:ext uri="{9D8B030D-6E8A-4147-A177-3AD203B41FA5}">
                      <a16:colId xmlns:a16="http://schemas.microsoft.com/office/drawing/2014/main" val="4108591423"/>
                    </a:ext>
                  </a:extLst>
                </a:gridCol>
                <a:gridCol w="2994991">
                  <a:extLst>
                    <a:ext uri="{9D8B030D-6E8A-4147-A177-3AD203B41FA5}">
                      <a16:colId xmlns:a16="http://schemas.microsoft.com/office/drawing/2014/main" val="3788346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Operator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120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Addition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56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Subtraction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02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Multiplication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9487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Division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8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//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Floor Division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216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Modulus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120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42974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169426" y="1951119"/>
            <a:ext cx="446598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dirty="0"/>
              <a:t>a = 20</a:t>
            </a:r>
          </a:p>
          <a:p>
            <a:r>
              <a:rPr lang="en-IN" sz="2600" dirty="0"/>
              <a:t>b = 6</a:t>
            </a:r>
          </a:p>
          <a:p>
            <a:endParaRPr lang="en-IN" sz="2600" dirty="0"/>
          </a:p>
          <a:p>
            <a:r>
              <a:rPr lang="en-IN" sz="2600" dirty="0"/>
              <a:t>print(</a:t>
            </a:r>
            <a:r>
              <a:rPr lang="en-IN" sz="2600" dirty="0" err="1"/>
              <a:t>a+b</a:t>
            </a:r>
            <a:r>
              <a:rPr lang="en-IN" sz="2600" dirty="0"/>
              <a:t>)</a:t>
            </a:r>
          </a:p>
          <a:p>
            <a:r>
              <a:rPr lang="en-IN" sz="2600" dirty="0"/>
              <a:t>print(a-b)</a:t>
            </a:r>
          </a:p>
          <a:p>
            <a:r>
              <a:rPr lang="en-IN" sz="2600" dirty="0"/>
              <a:t>print(a*b)</a:t>
            </a:r>
          </a:p>
          <a:p>
            <a:r>
              <a:rPr lang="en-IN" sz="2600" dirty="0"/>
              <a:t>print(a/b)</a:t>
            </a:r>
          </a:p>
          <a:p>
            <a:r>
              <a:rPr lang="en-IN" sz="2600" dirty="0"/>
              <a:t>print(a//b)</a:t>
            </a:r>
          </a:p>
          <a:p>
            <a:r>
              <a:rPr lang="en-IN" sz="2600" dirty="0"/>
              <a:t>print(</a:t>
            </a:r>
            <a:r>
              <a:rPr lang="en-IN" sz="2600" dirty="0" err="1"/>
              <a:t>a%b</a:t>
            </a:r>
            <a:r>
              <a:rPr lang="en-IN" sz="2600" dirty="0"/>
              <a:t>)</a:t>
            </a:r>
          </a:p>
          <a:p>
            <a:r>
              <a:rPr lang="en-IN" sz="2600" dirty="0"/>
              <a:t>print(a**2)</a:t>
            </a:r>
          </a:p>
        </p:txBody>
      </p:sp>
      <p:pic>
        <p:nvPicPr>
          <p:cNvPr id="7" name="Picture 6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636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Floor Division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122966"/>
              </p:ext>
            </p:extLst>
          </p:nvPr>
        </p:nvGraphicFramePr>
        <p:xfrm>
          <a:off x="1780210" y="2371285"/>
          <a:ext cx="912633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778">
                  <a:extLst>
                    <a:ext uri="{9D8B030D-6E8A-4147-A177-3AD203B41FA5}">
                      <a16:colId xmlns:a16="http://schemas.microsoft.com/office/drawing/2014/main" val="2056791022"/>
                    </a:ext>
                  </a:extLst>
                </a:gridCol>
                <a:gridCol w="3465595">
                  <a:extLst>
                    <a:ext uri="{9D8B030D-6E8A-4147-A177-3AD203B41FA5}">
                      <a16:colId xmlns:a16="http://schemas.microsoft.com/office/drawing/2014/main" val="4207145812"/>
                    </a:ext>
                  </a:extLst>
                </a:gridCol>
                <a:gridCol w="4306957">
                  <a:extLst>
                    <a:ext uri="{9D8B030D-6E8A-4147-A177-3AD203B41FA5}">
                      <a16:colId xmlns:a16="http://schemas.microsoft.com/office/drawing/2014/main" val="3325486248"/>
                    </a:ext>
                  </a:extLst>
                </a:gridCol>
              </a:tblGrid>
              <a:tr h="416952">
                <a:tc>
                  <a:txBody>
                    <a:bodyPr/>
                    <a:lstStyle/>
                    <a:p>
                      <a:endParaRPr lang="en-IN" sz="2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>
                          <a:solidFill>
                            <a:schemeClr val="tx1"/>
                          </a:solidFill>
                        </a:rPr>
                        <a:t>Positive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>
                          <a:solidFill>
                            <a:schemeClr val="tx1"/>
                          </a:solidFill>
                        </a:rPr>
                        <a:t>Negative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628482"/>
                  </a:ext>
                </a:extLst>
              </a:tr>
              <a:tr h="416952"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</a:rPr>
                        <a:t>Program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sz="2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dirty="0">
                          <a:solidFill>
                            <a:schemeClr val="tx1"/>
                          </a:solidFill>
                        </a:rPr>
                        <a:t>20//6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dirty="0">
                          <a:solidFill>
                            <a:schemeClr val="tx1"/>
                          </a:solidFill>
                        </a:rPr>
                        <a:t>-20//6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807600"/>
                  </a:ext>
                </a:extLst>
              </a:tr>
              <a:tr h="416952"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IN" sz="2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>
                          <a:solidFill>
                            <a:schemeClr val="tx1"/>
                          </a:solidFill>
                        </a:rPr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248358"/>
                  </a:ext>
                </a:extLst>
              </a:tr>
              <a:tr h="719670"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</a:rPr>
                        <a:t>Remark</a:t>
                      </a:r>
                      <a:endParaRPr lang="en-IN" sz="2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</a:rPr>
                        <a:t>Because (</a:t>
                      </a:r>
                      <a:r>
                        <a:rPr lang="en-IN" sz="2600" dirty="0">
                          <a:solidFill>
                            <a:schemeClr val="tx1"/>
                          </a:solidFill>
                        </a:rPr>
                        <a:t>20/6=3.333) and Floor </a:t>
                      </a:r>
                      <a:endParaRPr 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</a:rPr>
                        <a:t>Python always rounds toward negative infinity.</a:t>
                      </a:r>
                      <a:endParaRPr lang="en-IN" sz="2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631293"/>
                  </a:ext>
                </a:extLst>
              </a:tr>
            </a:tbl>
          </a:graphicData>
        </a:graphic>
      </p:graphicFrame>
      <p:pic>
        <p:nvPicPr>
          <p:cNvPr id="5" name="Picture 4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344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Modulus Operator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261969"/>
              </p:ext>
            </p:extLst>
          </p:nvPr>
        </p:nvGraphicFramePr>
        <p:xfrm>
          <a:off x="7464285" y="4183616"/>
          <a:ext cx="352176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884">
                  <a:extLst>
                    <a:ext uri="{9D8B030D-6E8A-4147-A177-3AD203B41FA5}">
                      <a16:colId xmlns:a16="http://schemas.microsoft.com/office/drawing/2014/main" val="739536368"/>
                    </a:ext>
                  </a:extLst>
                </a:gridCol>
                <a:gridCol w="1760884">
                  <a:extLst>
                    <a:ext uri="{9D8B030D-6E8A-4147-A177-3AD203B41FA5}">
                      <a16:colId xmlns:a16="http://schemas.microsoft.com/office/drawing/2014/main" val="31620009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Power Operator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87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Program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2**10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392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1024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997976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086065"/>
              </p:ext>
            </p:extLst>
          </p:nvPr>
        </p:nvGraphicFramePr>
        <p:xfrm>
          <a:off x="494749" y="1690688"/>
          <a:ext cx="5031408" cy="360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339">
                  <a:extLst>
                    <a:ext uri="{9D8B030D-6E8A-4147-A177-3AD203B41FA5}">
                      <a16:colId xmlns:a16="http://schemas.microsoft.com/office/drawing/2014/main" val="2056791022"/>
                    </a:ext>
                  </a:extLst>
                </a:gridCol>
                <a:gridCol w="3618069">
                  <a:extLst>
                    <a:ext uri="{9D8B030D-6E8A-4147-A177-3AD203B41FA5}">
                      <a16:colId xmlns:a16="http://schemas.microsoft.com/office/drawing/2014/main" val="4207145812"/>
                    </a:ext>
                  </a:extLst>
                </a:gridCol>
              </a:tblGrid>
              <a:tr h="568397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Modulus Operator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628482"/>
                  </a:ext>
                </a:extLst>
              </a:tr>
              <a:tr h="56839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Program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20%6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807600"/>
                  </a:ext>
                </a:extLst>
              </a:tr>
              <a:tr h="56839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248358"/>
                  </a:ext>
                </a:extLst>
              </a:tr>
              <a:tr h="190025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Remark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Useful for: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Even/Odd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Leap year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Circular indexing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Hashing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631293"/>
                  </a:ext>
                </a:extLst>
              </a:tr>
            </a:tbl>
          </a:graphicData>
        </a:graphic>
      </p:graphicFrame>
      <p:pic>
        <p:nvPicPr>
          <p:cNvPr id="6" name="Picture 5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830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Operators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4264775"/>
              </p:ext>
            </p:extLst>
          </p:nvPr>
        </p:nvGraphicFramePr>
        <p:xfrm>
          <a:off x="838200" y="1825625"/>
          <a:ext cx="1051560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071654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83640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187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a=20 </a:t>
                      </a:r>
                    </a:p>
                    <a:p>
                      <a:r>
                        <a:rPr lang="en-IN" dirty="0"/>
                        <a:t>b=30 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print(a&gt;b) 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print(a&lt;b) 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print(a==b) 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print(a!=b)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False 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True 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False 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171480"/>
                  </a:ext>
                </a:extLst>
              </a:tr>
            </a:tbl>
          </a:graphicData>
        </a:graphic>
      </p:graphicFrame>
      <p:pic>
        <p:nvPicPr>
          <p:cNvPr id="5" name="Picture 4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105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x=10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x+=5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x*=2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x-=4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135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Integer Conversion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49664"/>
              </p:ext>
            </p:extLst>
          </p:nvPr>
        </p:nvGraphicFramePr>
        <p:xfrm>
          <a:off x="1170609" y="3038793"/>
          <a:ext cx="10411790" cy="2419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82358">
                  <a:extLst>
                    <a:ext uri="{9D8B030D-6E8A-4147-A177-3AD203B41FA5}">
                      <a16:colId xmlns:a16="http://schemas.microsoft.com/office/drawing/2014/main" val="635006876"/>
                    </a:ext>
                  </a:extLst>
                </a:gridCol>
                <a:gridCol w="2082358">
                  <a:extLst>
                    <a:ext uri="{9D8B030D-6E8A-4147-A177-3AD203B41FA5}">
                      <a16:colId xmlns:a16="http://schemas.microsoft.com/office/drawing/2014/main" val="805400214"/>
                    </a:ext>
                  </a:extLst>
                </a:gridCol>
                <a:gridCol w="2082358">
                  <a:extLst>
                    <a:ext uri="{9D8B030D-6E8A-4147-A177-3AD203B41FA5}">
                      <a16:colId xmlns:a16="http://schemas.microsoft.com/office/drawing/2014/main" val="3326401522"/>
                    </a:ext>
                  </a:extLst>
                </a:gridCol>
                <a:gridCol w="2082358">
                  <a:extLst>
                    <a:ext uri="{9D8B030D-6E8A-4147-A177-3AD203B41FA5}">
                      <a16:colId xmlns:a16="http://schemas.microsoft.com/office/drawing/2014/main" val="1131514785"/>
                    </a:ext>
                  </a:extLst>
                </a:gridCol>
                <a:gridCol w="2082358">
                  <a:extLst>
                    <a:ext uri="{9D8B030D-6E8A-4147-A177-3AD203B41FA5}">
                      <a16:colId xmlns:a16="http://schemas.microsoft.com/office/drawing/2014/main" val="2090043898"/>
                    </a:ext>
                  </a:extLst>
                </a:gridCol>
              </a:tblGrid>
              <a:tr h="80636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Float to 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Boolean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072861"/>
                  </a:ext>
                </a:extLst>
              </a:tr>
              <a:tr h="80636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Program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int</a:t>
                      </a:r>
                      <a:r>
                        <a:rPr lang="en-IN" dirty="0"/>
                        <a:t>("25")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int</a:t>
                      </a:r>
                      <a:r>
                        <a:rPr lang="en-IN" dirty="0"/>
                        <a:t>(25.9)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int</a:t>
                      </a:r>
                      <a:r>
                        <a:rPr lang="en-IN" dirty="0"/>
                        <a:t>(True)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int</a:t>
                      </a:r>
                      <a:r>
                        <a:rPr lang="en-IN" dirty="0"/>
                        <a:t>(False)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26385"/>
                  </a:ext>
                </a:extLst>
              </a:tr>
              <a:tr h="80636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503089"/>
                  </a:ext>
                </a:extLst>
              </a:tr>
            </a:tbl>
          </a:graphicData>
        </a:graphic>
      </p:graphicFrame>
      <p:pic>
        <p:nvPicPr>
          <p:cNvPr id="5" name="Picture 4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092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Invalid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("</a:t>
            </a:r>
            <a:r>
              <a:rPr lang="en-IN" dirty="0" err="1"/>
              <a:t>abc</a:t>
            </a:r>
            <a:r>
              <a:rPr lang="en-IN" dirty="0"/>
              <a:t>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Output</a:t>
            </a:r>
            <a:r>
              <a:rPr lang="en-US" dirty="0"/>
              <a:t>: </a:t>
            </a:r>
            <a:r>
              <a:rPr lang="en-IN" dirty="0" err="1"/>
              <a:t>ValueError</a:t>
            </a: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166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Integer Functions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03070"/>
              </p:ext>
            </p:extLst>
          </p:nvPr>
        </p:nvGraphicFramePr>
        <p:xfrm>
          <a:off x="454987" y="1978623"/>
          <a:ext cx="10531064" cy="1480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213">
                  <a:extLst>
                    <a:ext uri="{9D8B030D-6E8A-4147-A177-3AD203B41FA5}">
                      <a16:colId xmlns:a16="http://schemas.microsoft.com/office/drawing/2014/main" val="3412458242"/>
                    </a:ext>
                  </a:extLst>
                </a:gridCol>
                <a:gridCol w="1467461">
                  <a:extLst>
                    <a:ext uri="{9D8B030D-6E8A-4147-A177-3AD203B41FA5}">
                      <a16:colId xmlns:a16="http://schemas.microsoft.com/office/drawing/2014/main" val="1290188133"/>
                    </a:ext>
                  </a:extLst>
                </a:gridCol>
                <a:gridCol w="1484243">
                  <a:extLst>
                    <a:ext uri="{9D8B030D-6E8A-4147-A177-3AD203B41FA5}">
                      <a16:colId xmlns:a16="http://schemas.microsoft.com/office/drawing/2014/main" val="2798324459"/>
                    </a:ext>
                  </a:extLst>
                </a:gridCol>
                <a:gridCol w="1669774">
                  <a:extLst>
                    <a:ext uri="{9D8B030D-6E8A-4147-A177-3AD203B41FA5}">
                      <a16:colId xmlns:a16="http://schemas.microsoft.com/office/drawing/2014/main" val="971172370"/>
                    </a:ext>
                  </a:extLst>
                </a:gridCol>
                <a:gridCol w="1749287">
                  <a:extLst>
                    <a:ext uri="{9D8B030D-6E8A-4147-A177-3AD203B41FA5}">
                      <a16:colId xmlns:a16="http://schemas.microsoft.com/office/drawing/2014/main" val="3040486737"/>
                    </a:ext>
                  </a:extLst>
                </a:gridCol>
                <a:gridCol w="2054086">
                  <a:extLst>
                    <a:ext uri="{9D8B030D-6E8A-4147-A177-3AD203B41FA5}">
                      <a16:colId xmlns:a16="http://schemas.microsoft.com/office/drawing/2014/main" val="3213431970"/>
                    </a:ext>
                  </a:extLst>
                </a:gridCol>
              </a:tblGrid>
              <a:tr h="495661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Absolute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293475"/>
                  </a:ext>
                </a:extLst>
              </a:tr>
              <a:tr h="48887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Program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abs(-50)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max(5,8,2)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min(5,8,2)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pow(2,10)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sum([1,2,3])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337153"/>
                  </a:ext>
                </a:extLst>
              </a:tr>
              <a:tr h="49566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Output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794310"/>
                  </a:ext>
                </a:extLst>
              </a:tr>
            </a:tbl>
          </a:graphicData>
        </a:graphic>
      </p:graphicFrame>
      <p:pic>
        <p:nvPicPr>
          <p:cNvPr id="5" name="Picture 4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527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627609"/>
              </p:ext>
            </p:extLst>
          </p:nvPr>
        </p:nvGraphicFramePr>
        <p:xfrm>
          <a:off x="705679" y="1636527"/>
          <a:ext cx="4528930" cy="353389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64465">
                  <a:extLst>
                    <a:ext uri="{9D8B030D-6E8A-4147-A177-3AD203B41FA5}">
                      <a16:colId xmlns:a16="http://schemas.microsoft.com/office/drawing/2014/main" val="2063800720"/>
                    </a:ext>
                  </a:extLst>
                </a:gridCol>
                <a:gridCol w="2264465">
                  <a:extLst>
                    <a:ext uri="{9D8B030D-6E8A-4147-A177-3AD203B41FA5}">
                      <a16:colId xmlns:a16="http://schemas.microsoft.com/office/drawing/2014/main" val="910793153"/>
                    </a:ext>
                  </a:extLst>
                </a:gridCol>
              </a:tblGrid>
              <a:tr h="504842">
                <a:tc>
                  <a:txBody>
                    <a:bodyPr/>
                    <a:lstStyle/>
                    <a:p>
                      <a:r>
                        <a:rPr lang="en-IN" b="1" dirty="0"/>
                        <a:t>Operator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438239"/>
                  </a:ext>
                </a:extLst>
              </a:tr>
              <a:tr h="504842">
                <a:tc>
                  <a:txBody>
                    <a:bodyPr/>
                    <a:lstStyle/>
                    <a:p>
                      <a:r>
                        <a:rPr lang="en-IN"/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156823"/>
                  </a:ext>
                </a:extLst>
              </a:tr>
              <a:tr h="504842">
                <a:tc>
                  <a:txBody>
                    <a:bodyPr/>
                    <a:lstStyle/>
                    <a:p>
                      <a:r>
                        <a:rPr lang="en-IN"/>
                        <a:t>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483103"/>
                  </a:ext>
                </a:extLst>
              </a:tr>
              <a:tr h="504842">
                <a:tc>
                  <a:txBody>
                    <a:bodyPr/>
                    <a:lstStyle/>
                    <a:p>
                      <a:r>
                        <a:rPr lang="en-IN"/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XOR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374977"/>
                  </a:ext>
                </a:extLst>
              </a:tr>
              <a:tr h="504842">
                <a:tc>
                  <a:txBody>
                    <a:bodyPr/>
                    <a:lstStyle/>
                    <a:p>
                      <a:r>
                        <a:rPr lang="en-IN"/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002085"/>
                  </a:ext>
                </a:extLst>
              </a:tr>
              <a:tr h="504842">
                <a:tc>
                  <a:txBody>
                    <a:bodyPr/>
                    <a:lstStyle/>
                    <a:p>
                      <a:r>
                        <a:rPr lang="en-IN"/>
                        <a:t>&lt;&lt;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Left Shift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647225"/>
                  </a:ext>
                </a:extLst>
              </a:tr>
              <a:tr h="504842">
                <a:tc>
                  <a:txBody>
                    <a:bodyPr/>
                    <a:lstStyle/>
                    <a:p>
                      <a:r>
                        <a:rPr lang="en-IN"/>
                        <a:t>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Right Shift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973897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215271" y="1556814"/>
            <a:ext cx="446598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dirty="0"/>
              <a:t>a=10</a:t>
            </a:r>
          </a:p>
          <a:p>
            <a:endParaRPr lang="en-IN" sz="2600" dirty="0"/>
          </a:p>
          <a:p>
            <a:r>
              <a:rPr lang="en-IN" sz="2600" dirty="0"/>
              <a:t>b=6</a:t>
            </a:r>
          </a:p>
          <a:p>
            <a:endParaRPr lang="en-IN" sz="2600" dirty="0"/>
          </a:p>
          <a:p>
            <a:r>
              <a:rPr lang="en-IN" sz="2600" dirty="0"/>
              <a:t>print(</a:t>
            </a:r>
            <a:r>
              <a:rPr lang="en-IN" sz="2600" dirty="0" err="1"/>
              <a:t>a&amp;b</a:t>
            </a:r>
            <a:r>
              <a:rPr lang="en-IN" sz="2600" dirty="0"/>
              <a:t>)</a:t>
            </a:r>
          </a:p>
          <a:p>
            <a:endParaRPr lang="en-IN" sz="2600" dirty="0"/>
          </a:p>
          <a:p>
            <a:r>
              <a:rPr lang="en-IN" sz="2600" dirty="0"/>
              <a:t>print(</a:t>
            </a:r>
            <a:r>
              <a:rPr lang="en-IN" sz="2600" dirty="0" err="1"/>
              <a:t>a|b</a:t>
            </a:r>
            <a:r>
              <a:rPr lang="en-IN" sz="2600" dirty="0"/>
              <a:t>)</a:t>
            </a:r>
          </a:p>
          <a:p>
            <a:endParaRPr lang="en-IN" sz="2600" dirty="0"/>
          </a:p>
          <a:p>
            <a:r>
              <a:rPr lang="en-IN" sz="2600" dirty="0"/>
              <a:t>print(</a:t>
            </a:r>
            <a:r>
              <a:rPr lang="en-IN" sz="2600" dirty="0" err="1"/>
              <a:t>a^b</a:t>
            </a:r>
            <a:r>
              <a:rPr lang="en-IN" sz="2600" dirty="0"/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653" y="5518493"/>
            <a:ext cx="17194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Binary</a:t>
            </a:r>
          </a:p>
          <a:p>
            <a:r>
              <a:rPr lang="en-IN" dirty="0"/>
              <a:t>10=1010 </a:t>
            </a:r>
          </a:p>
          <a:p>
            <a:r>
              <a:rPr lang="en-IN" dirty="0"/>
              <a:t>6=0110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7053" y="5518493"/>
            <a:ext cx="17194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AND</a:t>
            </a:r>
          </a:p>
          <a:p>
            <a:r>
              <a:rPr lang="en-IN" dirty="0"/>
              <a:t>0010=2</a:t>
            </a:r>
          </a:p>
        </p:txBody>
      </p:sp>
      <p:pic>
        <p:nvPicPr>
          <p:cNvPr id="10" name="Picture 9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036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Left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5&lt;&lt;1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Binary</a:t>
            </a:r>
            <a:r>
              <a:rPr lang="en-IN" dirty="0"/>
              <a:t>:  101   -------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 1010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Output</a:t>
            </a:r>
            <a:r>
              <a:rPr lang="en-IN" dirty="0"/>
              <a:t>:  10</a:t>
            </a: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Equivalent to multiplication by 2 (for non-overflowing positive integers).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982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Right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20&gt;&gt;2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Output</a:t>
            </a:r>
            <a:r>
              <a:rPr lang="en-IN" dirty="0"/>
              <a:t>:  5</a:t>
            </a: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Equivalent to integer division by 2^2 = 4 for non-negative integers.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12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Integer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a=50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b=50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print(id(a)) </a:t>
            </a:r>
          </a:p>
          <a:p>
            <a:pPr marL="0" indent="0">
              <a:buNone/>
            </a:pPr>
            <a:r>
              <a:rPr lang="en-IN" dirty="0"/>
              <a:t>print(id(b))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Small integers are often reused by Python (integer interning), so the identities may match.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4299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Integer Immutability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x=10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x=20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Python creates a new integer object.</a:t>
            </a:r>
          </a:p>
          <a:p>
            <a:r>
              <a:rPr lang="en-US" dirty="0"/>
              <a:t>Integers cannot be modified.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7271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Integer Memory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err="1"/>
              <a:t>CPython</a:t>
            </a:r>
            <a:r>
              <a:rPr lang="en-US" dirty="0"/>
              <a:t> caches commonly used small integers (typically from </a:t>
            </a:r>
            <a:r>
              <a:rPr lang="en-US" b="1" dirty="0"/>
              <a:t>-5 to 256</a:t>
            </a:r>
            <a:r>
              <a:rPr lang="en-US" dirty="0"/>
              <a:t>).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a=100 </a:t>
            </a:r>
          </a:p>
          <a:p>
            <a:pPr marL="0" indent="0" algn="just">
              <a:buNone/>
            </a:pPr>
            <a:r>
              <a:rPr lang="en-US" dirty="0"/>
              <a:t>b=100 </a:t>
            </a:r>
          </a:p>
          <a:p>
            <a:pPr marL="0" indent="0" algn="just">
              <a:buNone/>
            </a:pPr>
            <a:r>
              <a:rPr lang="en-US" dirty="0"/>
              <a:t>print(a is b)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Output</a:t>
            </a:r>
            <a:r>
              <a:rPr lang="en-US" dirty="0"/>
              <a:t>: </a:t>
            </a:r>
            <a:r>
              <a:rPr lang="en-IN" dirty="0"/>
              <a:t>True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This is an implementation optimization and should not be relied upon for program logic. Use = = </a:t>
            </a:r>
            <a:r>
              <a:rPr lang="en-IN" dirty="0"/>
              <a:t>to compare values, not is.</a:t>
            </a:r>
          </a:p>
        </p:txBody>
      </p:sp>
      <p:pic>
        <p:nvPicPr>
          <p:cNvPr id="6" name="Picture 5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4878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Integer Overflow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422110"/>
              </p:ext>
            </p:extLst>
          </p:nvPr>
        </p:nvGraphicFramePr>
        <p:xfrm>
          <a:off x="263857" y="1485971"/>
          <a:ext cx="6370983" cy="2926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82078">
                  <a:extLst>
                    <a:ext uri="{9D8B030D-6E8A-4147-A177-3AD203B41FA5}">
                      <a16:colId xmlns:a16="http://schemas.microsoft.com/office/drawing/2014/main" val="2689052347"/>
                    </a:ext>
                  </a:extLst>
                </a:gridCol>
                <a:gridCol w="3988905">
                  <a:extLst>
                    <a:ext uri="{9D8B030D-6E8A-4147-A177-3AD203B41FA5}">
                      <a16:colId xmlns:a16="http://schemas.microsoft.com/office/drawing/2014/main" val="1405704202"/>
                    </a:ext>
                  </a:extLst>
                </a:gridCol>
              </a:tblGrid>
              <a:tr h="426757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Integer Overflow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57885"/>
                  </a:ext>
                </a:extLst>
              </a:tr>
              <a:tr h="426757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Python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371477"/>
                  </a:ext>
                </a:extLst>
              </a:tr>
              <a:tr h="325520">
                <a:tc>
                  <a:txBody>
                    <a:bodyPr/>
                    <a:lstStyle/>
                    <a:p>
                      <a:r>
                        <a:rPr lang="en-IN" sz="2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10**100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40464"/>
                  </a:ext>
                </a:extLst>
              </a:tr>
              <a:tr h="802651">
                <a:tc>
                  <a:txBody>
                    <a:bodyPr/>
                    <a:lstStyle/>
                    <a:p>
                      <a:r>
                        <a:rPr lang="en-US" sz="2800" dirty="0"/>
                        <a:t>may overflow.</a:t>
                      </a:r>
                    </a:p>
                    <a:p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No overflow.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800" dirty="0"/>
                        <a:t>Python stores all digits.</a:t>
                      </a:r>
                      <a:endParaRPr lang="en-US" sz="2800" dirty="0"/>
                    </a:p>
                    <a:p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69683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756852"/>
              </p:ext>
            </p:extLst>
          </p:nvPr>
        </p:nvGraphicFramePr>
        <p:xfrm>
          <a:off x="263857" y="4734138"/>
          <a:ext cx="4718960" cy="1930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18960">
                  <a:extLst>
                    <a:ext uri="{9D8B030D-6E8A-4147-A177-3AD203B41FA5}">
                      <a16:colId xmlns:a16="http://schemas.microsoft.com/office/drawing/2014/main" val="2398367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Integer 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0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999999999999999999999999999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20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Python integers are exact. 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No rounding.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97953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451202"/>
              </p:ext>
            </p:extLst>
          </p:nvPr>
        </p:nvGraphicFramePr>
        <p:xfrm>
          <a:off x="7059058" y="1485971"/>
          <a:ext cx="4718960" cy="360464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18960">
                  <a:extLst>
                    <a:ext uri="{9D8B030D-6E8A-4147-A177-3AD203B41FA5}">
                      <a16:colId xmlns:a16="http://schemas.microsoft.com/office/drawing/2014/main" val="2398367796"/>
                    </a:ext>
                  </a:extLst>
                </a:gridCol>
              </a:tblGrid>
              <a:tr h="44225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Random Integers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08975"/>
                  </a:ext>
                </a:extLst>
              </a:tr>
              <a:tr h="1090481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import random 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print(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random.randint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(1,100))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20275"/>
                  </a:ext>
                </a:extLst>
              </a:tr>
              <a:tr h="207191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Useful for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Passwords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OTP simulation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Games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AI datasets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Sampling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979531"/>
                  </a:ext>
                </a:extLst>
              </a:tr>
            </a:tbl>
          </a:graphicData>
        </a:graphic>
      </p:graphicFrame>
      <p:pic>
        <p:nvPicPr>
          <p:cNvPr id="7" name="Picture 6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587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in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Integers are widely used for:</a:t>
            </a:r>
          </a:p>
          <a:p>
            <a:pPr lvl="1"/>
            <a:r>
              <a:rPr lang="en-IN" dirty="0"/>
              <a:t>Class labels </a:t>
            </a:r>
          </a:p>
          <a:p>
            <a:pPr lvl="1"/>
            <a:r>
              <a:rPr lang="en-IN" dirty="0"/>
              <a:t>Dataset indices </a:t>
            </a:r>
          </a:p>
          <a:p>
            <a:pPr lvl="1"/>
            <a:r>
              <a:rPr lang="en-IN" dirty="0"/>
              <a:t>Epoch numbers </a:t>
            </a:r>
          </a:p>
          <a:p>
            <a:pPr lvl="1"/>
            <a:r>
              <a:rPr lang="en-IN" dirty="0"/>
              <a:t>Batch numbers </a:t>
            </a:r>
          </a:p>
          <a:p>
            <a:pPr lvl="1"/>
            <a:r>
              <a:rPr lang="en-IN" dirty="0"/>
              <a:t>Image coordinates </a:t>
            </a:r>
          </a:p>
          <a:p>
            <a:pPr lvl="1"/>
            <a:r>
              <a:rPr lang="en-IN" dirty="0"/>
              <a:t>Token IDs </a:t>
            </a:r>
          </a:p>
          <a:p>
            <a:pPr lvl="1"/>
            <a:r>
              <a:rPr lang="en-IN" dirty="0"/>
              <a:t>Vocabulary indices </a:t>
            </a:r>
          </a:p>
          <a:p>
            <a:pPr lvl="1"/>
            <a:r>
              <a:rPr lang="en-IN" dirty="0"/>
              <a:t>Neural network layer counts </a:t>
            </a:r>
          </a:p>
          <a:p>
            <a:pPr lvl="1"/>
            <a:r>
              <a:rPr lang="en-IN" dirty="0"/>
              <a:t>Random seeds </a:t>
            </a:r>
          </a:p>
          <a:p>
            <a:pPr lvl="1"/>
            <a:r>
              <a:rPr lang="en-IN" dirty="0"/>
              <a:t>Confusion matrix counts</a:t>
            </a:r>
          </a:p>
          <a:p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181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Basic Integer 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a = 15</a:t>
            </a:r>
          </a:p>
          <a:p>
            <a:pPr marL="0" indent="0">
              <a:buNone/>
            </a:pPr>
            <a:r>
              <a:rPr lang="en-IN" dirty="0"/>
              <a:t>b = 4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print("Addition:", a + b)</a:t>
            </a:r>
          </a:p>
          <a:p>
            <a:pPr marL="0" indent="0">
              <a:buNone/>
            </a:pPr>
            <a:r>
              <a:rPr lang="en-IN" dirty="0"/>
              <a:t>print("Subtraction:", a - b)</a:t>
            </a:r>
          </a:p>
          <a:p>
            <a:pPr marL="0" indent="0">
              <a:buNone/>
            </a:pPr>
            <a:r>
              <a:rPr lang="en-IN" dirty="0"/>
              <a:t>print("Multiplication:", a * b)</a:t>
            </a:r>
          </a:p>
          <a:p>
            <a:pPr marL="0" indent="0">
              <a:buNone/>
            </a:pPr>
            <a:r>
              <a:rPr lang="en-IN" dirty="0"/>
              <a:t>print("Division:", a / b)</a:t>
            </a:r>
          </a:p>
          <a:p>
            <a:pPr marL="0" indent="0">
              <a:buNone/>
            </a:pPr>
            <a:r>
              <a:rPr lang="en-IN" dirty="0"/>
              <a:t>print("Floor Division:", a // b)</a:t>
            </a:r>
          </a:p>
          <a:p>
            <a:pPr marL="0" indent="0">
              <a:buNone/>
            </a:pPr>
            <a:r>
              <a:rPr lang="en-IN" dirty="0"/>
              <a:t>print("Remainder:", a % b)</a:t>
            </a:r>
          </a:p>
          <a:p>
            <a:pPr marL="0" indent="0">
              <a:buNone/>
            </a:pPr>
            <a:r>
              <a:rPr lang="en-IN" dirty="0"/>
              <a:t>print("Power:", a ** b)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0779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Even or Odd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num</a:t>
            </a:r>
            <a:r>
              <a:rPr lang="en-US" dirty="0"/>
              <a:t> = </a:t>
            </a:r>
            <a:r>
              <a:rPr lang="en-US" dirty="0" err="1"/>
              <a:t>int</a:t>
            </a:r>
            <a:r>
              <a:rPr lang="en-US" dirty="0"/>
              <a:t>(input("Enter a number: "))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num</a:t>
            </a:r>
            <a:r>
              <a:rPr lang="en-US" dirty="0"/>
              <a:t> % 2 == 0:</a:t>
            </a:r>
          </a:p>
          <a:p>
            <a:pPr marL="0" indent="0">
              <a:buNone/>
            </a:pPr>
            <a:r>
              <a:rPr lang="en-US" dirty="0"/>
              <a:t>    print("Even")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    print("Odd")</a:t>
            </a: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2259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40687" cy="1325563"/>
          </a:xfrm>
        </p:spPr>
        <p:txBody>
          <a:bodyPr/>
          <a:lstStyle/>
          <a:p>
            <a:r>
              <a:rPr lang="en-US" dirty="0"/>
              <a:t>Example 3: Decimal to Binary, Octal, and Hexadecimal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num = 100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print("Binary:", bin(num))</a:t>
            </a:r>
          </a:p>
          <a:p>
            <a:pPr marL="0" indent="0">
              <a:buNone/>
            </a:pPr>
            <a:r>
              <a:rPr lang="pt-BR" dirty="0"/>
              <a:t>print("Octal:", oct(num))</a:t>
            </a:r>
          </a:p>
          <a:p>
            <a:pPr marL="0" indent="0">
              <a:buNone/>
            </a:pPr>
            <a:r>
              <a:rPr lang="pt-BR" dirty="0"/>
              <a:t>print("Hexadecimal:", hex(num))</a:t>
            </a: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730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4: 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= 12</a:t>
            </a:r>
          </a:p>
          <a:p>
            <a:pPr marL="0" indent="0">
              <a:buNone/>
            </a:pPr>
            <a:r>
              <a:rPr lang="en-US" dirty="0"/>
              <a:t>b = 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print("AND:", a &amp; b)</a:t>
            </a:r>
          </a:p>
          <a:p>
            <a:pPr marL="0" indent="0">
              <a:buNone/>
            </a:pPr>
            <a:r>
              <a:rPr lang="en-US" dirty="0"/>
              <a:t>print("OR:", a | b)</a:t>
            </a:r>
          </a:p>
          <a:p>
            <a:pPr marL="0" indent="0">
              <a:buNone/>
            </a:pPr>
            <a:r>
              <a:rPr lang="en-US" dirty="0"/>
              <a:t>print("XOR:", a ^ b)</a:t>
            </a:r>
          </a:p>
          <a:p>
            <a:pPr marL="0" indent="0">
              <a:buNone/>
            </a:pPr>
            <a:r>
              <a:rPr lang="en-US" dirty="0"/>
              <a:t>print("Left Shift:", a &lt;&lt; 1)</a:t>
            </a:r>
          </a:p>
          <a:p>
            <a:pPr marL="0" indent="0">
              <a:buNone/>
            </a:pPr>
            <a:r>
              <a:rPr lang="en-US" dirty="0"/>
              <a:t>print("Right Shift:", a &gt;&gt; 1)</a:t>
            </a: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7042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5: Large Integer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large_num</a:t>
            </a:r>
            <a:r>
              <a:rPr lang="en-US" dirty="0"/>
              <a:t> = 10 ** 100</a:t>
            </a:r>
          </a:p>
          <a:p>
            <a:pPr marL="0" indent="0">
              <a:buNone/>
            </a:pPr>
            <a:r>
              <a:rPr lang="en-US" dirty="0"/>
              <a:t>print("Number of digits:",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large_num</a:t>
            </a:r>
            <a:r>
              <a:rPr lang="en-US" dirty="0"/>
              <a:t>)))</a:t>
            </a:r>
          </a:p>
          <a:p>
            <a:pPr marL="0" indent="0">
              <a:buNone/>
            </a:pPr>
            <a:r>
              <a:rPr lang="en-US" dirty="0"/>
              <a:t>print("Value:", </a:t>
            </a:r>
            <a:r>
              <a:rPr lang="en-US" dirty="0" err="1"/>
              <a:t>large_num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1945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Exercise</a:t>
            </a:r>
            <a:endParaRPr lang="en-IN" dirty="0"/>
          </a:p>
        </p:txBody>
      </p:sp>
      <p:pic>
        <p:nvPicPr>
          <p:cNvPr id="5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38200" y="1853361"/>
            <a:ext cx="105156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800" dirty="0"/>
              <a:t>Create integer variables and display their types.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/>
              <a:t>Perform all arithmetic operations on two integers.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/>
              <a:t>Convert a decimal number to binary, octal, and hexadecimal.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/>
              <a:t>Write a program to check whether a number is even or odd.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/>
              <a:t>Demonstrate floor division with positive and negative integers.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/>
              <a:t>Convert user input from a string to an integer and perform arithmetic.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/>
              <a:t>Implement bitwise AND, OR, XOR, left shift, and right shift.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/>
              <a:t>Compare integer values using relational operators.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/>
              <a:t>Generate 10 random integers between 1 and 100.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/>
              <a:t>Compute 21002^{100}2100 and report the number of digits. </a:t>
            </a:r>
          </a:p>
        </p:txBody>
      </p:sp>
    </p:spTree>
    <p:extLst>
      <p:ext uri="{BB962C8B-B14F-4D97-AF65-F5344CB8AC3E}">
        <p14:creationId xmlns:p14="http://schemas.microsoft.com/office/powerpoint/2010/main" val="35269126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1095" y="3121577"/>
            <a:ext cx="3246783" cy="1325563"/>
          </a:xfrm>
        </p:spPr>
        <p:txBody>
          <a:bodyPr/>
          <a:lstStyle/>
          <a:p>
            <a:pPr algn="ctr"/>
            <a:r>
              <a:rPr lang="en-US" dirty="0"/>
              <a:t>Thanks</a:t>
            </a:r>
            <a:endParaRPr lang="en-IN" dirty="0"/>
          </a:p>
        </p:txBody>
      </p:sp>
      <p:pic>
        <p:nvPicPr>
          <p:cNvPr id="3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487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</TotalTime>
  <Words>1131</Words>
  <Application>Microsoft Office PowerPoint</Application>
  <PresentationFormat>Widescreen</PresentationFormat>
  <Paragraphs>443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Python: Integers</vt:lpstr>
      <vt:lpstr>Integer</vt:lpstr>
      <vt:lpstr>Conti…</vt:lpstr>
      <vt:lpstr>Importance of Integer</vt:lpstr>
      <vt:lpstr>Integer vs Floating Point</vt:lpstr>
      <vt:lpstr>Integer Representation in Memory</vt:lpstr>
      <vt:lpstr>Everything is an Object</vt:lpstr>
      <vt:lpstr>Arbitrary Precision Integers</vt:lpstr>
      <vt:lpstr>Python Supports Large Integers</vt:lpstr>
      <vt:lpstr>Creating Integers</vt:lpstr>
      <vt:lpstr>Integer Literals</vt:lpstr>
      <vt:lpstr>Binary Numbers</vt:lpstr>
      <vt:lpstr>Octal Numbers</vt:lpstr>
      <vt:lpstr>Hexadecimal Numbers</vt:lpstr>
      <vt:lpstr>Number Base Conversion</vt:lpstr>
      <vt:lpstr>Integer Arithmetic Operators</vt:lpstr>
      <vt:lpstr>Floor Division</vt:lpstr>
      <vt:lpstr>Modulus Operator</vt:lpstr>
      <vt:lpstr>Comparison Operators</vt:lpstr>
      <vt:lpstr>Assignment Operators</vt:lpstr>
      <vt:lpstr>Integer Conversion</vt:lpstr>
      <vt:lpstr>Invalid Conversion</vt:lpstr>
      <vt:lpstr>Integer Functions</vt:lpstr>
      <vt:lpstr>Bitwise Operations</vt:lpstr>
      <vt:lpstr>Left Shift</vt:lpstr>
      <vt:lpstr>Right Shift</vt:lpstr>
      <vt:lpstr>Integer Identity</vt:lpstr>
      <vt:lpstr>Integer Immutability</vt:lpstr>
      <vt:lpstr>Integer Memory Optimization</vt:lpstr>
      <vt:lpstr>Integer Overflow</vt:lpstr>
      <vt:lpstr>Applications in AI</vt:lpstr>
      <vt:lpstr>Example 1: Basic Integer Operations</vt:lpstr>
      <vt:lpstr>Example 2: Even or Odd</vt:lpstr>
      <vt:lpstr>Example 3: Decimal to Binary, Octal, and Hexadecimal</vt:lpstr>
      <vt:lpstr>Example 4: Bitwise Operations</vt:lpstr>
      <vt:lpstr>Example 5: Large Integer Calculation</vt:lpstr>
      <vt:lpstr>Home Exercise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DrAnilKDubey</dc:creator>
  <cp:lastModifiedBy>DrAnilKDubey</cp:lastModifiedBy>
  <cp:revision>366</cp:revision>
  <dcterms:created xsi:type="dcterms:W3CDTF">2026-07-06T04:33:03Z</dcterms:created>
  <dcterms:modified xsi:type="dcterms:W3CDTF">2026-08-18T08:33:39Z</dcterms:modified>
</cp:coreProperties>
</file>