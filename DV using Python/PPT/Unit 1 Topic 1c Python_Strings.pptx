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1" r:id="rId2"/>
    <p:sldId id="320" r:id="rId3"/>
    <p:sldId id="322" r:id="rId4"/>
    <p:sldId id="323" r:id="rId5"/>
    <p:sldId id="324" r:id="rId6"/>
    <p:sldId id="325" r:id="rId7"/>
    <p:sldId id="326" r:id="rId8"/>
    <p:sldId id="327" r:id="rId9"/>
    <p:sldId id="328" r:id="rId10"/>
    <p:sldId id="331" r:id="rId11"/>
    <p:sldId id="330" r:id="rId12"/>
    <p:sldId id="329" r:id="rId13"/>
    <p:sldId id="333" r:id="rId14"/>
    <p:sldId id="334" r:id="rId15"/>
    <p:sldId id="335" r:id="rId16"/>
    <p:sldId id="336" r:id="rId17"/>
    <p:sldId id="337" r:id="rId18"/>
    <p:sldId id="338" r:id="rId19"/>
    <p:sldId id="339" r:id="rId20"/>
    <p:sldId id="321" r:id="rId21"/>
    <p:sldId id="332" r:id="rId22"/>
    <p:sldId id="340" r:id="rId23"/>
    <p:sldId id="341" r:id="rId24"/>
    <p:sldId id="342" r:id="rId25"/>
    <p:sldId id="343" r:id="rId26"/>
    <p:sldId id="345" r:id="rId27"/>
    <p:sldId id="344" r:id="rId28"/>
    <p:sldId id="346" r:id="rId29"/>
    <p:sldId id="347" r:id="rId30"/>
    <p:sldId id="348" r:id="rId31"/>
    <p:sldId id="349" r:id="rId32"/>
    <p:sldId id="350" r:id="rId33"/>
    <p:sldId id="351" r:id="rId34"/>
    <p:sldId id="352" r:id="rId35"/>
    <p:sldId id="353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8/19/2026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Python: </a:t>
            </a:r>
            <a:r>
              <a:rPr lang="en-US" b="1" dirty="0"/>
              <a:t>Strings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61043" y="4012856"/>
            <a:ext cx="3949148" cy="1089231"/>
          </a:xfrm>
        </p:spPr>
        <p:txBody>
          <a:bodyPr/>
          <a:lstStyle/>
          <a:p>
            <a:r>
              <a:rPr lang="en-US" dirty="0"/>
              <a:t>Prof. (Dr.) Anil Kumar Dubey</a:t>
            </a:r>
          </a:p>
          <a:p>
            <a:r>
              <a:rPr lang="en-US" dirty="0"/>
              <a:t>Professor - CSE </a:t>
            </a:r>
            <a:r>
              <a:rPr lang="en-US" dirty="0" err="1"/>
              <a:t>Dept</a:t>
            </a:r>
            <a:endParaRPr lang="en-US" dirty="0"/>
          </a:p>
          <a:p>
            <a:endParaRPr lang="en-IN" dirty="0"/>
          </a:p>
        </p:txBody>
      </p:sp>
      <p:pic>
        <p:nvPicPr>
          <p:cNvPr id="1026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8081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 to 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pPr algn="just"/>
            <a:r>
              <a:rPr lang="en-US" dirty="0"/>
              <a:t>A </a:t>
            </a:r>
            <a:r>
              <a:rPr lang="en-US" b="1" dirty="0"/>
              <a:t>string</a:t>
            </a:r>
            <a:r>
              <a:rPr lang="en-US" dirty="0"/>
              <a:t> is a sequence of Unicode characters enclosed within quotation marks.</a:t>
            </a:r>
          </a:p>
          <a:p>
            <a:endParaRPr lang="en-US" dirty="0"/>
          </a:p>
          <a:p>
            <a:r>
              <a:rPr lang="en-US" dirty="0"/>
              <a:t>A string may contain:</a:t>
            </a:r>
          </a:p>
          <a:p>
            <a:pPr lvl="1"/>
            <a:r>
              <a:rPr lang="en-US" dirty="0"/>
              <a:t>Letters </a:t>
            </a:r>
          </a:p>
          <a:p>
            <a:pPr lvl="1"/>
            <a:r>
              <a:rPr lang="en-US" dirty="0"/>
              <a:t>Numbers </a:t>
            </a:r>
          </a:p>
          <a:p>
            <a:pPr lvl="1"/>
            <a:r>
              <a:rPr lang="en-US" dirty="0"/>
              <a:t>Symbols </a:t>
            </a:r>
          </a:p>
          <a:p>
            <a:pPr lvl="1"/>
            <a:r>
              <a:rPr lang="en-US" dirty="0"/>
              <a:t>Spaces </a:t>
            </a:r>
          </a:p>
          <a:p>
            <a:pPr lvl="1"/>
            <a:r>
              <a:rPr lang="en-US" dirty="0" err="1"/>
              <a:t>Emojis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Unicode characters</a:t>
            </a:r>
          </a:p>
        </p:txBody>
      </p:sp>
      <p:pic>
        <p:nvPicPr>
          <p:cNvPr id="4" name="Picture 3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0166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Conti…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name = "Anil"</a:t>
            </a:r>
          </a:p>
          <a:p>
            <a:pPr algn="just"/>
            <a:endParaRPr lang="en-US" dirty="0"/>
          </a:p>
          <a:p>
            <a:pPr marL="0" indent="0" algn="just">
              <a:buNone/>
            </a:pPr>
            <a:r>
              <a:rPr lang="en-US" dirty="0"/>
              <a:t>city = 'Ghaziabad'</a:t>
            </a:r>
          </a:p>
          <a:p>
            <a:pPr algn="just"/>
            <a:endParaRPr lang="en-US" dirty="0"/>
          </a:p>
          <a:p>
            <a:pPr marL="0" indent="0" algn="just">
              <a:buNone/>
            </a:pPr>
            <a:r>
              <a:rPr lang="en-US" dirty="0"/>
              <a:t>message = """Welcome to Python"""</a:t>
            </a:r>
          </a:p>
          <a:p>
            <a:pPr algn="just"/>
            <a:endParaRPr lang="en-US" dirty="0"/>
          </a:p>
          <a:p>
            <a:pPr marL="0" indent="0" algn="just">
              <a:buNone/>
            </a:pPr>
            <a:r>
              <a:rPr lang="en-US" dirty="0"/>
              <a:t>empty = ""</a:t>
            </a:r>
          </a:p>
        </p:txBody>
      </p:sp>
      <p:pic>
        <p:nvPicPr>
          <p:cNvPr id="4" name="Picture 3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0516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Importance of 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Almost every software system processes text.</a:t>
            </a:r>
          </a:p>
          <a:p>
            <a:endParaRPr lang="en-IN" dirty="0"/>
          </a:p>
          <a:p>
            <a:r>
              <a:rPr lang="en-IN" dirty="0"/>
              <a:t>Applications include:</a:t>
            </a:r>
          </a:p>
          <a:p>
            <a:pPr lvl="1"/>
            <a:r>
              <a:rPr lang="en-IN" dirty="0"/>
              <a:t>Student names </a:t>
            </a:r>
          </a:p>
          <a:p>
            <a:pPr lvl="1"/>
            <a:r>
              <a:rPr lang="en-IN" dirty="0"/>
              <a:t>Email addresses </a:t>
            </a:r>
          </a:p>
          <a:p>
            <a:pPr lvl="1"/>
            <a:r>
              <a:rPr lang="en-IN" dirty="0"/>
              <a:t>Passwords </a:t>
            </a:r>
          </a:p>
          <a:p>
            <a:pPr lvl="1"/>
            <a:r>
              <a:rPr lang="en-IN" dirty="0" err="1"/>
              <a:t>Aadhaar</a:t>
            </a:r>
            <a:r>
              <a:rPr lang="en-IN" dirty="0"/>
              <a:t> numbers (stored as strings) </a:t>
            </a:r>
          </a:p>
          <a:p>
            <a:pPr lvl="1"/>
            <a:r>
              <a:rPr lang="en-IN" dirty="0"/>
              <a:t>Mobile numbers </a:t>
            </a:r>
          </a:p>
          <a:p>
            <a:pPr lvl="1"/>
            <a:r>
              <a:rPr lang="en-IN" dirty="0" err="1"/>
              <a:t>ChatGPT</a:t>
            </a:r>
            <a:r>
              <a:rPr lang="en-IN" dirty="0"/>
              <a:t> prompts </a:t>
            </a:r>
          </a:p>
          <a:p>
            <a:pPr lvl="1"/>
            <a:r>
              <a:rPr lang="en-IN" dirty="0"/>
              <a:t>Search engines </a:t>
            </a:r>
          </a:p>
          <a:p>
            <a:pPr lvl="1"/>
            <a:r>
              <a:rPr lang="en-IN" dirty="0"/>
              <a:t>Natural Language Processing (NLP) </a:t>
            </a:r>
          </a:p>
          <a:p>
            <a:pPr lvl="1"/>
            <a:r>
              <a:rPr lang="en-IN" dirty="0"/>
              <a:t>Machine Translation </a:t>
            </a:r>
          </a:p>
          <a:p>
            <a:pPr lvl="1"/>
            <a:r>
              <a:rPr lang="en-IN" dirty="0" err="1"/>
              <a:t>Chatbots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Social media analysis</a:t>
            </a:r>
          </a:p>
        </p:txBody>
      </p:sp>
      <p:pic>
        <p:nvPicPr>
          <p:cNvPr id="4" name="Picture 3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2533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Everything is an Object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x = "Python" </a:t>
            </a:r>
          </a:p>
          <a:p>
            <a:pPr marL="0" indent="0">
              <a:buNone/>
            </a:pPr>
            <a:r>
              <a:rPr lang="en-IN" dirty="0"/>
              <a:t>print(type(x))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IN" dirty="0"/>
              <a:t>Strings are immutable objects.</a:t>
            </a:r>
          </a:p>
        </p:txBody>
      </p:sp>
      <p:pic>
        <p:nvPicPr>
          <p:cNvPr id="4" name="Picture 3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646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Creating Strings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Using single quotes</a:t>
            </a:r>
          </a:p>
          <a:p>
            <a:pPr marL="0" indent="0">
              <a:buNone/>
            </a:pPr>
            <a:r>
              <a:rPr lang="en-IN" dirty="0"/>
              <a:t>			a = 'Python'</a:t>
            </a:r>
            <a:endParaRPr lang="en-US" dirty="0"/>
          </a:p>
          <a:p>
            <a:endParaRPr lang="en-US" dirty="0"/>
          </a:p>
          <a:p>
            <a:r>
              <a:rPr lang="en-US" dirty="0"/>
              <a:t>Using </a:t>
            </a:r>
            <a:r>
              <a:rPr lang="en-IN" dirty="0"/>
              <a:t>Double quotes</a:t>
            </a:r>
          </a:p>
          <a:p>
            <a:pPr marL="0" indent="0">
              <a:buNone/>
            </a:pPr>
            <a:r>
              <a:rPr lang="en-IN" dirty="0"/>
              <a:t>			b = "Python“</a:t>
            </a:r>
          </a:p>
          <a:p>
            <a:endParaRPr lang="en-US" dirty="0"/>
          </a:p>
          <a:p>
            <a:r>
              <a:rPr lang="en-IN" dirty="0"/>
              <a:t>Using Triple quotes</a:t>
            </a:r>
          </a:p>
          <a:p>
            <a:pPr marL="0" indent="0">
              <a:buNone/>
            </a:pPr>
            <a:r>
              <a:rPr lang="en-IN" dirty="0"/>
              <a:t>			c = """Python Programming""“</a:t>
            </a:r>
          </a:p>
          <a:p>
            <a:endParaRPr lang="en-US" dirty="0"/>
          </a:p>
          <a:p>
            <a:pPr marL="0" indent="0">
              <a:buNone/>
            </a:pPr>
            <a:r>
              <a:rPr lang="en-IN" dirty="0"/>
              <a:t>All create string objects.</a:t>
            </a:r>
            <a:endParaRPr lang="en-US" dirty="0"/>
          </a:p>
          <a:p>
            <a:endParaRPr lang="en-IN" dirty="0"/>
          </a:p>
        </p:txBody>
      </p:sp>
      <p:pic>
        <p:nvPicPr>
          <p:cNvPr id="4" name="Picture 3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4312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Empty String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x = "“</a:t>
            </a:r>
          </a:p>
          <a:p>
            <a:pPr marL="0" indent="0">
              <a:buNone/>
            </a:pPr>
            <a:r>
              <a:rPr lang="en-IN" dirty="0"/>
              <a:t>print(</a:t>
            </a:r>
            <a:r>
              <a:rPr lang="en-IN" dirty="0" err="1"/>
              <a:t>len</a:t>
            </a:r>
            <a:r>
              <a:rPr lang="en-IN" dirty="0"/>
              <a:t>(x))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</a:t>
            </a:r>
            <a:r>
              <a:rPr lang="en-IN" dirty="0"/>
              <a:t>Length</a:t>
            </a:r>
          </a:p>
        </p:txBody>
      </p:sp>
      <p:pic>
        <p:nvPicPr>
          <p:cNvPr id="4" name="Picture 3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7943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Unicode Strings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4449417" cy="5032375"/>
          </a:xfrm>
        </p:spPr>
        <p:txBody>
          <a:bodyPr>
            <a:normAutofit/>
          </a:bodyPr>
          <a:lstStyle/>
          <a:p>
            <a:r>
              <a:rPr lang="en-US" dirty="0"/>
              <a:t>Python 3 uses Unicode by default.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name = "</a:t>
            </a:r>
            <a:r>
              <a:rPr lang="hi-IN" dirty="0"/>
              <a:t>नमस्ते“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city = “$%</a:t>
            </a:r>
            <a:r>
              <a:rPr lang="en-US" altLang="ja-JP" dirty="0"/>
              <a:t>“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emoji = "😊“</a:t>
            </a:r>
          </a:p>
          <a:p>
            <a:pPr marL="0" indent="0">
              <a:buNone/>
            </a:pPr>
            <a:endParaRPr lang="en-US" dirty="0"/>
          </a:p>
          <a:p>
            <a:r>
              <a:rPr lang="en-IN" dirty="0"/>
              <a:t>All are valid strings.</a:t>
            </a:r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pic>
        <p:nvPicPr>
          <p:cNvPr id="4" name="Picture 3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1848321"/>
              </p:ext>
            </p:extLst>
          </p:nvPr>
        </p:nvGraphicFramePr>
        <p:xfrm>
          <a:off x="5049078" y="2856880"/>
          <a:ext cx="7142921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6316">
                  <a:extLst>
                    <a:ext uri="{9D8B030D-6E8A-4147-A177-3AD203B41FA5}">
                      <a16:colId xmlns:a16="http://schemas.microsoft.com/office/drawing/2014/main" val="3957716668"/>
                    </a:ext>
                  </a:extLst>
                </a:gridCol>
                <a:gridCol w="4346605">
                  <a:extLst>
                    <a:ext uri="{9D8B030D-6E8A-4147-A177-3AD203B41FA5}">
                      <a16:colId xmlns:a16="http://schemas.microsoft.com/office/drawing/2014/main" val="22217918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ASCII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Unicode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8509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128 characters 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English only </a:t>
                      </a:r>
                    </a:p>
                    <a:p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More than 149,000 characters 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Supports almost every language 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Emoji support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3553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/>
                        <a:t>print(</a:t>
                      </a:r>
                      <a:r>
                        <a:rPr lang="en-IN" sz="2400" dirty="0" err="1"/>
                        <a:t>ord</a:t>
                      </a:r>
                      <a:r>
                        <a:rPr lang="en-IN" sz="2400" dirty="0"/>
                        <a:t>("A"))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None/>
                      </a:pPr>
                      <a:r>
                        <a:rPr lang="en-IN" sz="2400" dirty="0"/>
                        <a:t>print(</a:t>
                      </a:r>
                      <a:r>
                        <a:rPr lang="en-IN" sz="2400" dirty="0" err="1"/>
                        <a:t>ord</a:t>
                      </a:r>
                      <a:r>
                        <a:rPr lang="en-IN" sz="2400" dirty="0"/>
                        <a:t>("😊"))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3424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/>
                        <a:t>65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None/>
                      </a:pP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44286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7803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String Length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text = "Artificial Intelligence" </a:t>
            </a:r>
          </a:p>
          <a:p>
            <a:pPr marL="0" indent="0">
              <a:buNone/>
            </a:pPr>
            <a:r>
              <a:rPr lang="en-IN" dirty="0"/>
              <a:t>print(</a:t>
            </a:r>
            <a:r>
              <a:rPr lang="en-IN" dirty="0" err="1"/>
              <a:t>len</a:t>
            </a:r>
            <a:r>
              <a:rPr lang="en-IN" dirty="0"/>
              <a:t>(text))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Output</a:t>
            </a:r>
            <a:r>
              <a:rPr lang="en-US" dirty="0"/>
              <a:t>: </a:t>
            </a:r>
            <a:r>
              <a:rPr lang="en-IN" dirty="0"/>
              <a:t>23</a:t>
            </a:r>
          </a:p>
        </p:txBody>
      </p:sp>
      <p:pic>
        <p:nvPicPr>
          <p:cNvPr id="4" name="Picture 3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0759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Indexing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endParaRPr lang="en-US" dirty="0"/>
          </a:p>
          <a:p>
            <a:endParaRPr lang="en-IN" dirty="0"/>
          </a:p>
        </p:txBody>
      </p:sp>
      <p:pic>
        <p:nvPicPr>
          <p:cNvPr id="4" name="Picture 3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995168"/>
              </p:ext>
            </p:extLst>
          </p:nvPr>
        </p:nvGraphicFramePr>
        <p:xfrm>
          <a:off x="481496" y="1825624"/>
          <a:ext cx="5879548" cy="3114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6330">
                  <a:extLst>
                    <a:ext uri="{9D8B030D-6E8A-4147-A177-3AD203B41FA5}">
                      <a16:colId xmlns:a16="http://schemas.microsoft.com/office/drawing/2014/main" val="1798628417"/>
                    </a:ext>
                  </a:extLst>
                </a:gridCol>
                <a:gridCol w="4373218">
                  <a:extLst>
                    <a:ext uri="{9D8B030D-6E8A-4147-A177-3AD203B41FA5}">
                      <a16:colId xmlns:a16="http://schemas.microsoft.com/office/drawing/2014/main" val="38451677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Overview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Python indexing starts from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71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Structure 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P   y   t    h    o   n </a:t>
                      </a:r>
                    </a:p>
                    <a:p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0   1   2   3    4   5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41305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Program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word = "Python" </a:t>
                      </a:r>
                    </a:p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print(word[0]) </a:t>
                      </a:r>
                    </a:p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print(word[5])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0208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Output 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P </a:t>
                      </a:r>
                    </a:p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9048501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1032124"/>
              </p:ext>
            </p:extLst>
          </p:nvPr>
        </p:nvGraphicFramePr>
        <p:xfrm>
          <a:off x="6717748" y="1825624"/>
          <a:ext cx="4838148" cy="2454828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419074">
                  <a:extLst>
                    <a:ext uri="{9D8B030D-6E8A-4147-A177-3AD203B41FA5}">
                      <a16:colId xmlns:a16="http://schemas.microsoft.com/office/drawing/2014/main" val="2969633169"/>
                    </a:ext>
                  </a:extLst>
                </a:gridCol>
                <a:gridCol w="2419074">
                  <a:extLst>
                    <a:ext uri="{9D8B030D-6E8A-4147-A177-3AD203B41FA5}">
                      <a16:colId xmlns:a16="http://schemas.microsoft.com/office/drawing/2014/main" val="736262139"/>
                    </a:ext>
                  </a:extLst>
                </a:gridCol>
              </a:tblGrid>
              <a:tr h="449129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Negative Indexing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4341397"/>
                  </a:ext>
                </a:extLst>
              </a:tr>
              <a:tr h="44912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Structure 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-6 -5 -4 -3 -2 -1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4818544"/>
                  </a:ext>
                </a:extLst>
              </a:tr>
              <a:tr h="110744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Program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pPr rtl="0"/>
                      <a:r>
                        <a:rPr lang="en-IN" dirty="0"/>
                        <a:t>print(word[-1])</a:t>
                      </a:r>
                    </a:p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5685107"/>
                  </a:ext>
                </a:extLst>
              </a:tr>
              <a:tr h="44912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Output 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9422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18096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String Slicing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r>
              <a:rPr lang="en-IN" dirty="0"/>
              <a:t>string[</a:t>
            </a:r>
            <a:r>
              <a:rPr lang="en-IN" dirty="0" err="1"/>
              <a:t>start:end:step</a:t>
            </a:r>
            <a:r>
              <a:rPr lang="en-IN" dirty="0"/>
              <a:t>]</a:t>
            </a:r>
          </a:p>
          <a:p>
            <a:endParaRPr lang="en-US" dirty="0"/>
          </a:p>
          <a:p>
            <a:pPr marL="0" indent="0">
              <a:buNone/>
            </a:pPr>
            <a:r>
              <a:rPr lang="en-IN" dirty="0"/>
              <a:t>text = "Artificial" </a:t>
            </a:r>
          </a:p>
          <a:p>
            <a:pPr marL="0" indent="0">
              <a:buNone/>
            </a:pPr>
            <a:r>
              <a:rPr lang="en-IN" dirty="0"/>
              <a:t>print(text[0:5]) </a:t>
            </a:r>
          </a:p>
          <a:p>
            <a:pPr marL="0" indent="0">
              <a:buNone/>
            </a:pPr>
            <a:r>
              <a:rPr lang="en-IN" dirty="0"/>
              <a:t>print(text[3:8]) </a:t>
            </a:r>
          </a:p>
          <a:p>
            <a:pPr marL="0" indent="0">
              <a:buNone/>
            </a:pPr>
            <a:r>
              <a:rPr lang="en-IN" dirty="0"/>
              <a:t>print(text[:4]) </a:t>
            </a:r>
          </a:p>
          <a:p>
            <a:pPr marL="0" indent="0">
              <a:buNone/>
            </a:pPr>
            <a:r>
              <a:rPr lang="en-IN" dirty="0"/>
              <a:t>print(text[4:]) </a:t>
            </a:r>
          </a:p>
          <a:p>
            <a:pPr marL="0" indent="0">
              <a:buNone/>
            </a:pPr>
            <a:r>
              <a:rPr lang="en-IN" dirty="0"/>
              <a:t>print(text[::2])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4" name="Picture 3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31466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Reverse a String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3824968"/>
              </p:ext>
            </p:extLst>
          </p:nvPr>
        </p:nvGraphicFramePr>
        <p:xfrm>
          <a:off x="565356" y="2006807"/>
          <a:ext cx="10685740" cy="2199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9461">
                  <a:extLst>
                    <a:ext uri="{9D8B030D-6E8A-4147-A177-3AD203B41FA5}">
                      <a16:colId xmlns:a16="http://schemas.microsoft.com/office/drawing/2014/main" val="1062862344"/>
                    </a:ext>
                  </a:extLst>
                </a:gridCol>
                <a:gridCol w="2676940">
                  <a:extLst>
                    <a:ext uri="{9D8B030D-6E8A-4147-A177-3AD203B41FA5}">
                      <a16:colId xmlns:a16="http://schemas.microsoft.com/office/drawing/2014/main" val="3380701169"/>
                    </a:ext>
                  </a:extLst>
                </a:gridCol>
                <a:gridCol w="3967904">
                  <a:extLst>
                    <a:ext uri="{9D8B030D-6E8A-4147-A177-3AD203B41FA5}">
                      <a16:colId xmlns:a16="http://schemas.microsoft.com/office/drawing/2014/main" val="1037843962"/>
                    </a:ext>
                  </a:extLst>
                </a:gridCol>
                <a:gridCol w="2671435">
                  <a:extLst>
                    <a:ext uri="{9D8B030D-6E8A-4147-A177-3AD203B41FA5}">
                      <a16:colId xmlns:a16="http://schemas.microsoft.com/office/drawing/2014/main" val="40091182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Reverse a 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String Concatenation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String Repetition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8646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Program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text = "Python" </a:t>
                      </a:r>
                    </a:p>
                    <a:p>
                      <a:pPr marL="0" indent="0"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print(text[::-1])</a:t>
                      </a:r>
                    </a:p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first = "Data" 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second = "Science" </a:t>
                      </a: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print(first + " " + second)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print("AI "*3)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443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Output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err="1">
                          <a:solidFill>
                            <a:schemeClr val="tx1"/>
                          </a:solidFill>
                        </a:rPr>
                        <a:t>nohtyP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Data Science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AI </a:t>
                      </a:r>
                      <a:r>
                        <a:rPr lang="en-IN" dirty="0" err="1">
                          <a:solidFill>
                            <a:schemeClr val="tx1"/>
                          </a:solidFill>
                        </a:rPr>
                        <a:t>AI</a:t>
                      </a: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IN" dirty="0" err="1">
                          <a:solidFill>
                            <a:schemeClr val="tx1"/>
                          </a:solidFill>
                        </a:rPr>
                        <a:t>AI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3362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01851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Membership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222463"/>
              </p:ext>
            </p:extLst>
          </p:nvPr>
        </p:nvGraphicFramePr>
        <p:xfrm>
          <a:off x="565356" y="2006807"/>
          <a:ext cx="10354436" cy="32940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9336">
                  <a:extLst>
                    <a:ext uri="{9D8B030D-6E8A-4147-A177-3AD203B41FA5}">
                      <a16:colId xmlns:a16="http://schemas.microsoft.com/office/drawing/2014/main" val="1062862344"/>
                    </a:ext>
                  </a:extLst>
                </a:gridCol>
                <a:gridCol w="3458591">
                  <a:extLst>
                    <a:ext uri="{9D8B030D-6E8A-4147-A177-3AD203B41FA5}">
                      <a16:colId xmlns:a16="http://schemas.microsoft.com/office/drawing/2014/main" val="3380701169"/>
                    </a:ext>
                  </a:extLst>
                </a:gridCol>
                <a:gridCol w="5126509">
                  <a:extLst>
                    <a:ext uri="{9D8B030D-6E8A-4147-A177-3AD203B41FA5}">
                      <a16:colId xmlns:a16="http://schemas.microsoft.com/office/drawing/2014/main" val="1037843962"/>
                    </a:ext>
                  </a:extLst>
                </a:gridCol>
              </a:tblGrid>
              <a:tr h="475230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Membership Operators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Comparison Operators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8646812"/>
                  </a:ext>
                </a:extLst>
              </a:tr>
              <a:tr h="1171801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Program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dirty="0"/>
                        <a:t>text = "Machine Learning" print("Learning" in text) print("Python" in text)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print("ABC"=="ABC") print("ABC"=="</a:t>
                      </a:r>
                      <a:r>
                        <a:rPr lang="en-IN" dirty="0" err="1"/>
                        <a:t>abc</a:t>
                      </a:r>
                      <a:r>
                        <a:rPr lang="en-IN" dirty="0"/>
                        <a:t>")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443637"/>
                  </a:ext>
                </a:extLst>
              </a:tr>
              <a:tr h="1171801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Output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True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dirty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False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True False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336242"/>
                  </a:ext>
                </a:extLst>
              </a:tr>
              <a:tr h="47523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Remark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Comparison is lexicographic and Unicode-based.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06284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73574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String Immutability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7252935"/>
              </p:ext>
            </p:extLst>
          </p:nvPr>
        </p:nvGraphicFramePr>
        <p:xfrm>
          <a:off x="565356" y="2006807"/>
          <a:ext cx="10009879" cy="42987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8001">
                  <a:extLst>
                    <a:ext uri="{9D8B030D-6E8A-4147-A177-3AD203B41FA5}">
                      <a16:colId xmlns:a16="http://schemas.microsoft.com/office/drawing/2014/main" val="1062862344"/>
                    </a:ext>
                  </a:extLst>
                </a:gridCol>
                <a:gridCol w="8401878">
                  <a:extLst>
                    <a:ext uri="{9D8B030D-6E8A-4147-A177-3AD203B41FA5}">
                      <a16:colId xmlns:a16="http://schemas.microsoft.com/office/drawing/2014/main" val="3380701169"/>
                    </a:ext>
                  </a:extLst>
                </a:gridCol>
              </a:tblGrid>
              <a:tr h="475230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Membership Operators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8646812"/>
                  </a:ext>
                </a:extLst>
              </a:tr>
              <a:tr h="1171801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Program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pPr rtl="0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name = "Python" </a:t>
                      </a:r>
                    </a:p>
                    <a:p>
                      <a:pPr rtl="0"/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pPr rtl="0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name[0]="J"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443637"/>
                  </a:ext>
                </a:extLst>
              </a:tr>
              <a:tr h="1171801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Output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err="1">
                          <a:solidFill>
                            <a:schemeClr val="tx1"/>
                          </a:solidFill>
                        </a:rPr>
                        <a:t>TypeError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336242"/>
                  </a:ext>
                </a:extLst>
              </a:tr>
              <a:tr h="47523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Remark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Strings cannot be modified in place.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Then correct one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name = "</a:t>
                      </a:r>
                      <a:r>
                        <a:rPr lang="en-IN" dirty="0" err="1">
                          <a:solidFill>
                            <a:schemeClr val="tx1"/>
                          </a:solidFill>
                        </a:rPr>
                        <a:t>Jython</a:t>
                      </a: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06284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93438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Common String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8652422"/>
              </p:ext>
            </p:extLst>
          </p:nvPr>
        </p:nvGraphicFramePr>
        <p:xfrm>
          <a:off x="521499" y="1566290"/>
          <a:ext cx="6581666" cy="523311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460240">
                  <a:extLst>
                    <a:ext uri="{9D8B030D-6E8A-4147-A177-3AD203B41FA5}">
                      <a16:colId xmlns:a16="http://schemas.microsoft.com/office/drawing/2014/main" val="673623291"/>
                    </a:ext>
                  </a:extLst>
                </a:gridCol>
                <a:gridCol w="4121426">
                  <a:extLst>
                    <a:ext uri="{9D8B030D-6E8A-4147-A177-3AD203B41FA5}">
                      <a16:colId xmlns:a16="http://schemas.microsoft.com/office/drawing/2014/main" val="2372583016"/>
                    </a:ext>
                  </a:extLst>
                </a:gridCol>
              </a:tblGrid>
              <a:tr h="255961">
                <a:tc>
                  <a:txBody>
                    <a:bodyPr/>
                    <a:lstStyle/>
                    <a:p>
                      <a:r>
                        <a:rPr lang="en-IN" sz="1600" b="1"/>
                        <a:t>Method</a:t>
                      </a:r>
                    </a:p>
                  </a:txBody>
                  <a:tcPr marL="63990" marR="63990" marT="31995" marB="3199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/>
                        <a:t>Purpose</a:t>
                      </a:r>
                    </a:p>
                  </a:txBody>
                  <a:tcPr marL="63990" marR="63990" marT="31995" marB="31995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553959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r>
                        <a:rPr lang="en-IN" sz="1600"/>
                        <a:t>upper()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Uppercase</a:t>
                      </a: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3241442794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r>
                        <a:rPr lang="en-IN" sz="1600"/>
                        <a:t>lower()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Lowercase</a:t>
                      </a: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3446233270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r>
                        <a:rPr lang="en-IN" sz="1600"/>
                        <a:t>title()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Title case</a:t>
                      </a: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3390894305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r>
                        <a:rPr lang="en-IN" sz="1600"/>
                        <a:t>capitalize()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First letter capital</a:t>
                      </a: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821797152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r>
                        <a:rPr lang="en-IN" sz="1600"/>
                        <a:t>swapcase()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Swap case</a:t>
                      </a: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4027031319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r>
                        <a:rPr lang="en-IN" sz="1600"/>
                        <a:t>strip()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Remove leading/trailing whitespace</a:t>
                      </a: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3289306071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r>
                        <a:rPr lang="en-IN" sz="1600"/>
                        <a:t>replace()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Replace text</a:t>
                      </a: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984192219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r>
                        <a:rPr lang="en-IN" sz="1600"/>
                        <a:t>find()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Find substring</a:t>
                      </a: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3807324627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r>
                        <a:rPr lang="en-IN" sz="1600"/>
                        <a:t>count()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Count occurrences</a:t>
                      </a: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2052528157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r>
                        <a:rPr lang="en-IN" sz="1600"/>
                        <a:t>split()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Split string</a:t>
                      </a: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975638982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r>
                        <a:rPr lang="en-IN" sz="1600"/>
                        <a:t>join()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Join strings</a:t>
                      </a: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3513352652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r>
                        <a:rPr lang="en-IN" sz="1600"/>
                        <a:t>startswith()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Check prefix</a:t>
                      </a: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996036976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r>
                        <a:rPr lang="en-IN" sz="1600"/>
                        <a:t>endswith()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Check suffix</a:t>
                      </a: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429363626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r>
                        <a:rPr lang="en-IN" sz="1600"/>
                        <a:t>isalpha()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Letters only</a:t>
                      </a: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3839618228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r>
                        <a:rPr lang="en-IN" sz="1600"/>
                        <a:t>isdigit()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Digits only</a:t>
                      </a: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4022306833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r>
                        <a:rPr lang="en-IN" sz="1600"/>
                        <a:t>isalnum()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Letters or digits</a:t>
                      </a: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293770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09029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String Formatting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7641040"/>
              </p:ext>
            </p:extLst>
          </p:nvPr>
        </p:nvGraphicFramePr>
        <p:xfrm>
          <a:off x="307078" y="2142171"/>
          <a:ext cx="11577843" cy="18288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350581">
                  <a:extLst>
                    <a:ext uri="{9D8B030D-6E8A-4147-A177-3AD203B41FA5}">
                      <a16:colId xmlns:a16="http://schemas.microsoft.com/office/drawing/2014/main" val="3371150842"/>
                    </a:ext>
                  </a:extLst>
                </a:gridCol>
                <a:gridCol w="3004967">
                  <a:extLst>
                    <a:ext uri="{9D8B030D-6E8A-4147-A177-3AD203B41FA5}">
                      <a16:colId xmlns:a16="http://schemas.microsoft.com/office/drawing/2014/main" val="834880358"/>
                    </a:ext>
                  </a:extLst>
                </a:gridCol>
                <a:gridCol w="4426226">
                  <a:extLst>
                    <a:ext uri="{9D8B030D-6E8A-4147-A177-3AD203B41FA5}">
                      <a16:colId xmlns:a16="http://schemas.microsoft.com/office/drawing/2014/main" val="4134170618"/>
                    </a:ext>
                  </a:extLst>
                </a:gridCol>
                <a:gridCol w="2796069">
                  <a:extLst>
                    <a:ext uri="{9D8B030D-6E8A-4147-A177-3AD203B41FA5}">
                      <a16:colId xmlns:a16="http://schemas.microsoft.com/office/drawing/2014/main" val="23794993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Format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Using f-Strings (Recommended)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Using format()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Using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3299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Program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 = "Anil" </a:t>
                      </a:r>
                    </a:p>
                    <a:p>
                      <a:r>
                        <a:rPr lang="en-US" dirty="0"/>
                        <a:t>age = 38</a:t>
                      </a:r>
                    </a:p>
                    <a:p>
                      <a:r>
                        <a:rPr lang="en-US" dirty="0"/>
                        <a:t>print(</a:t>
                      </a:r>
                      <a:r>
                        <a:rPr lang="en-US" dirty="0" err="1"/>
                        <a:t>f"My</a:t>
                      </a:r>
                      <a:r>
                        <a:rPr lang="en-US" dirty="0"/>
                        <a:t> name is {name}. I am {age} years old.")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print("Name: {} Age: {}".format(name, age))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print("Age=%d" % age)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49415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88449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Escape Characters</a:t>
            </a:r>
            <a:endParaRPr lang="en-IN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4466579"/>
              </p:ext>
            </p:extLst>
          </p:nvPr>
        </p:nvGraphicFramePr>
        <p:xfrm>
          <a:off x="679173" y="1891195"/>
          <a:ext cx="3853069" cy="30175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81677">
                  <a:extLst>
                    <a:ext uri="{9D8B030D-6E8A-4147-A177-3AD203B41FA5}">
                      <a16:colId xmlns:a16="http://schemas.microsoft.com/office/drawing/2014/main" val="2002266913"/>
                    </a:ext>
                  </a:extLst>
                </a:gridCol>
                <a:gridCol w="2571392">
                  <a:extLst>
                    <a:ext uri="{9D8B030D-6E8A-4147-A177-3AD203B41FA5}">
                      <a16:colId xmlns:a16="http://schemas.microsoft.com/office/drawing/2014/main" val="4108131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700" b="1"/>
                        <a:t>Escape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700" b="1" dirty="0"/>
                        <a:t>Meaning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2110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700"/>
                        <a:t>\n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700" dirty="0"/>
                        <a:t>New line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1509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700"/>
                        <a:t>\t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700"/>
                        <a:t>Tab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9500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700"/>
                        <a:t>\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700" dirty="0"/>
                        <a:t>Backslash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10186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700"/>
                        <a:t>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700"/>
                        <a:t>Double quote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7544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700"/>
                        <a:t>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700" dirty="0"/>
                        <a:t>Single quote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6016711"/>
                  </a:ext>
                </a:extLst>
              </a:tr>
            </a:tbl>
          </a:graphicData>
        </a:graphic>
      </p:graphicFrame>
      <p:pic>
        <p:nvPicPr>
          <p:cNvPr id="4" name="Picture 3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6582348" y="2833516"/>
            <a:ext cx="3477362" cy="5386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900" dirty="0"/>
              <a:t>print("Hello\</a:t>
            </a:r>
            <a:r>
              <a:rPr lang="en-IN" sz="2900" dirty="0" err="1"/>
              <a:t>nWorld</a:t>
            </a:r>
            <a:r>
              <a:rPr lang="en-IN" sz="2900" dirty="0"/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7909415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Raw Strings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6477874"/>
              </p:ext>
            </p:extLst>
          </p:nvPr>
        </p:nvGraphicFramePr>
        <p:xfrm>
          <a:off x="679173" y="1891195"/>
          <a:ext cx="10253870" cy="10363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55225">
                  <a:extLst>
                    <a:ext uri="{9D8B030D-6E8A-4147-A177-3AD203B41FA5}">
                      <a16:colId xmlns:a16="http://schemas.microsoft.com/office/drawing/2014/main" val="2002266913"/>
                    </a:ext>
                  </a:extLst>
                </a:gridCol>
                <a:gridCol w="7998645">
                  <a:extLst>
                    <a:ext uri="{9D8B030D-6E8A-4147-A177-3AD203B41FA5}">
                      <a16:colId xmlns:a16="http://schemas.microsoft.com/office/drawing/2014/main" val="4108131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700" dirty="0"/>
                        <a:t>Program</a:t>
                      </a:r>
                      <a:endParaRPr lang="en-IN" sz="2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path = </a:t>
                      </a:r>
                      <a:r>
                        <a:rPr lang="en-IN" sz="2800" dirty="0" err="1"/>
                        <a:t>r"C</a:t>
                      </a:r>
                      <a:r>
                        <a:rPr lang="en-IN" sz="2800" dirty="0"/>
                        <a:t>:\Users\Anil\Documents" print(path)</a:t>
                      </a:r>
                      <a:endParaRPr lang="en-IN" sz="2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9500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700" dirty="0"/>
                        <a:t>Remarks</a:t>
                      </a:r>
                      <a:endParaRPr lang="en-IN" sz="2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Useful for file paths and regular expressions.</a:t>
                      </a:r>
                      <a:endParaRPr lang="en-IN" sz="2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1018672"/>
                  </a:ext>
                </a:extLst>
              </a:tr>
            </a:tbl>
          </a:graphicData>
        </a:graphic>
      </p:graphicFrame>
      <p:pic>
        <p:nvPicPr>
          <p:cNvPr id="4" name="Picture 3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1450180"/>
              </p:ext>
            </p:extLst>
          </p:nvPr>
        </p:nvGraphicFramePr>
        <p:xfrm>
          <a:off x="520147" y="3462866"/>
          <a:ext cx="6450498" cy="274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436">
                  <a:extLst>
                    <a:ext uri="{9D8B030D-6E8A-4147-A177-3AD203B41FA5}">
                      <a16:colId xmlns:a16="http://schemas.microsoft.com/office/drawing/2014/main" val="2475279384"/>
                    </a:ext>
                  </a:extLst>
                </a:gridCol>
                <a:gridCol w="4943062">
                  <a:extLst>
                    <a:ext uri="{9D8B030D-6E8A-4147-A177-3AD203B41FA5}">
                      <a16:colId xmlns:a16="http://schemas.microsoft.com/office/drawing/2014/main" val="3951897524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Encoding and Decoding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4740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700" dirty="0"/>
                        <a:t>Program</a:t>
                      </a:r>
                      <a:endParaRPr lang="en-IN" sz="2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text = "Python" </a:t>
                      </a:r>
                    </a:p>
                    <a:p>
                      <a:pPr rtl="0"/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pPr rtl="0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encoded = </a:t>
                      </a:r>
                      <a:r>
                        <a:rPr lang="en-IN" dirty="0" err="1">
                          <a:solidFill>
                            <a:schemeClr val="tx1"/>
                          </a:solidFill>
                        </a:rPr>
                        <a:t>text.encode</a:t>
                      </a: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("utf-8") </a:t>
                      </a:r>
                    </a:p>
                    <a:p>
                      <a:pPr rtl="0"/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pPr rtl="0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decoded = </a:t>
                      </a:r>
                      <a:r>
                        <a:rPr lang="en-IN" dirty="0" err="1">
                          <a:solidFill>
                            <a:schemeClr val="tx1"/>
                          </a:solidFill>
                        </a:rPr>
                        <a:t>encoded.decode</a:t>
                      </a: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("utf-8")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0147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700" dirty="0"/>
                        <a:t>Remarks</a:t>
                      </a:r>
                      <a:endParaRPr lang="en-IN" sz="2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Encoding converts text to bytes; </a:t>
                      </a: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decoding converts bytes back to text.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0232334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7788475"/>
              </p:ext>
            </p:extLst>
          </p:nvPr>
        </p:nvGraphicFramePr>
        <p:xfrm>
          <a:off x="7566991" y="3462864"/>
          <a:ext cx="4253948" cy="239459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10342">
                  <a:extLst>
                    <a:ext uri="{9D8B030D-6E8A-4147-A177-3AD203B41FA5}">
                      <a16:colId xmlns:a16="http://schemas.microsoft.com/office/drawing/2014/main" val="3127308655"/>
                    </a:ext>
                  </a:extLst>
                </a:gridCol>
                <a:gridCol w="3043606">
                  <a:extLst>
                    <a:ext uri="{9D8B030D-6E8A-4147-A177-3AD203B41FA5}">
                      <a16:colId xmlns:a16="http://schemas.microsoft.com/office/drawing/2014/main" val="1286609140"/>
                    </a:ext>
                  </a:extLst>
                </a:gridCol>
              </a:tblGrid>
              <a:tr h="740098">
                <a:tc gridSpan="2"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Common String Errors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5444880"/>
                  </a:ext>
                </a:extLst>
              </a:tr>
              <a:tr h="740098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Program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name = "Python </a:t>
                      </a:r>
                    </a:p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print(name)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1366379"/>
                  </a:ext>
                </a:extLst>
              </a:tr>
              <a:tr h="740098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Output 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chemeClr val="tx1"/>
                          </a:solidFill>
                        </a:rPr>
                        <a:t>SyntaxError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15632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9988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Real Applications of Strings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IN" dirty="0"/>
              <a:t>NLP </a:t>
            </a:r>
          </a:p>
          <a:p>
            <a:r>
              <a:rPr lang="en-IN" dirty="0" err="1"/>
              <a:t>ChatGPT</a:t>
            </a:r>
            <a:r>
              <a:rPr lang="en-IN" dirty="0"/>
              <a:t> prompts </a:t>
            </a:r>
          </a:p>
          <a:p>
            <a:r>
              <a:rPr lang="en-IN" dirty="0"/>
              <a:t>Email validation </a:t>
            </a:r>
          </a:p>
          <a:p>
            <a:r>
              <a:rPr lang="en-IN" dirty="0"/>
              <a:t>Password checking </a:t>
            </a:r>
          </a:p>
          <a:p>
            <a:r>
              <a:rPr lang="en-IN" dirty="0"/>
              <a:t>DNA sequence analysis </a:t>
            </a:r>
          </a:p>
          <a:p>
            <a:r>
              <a:rPr lang="en-IN" dirty="0"/>
              <a:t>Speech recognition </a:t>
            </a:r>
          </a:p>
          <a:p>
            <a:r>
              <a:rPr lang="en-IN" dirty="0"/>
              <a:t>OCR </a:t>
            </a:r>
          </a:p>
          <a:p>
            <a:r>
              <a:rPr lang="en-IN" dirty="0"/>
              <a:t>Search engines </a:t>
            </a:r>
          </a:p>
          <a:p>
            <a:r>
              <a:rPr lang="en-IN" dirty="0"/>
              <a:t>Sentiment analysis</a:t>
            </a:r>
          </a:p>
          <a:p>
            <a:endParaRPr lang="en-IN" dirty="0"/>
          </a:p>
        </p:txBody>
      </p:sp>
      <p:pic>
        <p:nvPicPr>
          <p:cNvPr id="4" name="Picture 3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32180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Python: </a:t>
            </a:r>
            <a:r>
              <a:rPr lang="en-US" b="1" dirty="0"/>
              <a:t>Booleans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61043" y="4012856"/>
            <a:ext cx="3949148" cy="1089231"/>
          </a:xfrm>
        </p:spPr>
        <p:txBody>
          <a:bodyPr/>
          <a:lstStyle/>
          <a:p>
            <a:r>
              <a:rPr lang="en-US" dirty="0"/>
              <a:t>Prof. (Dr.) Anil Kumar Dubey</a:t>
            </a:r>
          </a:p>
          <a:p>
            <a:r>
              <a:rPr lang="en-US" dirty="0"/>
              <a:t>Professor - CSE </a:t>
            </a:r>
            <a:r>
              <a:rPr lang="en-US" dirty="0" err="1"/>
              <a:t>Dept</a:t>
            </a:r>
            <a:endParaRPr lang="en-US" dirty="0"/>
          </a:p>
          <a:p>
            <a:endParaRPr lang="en-IN" dirty="0"/>
          </a:p>
        </p:txBody>
      </p:sp>
      <p:pic>
        <p:nvPicPr>
          <p:cNvPr id="1026" name="Picture 2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39798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Boolean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Boolean algebra was developed by </a:t>
            </a:r>
            <a:r>
              <a:rPr lang="en-US" b="1" dirty="0"/>
              <a:t>George Boole</a:t>
            </a:r>
            <a:r>
              <a:rPr lang="en-US" dirty="0"/>
              <a:t>, and it forms the mathematical basis of digital logic, computer architecture, search algorithms, and AI decision-making. </a:t>
            </a:r>
          </a:p>
          <a:p>
            <a:endParaRPr lang="en-US" dirty="0"/>
          </a:p>
          <a:p>
            <a:r>
              <a:rPr lang="en-US" dirty="0"/>
              <a:t>Boolean values represent </a:t>
            </a:r>
            <a:r>
              <a:rPr lang="en-US" b="1" dirty="0"/>
              <a:t>truth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Python has only two Boolean values:</a:t>
            </a:r>
          </a:p>
          <a:p>
            <a:pPr marL="0" indent="0">
              <a:buNone/>
            </a:pPr>
            <a:r>
              <a:rPr lang="en-IN" dirty="0"/>
              <a:t>True </a:t>
            </a:r>
          </a:p>
          <a:p>
            <a:pPr marL="0" indent="0">
              <a:buNone/>
            </a:pPr>
            <a:r>
              <a:rPr lang="en-IN" dirty="0"/>
              <a:t>False</a:t>
            </a:r>
          </a:p>
          <a:p>
            <a:pPr marL="0" indent="0">
              <a:buNone/>
            </a:pPr>
            <a:endParaRPr lang="en-US" dirty="0"/>
          </a:p>
          <a:p>
            <a:r>
              <a:rPr lang="en-IN" dirty="0"/>
              <a:t>Type </a:t>
            </a:r>
          </a:p>
          <a:p>
            <a:pPr marL="0" indent="0">
              <a:buNone/>
            </a:pPr>
            <a:r>
              <a:rPr lang="en-IN" dirty="0"/>
              <a:t>print(type(True))</a:t>
            </a:r>
            <a:endParaRPr lang="en-US" dirty="0"/>
          </a:p>
          <a:p>
            <a:endParaRPr lang="en-IN" dirty="0"/>
          </a:p>
        </p:txBody>
      </p:sp>
      <p:pic>
        <p:nvPicPr>
          <p:cNvPr id="4" name="Picture 3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30076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Boolean Memory Representation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IN" dirty="0"/>
              <a:t>flag ----------</a:t>
            </a:r>
            <a:r>
              <a:rPr lang="en-IN" dirty="0">
                <a:sym typeface="Wingdings" panose="05000000000000000000" pitchFamily="2" charset="2"/>
              </a:rPr>
              <a:t> </a:t>
            </a:r>
            <a:r>
              <a:rPr lang="en-IN" dirty="0"/>
              <a:t> True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 Boolean variable references one of the singleton objects (True or False)</a:t>
            </a:r>
          </a:p>
          <a:p>
            <a:endParaRPr lang="en-US" dirty="0"/>
          </a:p>
          <a:p>
            <a:endParaRPr lang="en-US" dirty="0"/>
          </a:p>
          <a:p>
            <a:r>
              <a:rPr lang="en-IN" dirty="0"/>
              <a:t>Boolean Values</a:t>
            </a:r>
          </a:p>
          <a:p>
            <a:pPr marL="0" indent="0">
              <a:buNone/>
            </a:pPr>
            <a:r>
              <a:rPr lang="en-IN" dirty="0"/>
              <a:t>		x = True </a:t>
            </a:r>
          </a:p>
          <a:p>
            <a:pPr marL="0" indent="0">
              <a:buNone/>
            </a:pPr>
            <a:r>
              <a:rPr lang="en-IN" dirty="0"/>
              <a:t>		y = False</a:t>
            </a:r>
          </a:p>
        </p:txBody>
      </p:sp>
      <p:pic>
        <p:nvPicPr>
          <p:cNvPr id="4" name="Picture 3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369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Boolean from Comparisons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print(5&gt;3) 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print(5&lt;3) 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print(10==10)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Output</a:t>
            </a:r>
            <a:r>
              <a:rPr lang="en-US" dirty="0"/>
              <a:t>: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IN" dirty="0"/>
              <a:t>True </a:t>
            </a:r>
          </a:p>
          <a:p>
            <a:pPr marL="0" indent="0">
              <a:buNone/>
            </a:pPr>
            <a:r>
              <a:rPr lang="en-IN" dirty="0"/>
              <a:t>	False </a:t>
            </a:r>
          </a:p>
          <a:p>
            <a:pPr marL="0" indent="0">
              <a:buNone/>
            </a:pPr>
            <a:r>
              <a:rPr lang="en-IN" dirty="0"/>
              <a:t>	True</a:t>
            </a:r>
          </a:p>
        </p:txBody>
      </p:sp>
      <p:pic>
        <p:nvPicPr>
          <p:cNvPr id="4" name="Picture 3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95791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Boolean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= True</a:t>
            </a:r>
          </a:p>
          <a:p>
            <a:pPr marL="0" indent="0">
              <a:buNone/>
            </a:pPr>
            <a:r>
              <a:rPr lang="en-US" dirty="0"/>
              <a:t>b = False </a:t>
            </a:r>
          </a:p>
          <a:p>
            <a:pPr marL="0" indent="0">
              <a:buNone/>
            </a:pPr>
            <a:r>
              <a:rPr lang="en-US" dirty="0"/>
              <a:t>print(a and b) </a:t>
            </a:r>
          </a:p>
          <a:p>
            <a:pPr marL="0" indent="0">
              <a:buNone/>
            </a:pPr>
            <a:r>
              <a:rPr lang="en-US" dirty="0"/>
              <a:t>print(a or b) </a:t>
            </a:r>
          </a:p>
          <a:p>
            <a:pPr marL="0" indent="0">
              <a:buNone/>
            </a:pPr>
            <a:r>
              <a:rPr lang="en-US" dirty="0"/>
              <a:t>print(not a)</a:t>
            </a:r>
            <a:endParaRPr lang="en-IN" dirty="0"/>
          </a:p>
        </p:txBody>
      </p:sp>
      <p:pic>
        <p:nvPicPr>
          <p:cNvPr id="4" name="Picture 3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5368749"/>
              </p:ext>
            </p:extLst>
          </p:nvPr>
        </p:nvGraphicFramePr>
        <p:xfrm>
          <a:off x="5857461" y="4223931"/>
          <a:ext cx="4784035" cy="19507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49287">
                  <a:extLst>
                    <a:ext uri="{9D8B030D-6E8A-4147-A177-3AD203B41FA5}">
                      <a16:colId xmlns:a16="http://schemas.microsoft.com/office/drawing/2014/main" val="3494808579"/>
                    </a:ext>
                  </a:extLst>
                </a:gridCol>
                <a:gridCol w="3034748">
                  <a:extLst>
                    <a:ext uri="{9D8B030D-6E8A-4147-A177-3AD203B41FA5}">
                      <a16:colId xmlns:a16="http://schemas.microsoft.com/office/drawing/2014/main" val="6121908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600"/>
                        <a:t>Operator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600" dirty="0"/>
                        <a:t>Meaning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85023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600"/>
                        <a:t>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Logical AND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375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600"/>
                        <a:t>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Logical 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93458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600"/>
                        <a:t>not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600" dirty="0"/>
                        <a:t>Logical NOT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1484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28271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Truth Table</a:t>
            </a:r>
          </a:p>
        </p:txBody>
      </p:sp>
      <p:pic>
        <p:nvPicPr>
          <p:cNvPr id="4" name="Picture 3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880159"/>
              </p:ext>
            </p:extLst>
          </p:nvPr>
        </p:nvGraphicFramePr>
        <p:xfrm>
          <a:off x="520148" y="1549641"/>
          <a:ext cx="4197627" cy="21945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99209">
                  <a:extLst>
                    <a:ext uri="{9D8B030D-6E8A-4147-A177-3AD203B41FA5}">
                      <a16:colId xmlns:a16="http://schemas.microsoft.com/office/drawing/2014/main" val="1994735763"/>
                    </a:ext>
                  </a:extLst>
                </a:gridCol>
                <a:gridCol w="1399209">
                  <a:extLst>
                    <a:ext uri="{9D8B030D-6E8A-4147-A177-3AD203B41FA5}">
                      <a16:colId xmlns:a16="http://schemas.microsoft.com/office/drawing/2014/main" val="3729309418"/>
                    </a:ext>
                  </a:extLst>
                </a:gridCol>
                <a:gridCol w="1399209">
                  <a:extLst>
                    <a:ext uri="{9D8B030D-6E8A-4147-A177-3AD203B41FA5}">
                      <a16:colId xmlns:a16="http://schemas.microsoft.com/office/drawing/2014/main" val="2701619805"/>
                    </a:ext>
                  </a:extLst>
                </a:gridCol>
              </a:tblGrid>
              <a:tr h="182880">
                <a:tc gridSpan="3"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AND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664713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IN" b="1" dirty="0"/>
                        <a:t>A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B</a:t>
                      </a:r>
                      <a:endParaRPr lang="en-IN" b="1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Result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70305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True</a:t>
                      </a:r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True</a:t>
                      </a:r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True</a:t>
                      </a:r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3511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True</a:t>
                      </a:r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False</a:t>
                      </a:r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False</a:t>
                      </a:r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79576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False</a:t>
                      </a:r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True</a:t>
                      </a:r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False</a:t>
                      </a:r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98819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False</a:t>
                      </a:r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False</a:t>
                      </a:r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False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3707684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5400903"/>
              </p:ext>
            </p:extLst>
          </p:nvPr>
        </p:nvGraphicFramePr>
        <p:xfrm>
          <a:off x="5685182" y="1549641"/>
          <a:ext cx="4823793" cy="21945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07931">
                  <a:extLst>
                    <a:ext uri="{9D8B030D-6E8A-4147-A177-3AD203B41FA5}">
                      <a16:colId xmlns:a16="http://schemas.microsoft.com/office/drawing/2014/main" val="3953701847"/>
                    </a:ext>
                  </a:extLst>
                </a:gridCol>
                <a:gridCol w="1607931">
                  <a:extLst>
                    <a:ext uri="{9D8B030D-6E8A-4147-A177-3AD203B41FA5}">
                      <a16:colId xmlns:a16="http://schemas.microsoft.com/office/drawing/2014/main" val="4089887055"/>
                    </a:ext>
                  </a:extLst>
                </a:gridCol>
                <a:gridCol w="1607931">
                  <a:extLst>
                    <a:ext uri="{9D8B030D-6E8A-4147-A177-3AD203B41FA5}">
                      <a16:colId xmlns:a16="http://schemas.microsoft.com/office/drawing/2014/main" val="2459353837"/>
                    </a:ext>
                  </a:extLst>
                </a:gridCol>
              </a:tblGrid>
              <a:tr h="182880">
                <a:tc gridSpan="3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OR</a:t>
                      </a:r>
                      <a:endParaRPr lang="en-IN" b="1" dirty="0"/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083344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IN" b="1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39965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True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True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33040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True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False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14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False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True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0950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False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False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4842349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4458623"/>
              </p:ext>
            </p:extLst>
          </p:nvPr>
        </p:nvGraphicFramePr>
        <p:xfrm>
          <a:off x="4121425" y="4499575"/>
          <a:ext cx="3127514" cy="14630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63757">
                  <a:extLst>
                    <a:ext uri="{9D8B030D-6E8A-4147-A177-3AD203B41FA5}">
                      <a16:colId xmlns:a16="http://schemas.microsoft.com/office/drawing/2014/main" val="999274433"/>
                    </a:ext>
                  </a:extLst>
                </a:gridCol>
                <a:gridCol w="1563757">
                  <a:extLst>
                    <a:ext uri="{9D8B030D-6E8A-4147-A177-3AD203B41FA5}">
                      <a16:colId xmlns:a16="http://schemas.microsoft.com/office/drawing/2014/main" val="3986630385"/>
                    </a:ext>
                  </a:extLst>
                </a:gridCol>
              </a:tblGrid>
              <a:tr h="182880"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NOT</a:t>
                      </a:r>
                      <a:endParaRPr lang="en-IN" b="1" dirty="0"/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368106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IN" b="1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8014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True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2617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False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65859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34848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Truth Value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Objects that evaluate to </a:t>
            </a:r>
            <a:r>
              <a:rPr lang="en-US" b="1" dirty="0"/>
              <a:t>False</a:t>
            </a:r>
            <a:r>
              <a:rPr lang="en-US" dirty="0"/>
              <a:t> include:</a:t>
            </a:r>
          </a:p>
          <a:p>
            <a:pPr marL="0" indent="0">
              <a:buNone/>
            </a:pPr>
            <a:r>
              <a:rPr lang="en-US" dirty="0"/>
              <a:t>False </a:t>
            </a:r>
          </a:p>
          <a:p>
            <a:pPr marL="0" indent="0">
              <a:buNone/>
            </a:pPr>
            <a:r>
              <a:rPr lang="en-US" dirty="0"/>
              <a:t>None </a:t>
            </a:r>
          </a:p>
          <a:p>
            <a:pPr marL="0" indent="0">
              <a:buNone/>
            </a:pPr>
            <a:r>
              <a:rPr lang="en-US" dirty="0"/>
              <a:t>0 </a:t>
            </a:r>
          </a:p>
          <a:p>
            <a:pPr marL="0" indent="0">
              <a:buNone/>
            </a:pPr>
            <a:r>
              <a:rPr lang="en-US" dirty="0"/>
              <a:t>0.0 </a:t>
            </a:r>
          </a:p>
          <a:p>
            <a:pPr marL="0" indent="0">
              <a:buNone/>
            </a:pPr>
            <a:r>
              <a:rPr lang="en-US" dirty="0"/>
              <a:t>0j </a:t>
            </a:r>
          </a:p>
          <a:p>
            <a:pPr marL="0" indent="0">
              <a:buNone/>
            </a:pPr>
            <a:r>
              <a:rPr lang="en-US" dirty="0"/>
              <a:t>'' </a:t>
            </a:r>
          </a:p>
          <a:p>
            <a:pPr marL="0" indent="0">
              <a:buNone/>
            </a:pPr>
            <a:r>
              <a:rPr lang="en-US" dirty="0"/>
              <a:t>[] </a:t>
            </a:r>
          </a:p>
          <a:p>
            <a:pPr marL="0" indent="0">
              <a:buNone/>
            </a:pPr>
            <a:r>
              <a:rPr lang="en-US" dirty="0"/>
              <a:t>() </a:t>
            </a:r>
          </a:p>
          <a:p>
            <a:pPr marL="0" indent="0">
              <a:buNone/>
            </a:pPr>
            <a:r>
              <a:rPr lang="en-US" dirty="0"/>
              <a:t>{} </a:t>
            </a:r>
          </a:p>
          <a:p>
            <a:pPr marL="0" indent="0">
              <a:buNone/>
            </a:pPr>
            <a:r>
              <a:rPr lang="en-US" dirty="0"/>
              <a:t>set() </a:t>
            </a:r>
          </a:p>
          <a:p>
            <a:pPr marL="0" indent="0">
              <a:buNone/>
            </a:pPr>
            <a:r>
              <a:rPr lang="en-US" dirty="0"/>
              <a:t>range(0)</a:t>
            </a:r>
          </a:p>
          <a:p>
            <a:pPr marL="0" indent="0">
              <a:buNone/>
            </a:pPr>
            <a:r>
              <a:rPr lang="en-US" dirty="0"/>
              <a:t>Everything else is generally </a:t>
            </a:r>
            <a:r>
              <a:rPr lang="en-US" b="1" dirty="0"/>
              <a:t>True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8203096" y="3164821"/>
            <a:ext cx="2651047" cy="18774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900" dirty="0"/>
              <a:t>if "": </a:t>
            </a:r>
          </a:p>
          <a:p>
            <a:r>
              <a:rPr lang="en-IN" sz="2900" dirty="0"/>
              <a:t>	print("True") </a:t>
            </a:r>
          </a:p>
          <a:p>
            <a:r>
              <a:rPr lang="en-IN" sz="2900" dirty="0"/>
              <a:t>else: </a:t>
            </a:r>
          </a:p>
          <a:p>
            <a:r>
              <a:rPr lang="en-IN" sz="2900" dirty="0"/>
              <a:t>	print("False")</a:t>
            </a:r>
          </a:p>
        </p:txBody>
      </p:sp>
      <p:pic>
        <p:nvPicPr>
          <p:cNvPr id="5" name="Picture 4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26603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Boolean Conversion</a:t>
            </a:r>
          </a:p>
        </p:txBody>
      </p:sp>
      <p:pic>
        <p:nvPicPr>
          <p:cNvPr id="4" name="Picture 3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0396053"/>
              </p:ext>
            </p:extLst>
          </p:nvPr>
        </p:nvGraphicFramePr>
        <p:xfrm>
          <a:off x="733285" y="2006806"/>
          <a:ext cx="7483062" cy="1809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5515">
                  <a:extLst>
                    <a:ext uri="{9D8B030D-6E8A-4147-A177-3AD203B41FA5}">
                      <a16:colId xmlns:a16="http://schemas.microsoft.com/office/drawing/2014/main" val="967597559"/>
                    </a:ext>
                  </a:extLst>
                </a:gridCol>
                <a:gridCol w="967409">
                  <a:extLst>
                    <a:ext uri="{9D8B030D-6E8A-4147-A177-3AD203B41FA5}">
                      <a16:colId xmlns:a16="http://schemas.microsoft.com/office/drawing/2014/main" val="1778423824"/>
                    </a:ext>
                  </a:extLst>
                </a:gridCol>
                <a:gridCol w="1205948">
                  <a:extLst>
                    <a:ext uri="{9D8B030D-6E8A-4147-A177-3AD203B41FA5}">
                      <a16:colId xmlns:a16="http://schemas.microsoft.com/office/drawing/2014/main" val="395032477"/>
                    </a:ext>
                  </a:extLst>
                </a:gridCol>
                <a:gridCol w="1855304">
                  <a:extLst>
                    <a:ext uri="{9D8B030D-6E8A-4147-A177-3AD203B41FA5}">
                      <a16:colId xmlns:a16="http://schemas.microsoft.com/office/drawing/2014/main" val="761599918"/>
                    </a:ext>
                  </a:extLst>
                </a:gridCol>
                <a:gridCol w="2358886">
                  <a:extLst>
                    <a:ext uri="{9D8B030D-6E8A-4147-A177-3AD203B41FA5}">
                      <a16:colId xmlns:a16="http://schemas.microsoft.com/office/drawing/2014/main" val="2442026514"/>
                    </a:ext>
                  </a:extLst>
                </a:gridCol>
              </a:tblGrid>
              <a:tr h="485724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1112788"/>
                  </a:ext>
                </a:extLst>
              </a:tr>
              <a:tr h="838372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Program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bool(1)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bool(0)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bool("Python")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bool("")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3888573"/>
                  </a:ext>
                </a:extLst>
              </a:tr>
              <a:tr h="485724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Output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7325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43535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Short-Circuit Evaluation</a:t>
            </a:r>
          </a:p>
        </p:txBody>
      </p:sp>
      <p:pic>
        <p:nvPicPr>
          <p:cNvPr id="4" name="Picture 3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596348" y="2006807"/>
            <a:ext cx="10757452" cy="44781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900" dirty="0"/>
              <a:t>Python stops evaluating as soon as the result is determined.</a:t>
            </a:r>
          </a:p>
          <a:p>
            <a:pPr algn="just"/>
            <a:r>
              <a:rPr lang="en-IN" sz="3200" dirty="0"/>
              <a:t>				False and print("Hello")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3200" dirty="0"/>
              <a:t>Nothing is printed.</a:t>
            </a:r>
          </a:p>
          <a:p>
            <a:pPr algn="just"/>
            <a:r>
              <a:rPr lang="en-US" sz="3200" dirty="0"/>
              <a:t>				True or print("Hello")</a:t>
            </a:r>
          </a:p>
          <a:p>
            <a:endParaRPr lang="en-US" sz="3200" dirty="0"/>
          </a:p>
          <a:p>
            <a:endParaRPr lang="en-US" sz="3200" dirty="0"/>
          </a:p>
          <a:p>
            <a:r>
              <a:rPr lang="en-US" sz="3200" dirty="0"/>
              <a:t>Nothing is printed.</a:t>
            </a:r>
          </a:p>
          <a:p>
            <a:r>
              <a:rPr lang="en-US" sz="3200" dirty="0"/>
              <a:t>This improves efficiency and avoids unnecessary computation.</a:t>
            </a:r>
            <a:endParaRPr lang="en-IN" sz="2900" dirty="0"/>
          </a:p>
        </p:txBody>
      </p:sp>
    </p:spTree>
    <p:extLst>
      <p:ext uri="{BB962C8B-B14F-4D97-AF65-F5344CB8AC3E}">
        <p14:creationId xmlns:p14="http://schemas.microsoft.com/office/powerpoint/2010/main" val="17837635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Applications of Booleans</a:t>
            </a:r>
          </a:p>
        </p:txBody>
      </p:sp>
      <p:pic>
        <p:nvPicPr>
          <p:cNvPr id="4" name="Picture 3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596348" y="1873475"/>
            <a:ext cx="10757452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Login authentication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Password validation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Face recognition decisions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Spam filtering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Medical diagnosis rules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AI decision trees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Recommendation systems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Search filtering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Robotics control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Autonomous vehicles</a:t>
            </a:r>
          </a:p>
        </p:txBody>
      </p:sp>
    </p:spTree>
    <p:extLst>
      <p:ext uri="{BB962C8B-B14F-4D97-AF65-F5344CB8AC3E}">
        <p14:creationId xmlns:p14="http://schemas.microsoft.com/office/powerpoint/2010/main" val="21268282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Program 1: Reverse String</a:t>
            </a:r>
            <a:endParaRPr lang="en-IN" b="1" dirty="0"/>
          </a:p>
        </p:txBody>
      </p:sp>
      <p:pic>
        <p:nvPicPr>
          <p:cNvPr id="4" name="Picture 3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596348" y="1873475"/>
            <a:ext cx="1075745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text = input("Enter text: ") </a:t>
            </a:r>
          </a:p>
          <a:p>
            <a:endParaRPr lang="en-US" sz="3200" dirty="0"/>
          </a:p>
          <a:p>
            <a:r>
              <a:rPr lang="en-US" sz="3200" dirty="0"/>
              <a:t>print(text[::-1])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8729759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Program 2: Count Vowels</a:t>
            </a:r>
            <a:endParaRPr lang="en-IN" b="1" dirty="0"/>
          </a:p>
        </p:txBody>
      </p:sp>
      <p:pic>
        <p:nvPicPr>
          <p:cNvPr id="4" name="Picture 3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596348" y="1873475"/>
            <a:ext cx="1075745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text = input("Enter text: ").lower()</a:t>
            </a:r>
          </a:p>
          <a:p>
            <a:endParaRPr lang="en-US" sz="3200" dirty="0"/>
          </a:p>
          <a:p>
            <a:r>
              <a:rPr lang="en-US" sz="3200" dirty="0"/>
              <a:t>count = 0</a:t>
            </a:r>
          </a:p>
          <a:p>
            <a:endParaRPr lang="en-US" sz="3200" dirty="0"/>
          </a:p>
          <a:p>
            <a:r>
              <a:rPr lang="en-US" sz="3200" dirty="0"/>
              <a:t>for </a:t>
            </a:r>
            <a:r>
              <a:rPr lang="en-US" sz="3200" dirty="0" err="1"/>
              <a:t>ch</a:t>
            </a:r>
            <a:r>
              <a:rPr lang="en-US" sz="3200" dirty="0"/>
              <a:t> in text:</a:t>
            </a:r>
          </a:p>
          <a:p>
            <a:r>
              <a:rPr lang="en-US" sz="3200" dirty="0"/>
              <a:t>    if </a:t>
            </a:r>
            <a:r>
              <a:rPr lang="en-US" sz="3200" dirty="0" err="1"/>
              <a:t>ch</a:t>
            </a:r>
            <a:r>
              <a:rPr lang="en-US" sz="3200" dirty="0"/>
              <a:t> in "</a:t>
            </a:r>
            <a:r>
              <a:rPr lang="en-US" sz="3200" dirty="0" err="1"/>
              <a:t>aeiou</a:t>
            </a:r>
            <a:r>
              <a:rPr lang="en-US" sz="3200" dirty="0"/>
              <a:t>":</a:t>
            </a:r>
          </a:p>
          <a:p>
            <a:r>
              <a:rPr lang="en-US" sz="3200" dirty="0"/>
              <a:t>        count += 1</a:t>
            </a:r>
          </a:p>
          <a:p>
            <a:endParaRPr lang="en-US" sz="3200" dirty="0"/>
          </a:p>
          <a:p>
            <a:r>
              <a:rPr lang="en-US" sz="3200" dirty="0"/>
              <a:t>print("Vowels:", count)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8211446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Program 3: Palindrome Check</a:t>
            </a:r>
            <a:endParaRPr lang="en-IN" b="1" dirty="0"/>
          </a:p>
        </p:txBody>
      </p:sp>
      <p:pic>
        <p:nvPicPr>
          <p:cNvPr id="4" name="Picture 3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596348" y="1873475"/>
            <a:ext cx="10757452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text = input("Enter text: ")</a:t>
            </a:r>
          </a:p>
          <a:p>
            <a:endParaRPr lang="en-US" sz="3200" dirty="0"/>
          </a:p>
          <a:p>
            <a:r>
              <a:rPr lang="en-US" sz="3200" dirty="0"/>
              <a:t>if text == text[::-1]:</a:t>
            </a:r>
          </a:p>
          <a:p>
            <a:r>
              <a:rPr lang="en-US" sz="3200" dirty="0"/>
              <a:t>    print("Palindrome")</a:t>
            </a:r>
          </a:p>
          <a:p>
            <a:endParaRPr lang="en-US" sz="3200" dirty="0"/>
          </a:p>
          <a:p>
            <a:r>
              <a:rPr lang="en-US" sz="3200" dirty="0"/>
              <a:t>else:</a:t>
            </a:r>
          </a:p>
          <a:p>
            <a:r>
              <a:rPr lang="en-US" sz="3200" dirty="0"/>
              <a:t>    print("Not Palindrome")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2944479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Program 4: Login Verification</a:t>
            </a:r>
            <a:endParaRPr lang="en-IN" b="1" dirty="0"/>
          </a:p>
        </p:txBody>
      </p:sp>
      <p:pic>
        <p:nvPicPr>
          <p:cNvPr id="4" name="Picture 3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596348" y="1873475"/>
            <a:ext cx="10757452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dirty="0"/>
              <a:t>username = "admin"</a:t>
            </a:r>
          </a:p>
          <a:p>
            <a:r>
              <a:rPr lang="en-IN" sz="3200" dirty="0"/>
              <a:t>password = "python123"</a:t>
            </a:r>
          </a:p>
          <a:p>
            <a:endParaRPr lang="en-IN" sz="3200" dirty="0"/>
          </a:p>
          <a:p>
            <a:r>
              <a:rPr lang="en-IN" sz="3200" dirty="0"/>
              <a:t>u = input("Username: ")</a:t>
            </a:r>
          </a:p>
          <a:p>
            <a:r>
              <a:rPr lang="en-IN" sz="3200" dirty="0"/>
              <a:t>p = input("Password: ")</a:t>
            </a:r>
          </a:p>
          <a:p>
            <a:endParaRPr lang="en-IN" sz="3200" dirty="0"/>
          </a:p>
          <a:p>
            <a:r>
              <a:rPr lang="en-IN" sz="3200" dirty="0"/>
              <a:t>if u == username and p == password:</a:t>
            </a:r>
          </a:p>
          <a:p>
            <a:r>
              <a:rPr lang="en-IN" sz="3200" dirty="0"/>
              <a:t>    print("Login Successful")</a:t>
            </a:r>
          </a:p>
          <a:p>
            <a:r>
              <a:rPr lang="en-IN" sz="3200" dirty="0"/>
              <a:t>else:</a:t>
            </a:r>
          </a:p>
          <a:p>
            <a:r>
              <a:rPr lang="en-IN" sz="3200" dirty="0"/>
              <a:t>    print("Access Denied")</a:t>
            </a:r>
          </a:p>
        </p:txBody>
      </p:sp>
    </p:spTree>
    <p:extLst>
      <p:ext uri="{BB962C8B-B14F-4D97-AF65-F5344CB8AC3E}">
        <p14:creationId xmlns:p14="http://schemas.microsoft.com/office/powerpoint/2010/main" val="28523025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Program 5: Boolean Demonstration</a:t>
            </a:r>
            <a:endParaRPr lang="en-IN" b="1" dirty="0"/>
          </a:p>
        </p:txBody>
      </p:sp>
      <p:pic>
        <p:nvPicPr>
          <p:cNvPr id="4" name="Picture 3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596348" y="1873475"/>
            <a:ext cx="10757452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marks = 85</a:t>
            </a:r>
          </a:p>
          <a:p>
            <a:endParaRPr lang="en-US" sz="3200" dirty="0"/>
          </a:p>
          <a:p>
            <a:r>
              <a:rPr lang="en-US" sz="3200" dirty="0"/>
              <a:t>passed = marks &gt;= 40</a:t>
            </a:r>
          </a:p>
          <a:p>
            <a:endParaRPr lang="en-US" sz="3200" dirty="0"/>
          </a:p>
          <a:p>
            <a:r>
              <a:rPr lang="en-US" sz="3200" dirty="0"/>
              <a:t>print("Passed:", passed)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233364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Home Practice</a:t>
            </a:r>
            <a:endParaRPr lang="en-IN" b="1" dirty="0"/>
          </a:p>
        </p:txBody>
      </p:sp>
      <p:pic>
        <p:nvPicPr>
          <p:cNvPr id="4" name="Picture 3" descr="ABES Engineering Colleg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1" y="49006"/>
            <a:ext cx="2544279" cy="10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596348" y="1873475"/>
            <a:ext cx="10757452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500" dirty="0"/>
              <a:t>Create strings using single, double, and triple quotes.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500" dirty="0"/>
              <a:t>Demonstrate indexing and negative indexing.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500" dirty="0"/>
              <a:t>Reverse a string using slicing.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500" dirty="0"/>
              <a:t>Count vowels, consonants, words, and characters.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500" dirty="0"/>
              <a:t>Check whether a string is a palindrome.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500" dirty="0"/>
              <a:t>Compare two strings lexicographically.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500" dirty="0"/>
              <a:t>Use replace(), split(), join(), and strip().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500" dirty="0"/>
              <a:t>Format output using f-strings.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500" dirty="0"/>
              <a:t>Evaluate different Boolean expressions.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500" dirty="0"/>
              <a:t>Demonstrate truth-value testing with numbers, strings, lists, and dictionaries.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500" dirty="0"/>
              <a:t>Write a login program using Boolean logic.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500" dirty="0"/>
              <a:t>Show short-circuit evaluation using and </a:t>
            </a:r>
            <a:r>
              <a:rPr lang="en-IN" sz="2500" dirty="0" err="1"/>
              <a:t>and</a:t>
            </a:r>
            <a:r>
              <a:rPr lang="en-IN" sz="2500" dirty="0"/>
              <a:t> or.</a:t>
            </a:r>
          </a:p>
        </p:txBody>
      </p:sp>
    </p:spTree>
    <p:extLst>
      <p:ext uri="{BB962C8B-B14F-4D97-AF65-F5344CB8AC3E}">
        <p14:creationId xmlns:p14="http://schemas.microsoft.com/office/powerpoint/2010/main" val="16484567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284</TotalTime>
  <Words>1170</Words>
  <Application>Microsoft Office PowerPoint</Application>
  <PresentationFormat>Widescreen</PresentationFormat>
  <Paragraphs>451</Paragraphs>
  <Slides>35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Office Theme</vt:lpstr>
      <vt:lpstr>Python: Strings</vt:lpstr>
      <vt:lpstr>Introduction to Strings</vt:lpstr>
      <vt:lpstr>Conti…</vt:lpstr>
      <vt:lpstr>Importance of Strings</vt:lpstr>
      <vt:lpstr>Everything is an Object</vt:lpstr>
      <vt:lpstr>Creating Strings</vt:lpstr>
      <vt:lpstr>Empty String</vt:lpstr>
      <vt:lpstr>Unicode Strings</vt:lpstr>
      <vt:lpstr>String Length</vt:lpstr>
      <vt:lpstr>Indexing</vt:lpstr>
      <vt:lpstr>String Slicing</vt:lpstr>
      <vt:lpstr>Reverse a String</vt:lpstr>
      <vt:lpstr>Membership Operators</vt:lpstr>
      <vt:lpstr>String Immutability</vt:lpstr>
      <vt:lpstr>Common String Methods</vt:lpstr>
      <vt:lpstr>String Formatting</vt:lpstr>
      <vt:lpstr>Escape Characters</vt:lpstr>
      <vt:lpstr>Raw Strings</vt:lpstr>
      <vt:lpstr>Real Applications of Strings</vt:lpstr>
      <vt:lpstr>Python: Booleans </vt:lpstr>
      <vt:lpstr>Boolean</vt:lpstr>
      <vt:lpstr>Boolean Memory Representation</vt:lpstr>
      <vt:lpstr>Boolean from Comparisons</vt:lpstr>
      <vt:lpstr>Boolean Operators</vt:lpstr>
      <vt:lpstr>Truth Table</vt:lpstr>
      <vt:lpstr>Truth Value Testing</vt:lpstr>
      <vt:lpstr>Boolean Conversion</vt:lpstr>
      <vt:lpstr>Short-Circuit Evaluation</vt:lpstr>
      <vt:lpstr>Applications of Booleans</vt:lpstr>
      <vt:lpstr>Program 1: Reverse String</vt:lpstr>
      <vt:lpstr>Program 2: Count Vowels</vt:lpstr>
      <vt:lpstr>Program 3: Palindrome Check</vt:lpstr>
      <vt:lpstr>Program 4: Login Verification</vt:lpstr>
      <vt:lpstr>Program 5: Boolean Demonstration</vt:lpstr>
      <vt:lpstr>Home Practice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DrAnilKDubey</dc:creator>
  <cp:lastModifiedBy>DrAnilKDubey</cp:lastModifiedBy>
  <cp:revision>467</cp:revision>
  <dcterms:created xsi:type="dcterms:W3CDTF">2026-07-06T04:33:03Z</dcterms:created>
  <dcterms:modified xsi:type="dcterms:W3CDTF">2026-08-19T07:57:35Z</dcterms:modified>
</cp:coreProperties>
</file>