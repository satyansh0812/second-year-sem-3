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26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Python: </a:t>
            </a:r>
            <a:r>
              <a:rPr lang="en-US" b="1" dirty="0"/>
              <a:t>Variable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1043" y="4012856"/>
            <a:ext cx="3949148" cy="1089231"/>
          </a:xfrm>
        </p:spPr>
        <p:txBody>
          <a:bodyPr/>
          <a:lstStyle/>
          <a:p>
            <a:r>
              <a:rPr lang="en-US" dirty="0" smtClean="0"/>
              <a:t>Prof. (Dr.) Anil Kumar Dubey</a:t>
            </a:r>
          </a:p>
          <a:p>
            <a:r>
              <a:rPr lang="en-US" dirty="0" smtClean="0"/>
              <a:t>Professor - CSE </a:t>
            </a:r>
            <a:r>
              <a:rPr lang="en-US" dirty="0" err="1" smtClean="0"/>
              <a:t>Dept</a:t>
            </a:r>
            <a:endParaRPr lang="en-US" dirty="0" smtClean="0"/>
          </a:p>
          <a:p>
            <a:endParaRPr lang="en-IN" dirty="0"/>
          </a:p>
        </p:txBody>
      </p:sp>
      <p:pic>
        <p:nvPicPr>
          <p:cNvPr id="102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08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 </a:t>
            </a:r>
            <a:r>
              <a:rPr lang="en-US" b="1" dirty="0"/>
              <a:t>variable</a:t>
            </a:r>
            <a:r>
              <a:rPr lang="en-US" dirty="0"/>
              <a:t> is a named location (reference) used to store data during program execution.</a:t>
            </a:r>
          </a:p>
          <a:p>
            <a:pPr algn="just"/>
            <a:r>
              <a:rPr lang="en-US" dirty="0"/>
              <a:t>Unlike C/C++ or Java, Python variables </a:t>
            </a:r>
            <a:r>
              <a:rPr lang="en-US" b="1" dirty="0"/>
              <a:t>do not directly store values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</a:p>
          <a:p>
            <a:pPr marL="0" indent="0" algn="just">
              <a:buNone/>
            </a:pPr>
            <a:r>
              <a:rPr lang="en-US" b="1" dirty="0" smtClean="0"/>
              <a:t>“</a:t>
            </a:r>
            <a:r>
              <a:rPr lang="en-US" b="1" dirty="0"/>
              <a:t>A Python variable stores a reference to an object in memory</a:t>
            </a:r>
            <a:r>
              <a:rPr lang="en-US" b="1" dirty="0" smtClean="0"/>
              <a:t>.”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Example (</a:t>
            </a:r>
            <a:r>
              <a:rPr lang="en-IN" dirty="0" smtClean="0"/>
              <a:t>x </a:t>
            </a:r>
            <a:r>
              <a:rPr lang="en-IN" dirty="0"/>
              <a:t>= </a:t>
            </a:r>
            <a:r>
              <a:rPr lang="en-IN" dirty="0" smtClean="0"/>
              <a:t>10) here</a:t>
            </a:r>
          </a:p>
          <a:p>
            <a:pPr marL="0" indent="0" algn="just">
              <a:buNone/>
            </a:pPr>
            <a:r>
              <a:rPr lang="en-IN" dirty="0" smtClean="0"/>
              <a:t>             Variable x                                   Integer Object (10)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variable </a:t>
            </a:r>
            <a:r>
              <a:rPr lang="en-US" b="1" dirty="0"/>
              <a:t>points</a:t>
            </a:r>
            <a:r>
              <a:rPr lang="en-US" dirty="0"/>
              <a:t> to the integer object.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697356" y="5459895"/>
            <a:ext cx="1974574" cy="1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35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/>
              <a:t>Real-Life Analogy</a:t>
            </a:r>
          </a:p>
          <a:p>
            <a:pPr lvl="1"/>
            <a:r>
              <a:rPr lang="en-US" dirty="0"/>
              <a:t>Imagine a hotel.</a:t>
            </a:r>
          </a:p>
          <a:p>
            <a:pPr lvl="1"/>
            <a:r>
              <a:rPr lang="en-US" dirty="0"/>
              <a:t>Room Number = Variable</a:t>
            </a:r>
          </a:p>
          <a:p>
            <a:pPr lvl="1"/>
            <a:r>
              <a:rPr lang="en-US" dirty="0"/>
              <a:t>Guest = Value</a:t>
            </a:r>
          </a:p>
          <a:p>
            <a:pPr lvl="2"/>
            <a:r>
              <a:rPr lang="en-US" dirty="0"/>
              <a:t>Room 101 → Rahul </a:t>
            </a:r>
            <a:endParaRPr lang="en-US" dirty="0" smtClean="0"/>
          </a:p>
          <a:p>
            <a:pPr lvl="2"/>
            <a:r>
              <a:rPr lang="en-US" dirty="0" smtClean="0"/>
              <a:t>Variable </a:t>
            </a:r>
            <a:r>
              <a:rPr lang="en-US" dirty="0"/>
              <a:t>x → </a:t>
            </a:r>
            <a:r>
              <a:rPr lang="en-US" dirty="0" smtClean="0"/>
              <a:t>10</a:t>
            </a:r>
          </a:p>
          <a:p>
            <a:pPr lvl="1"/>
            <a:r>
              <a:rPr lang="en-US" dirty="0"/>
              <a:t>If Rahul leaves and Amit enters,</a:t>
            </a:r>
          </a:p>
          <a:p>
            <a:pPr lvl="1"/>
            <a:r>
              <a:rPr lang="en-US" dirty="0"/>
              <a:t>Room number remains same.</a:t>
            </a:r>
          </a:p>
          <a:p>
            <a:r>
              <a:rPr lang="en-US" dirty="0"/>
              <a:t>Similarly,</a:t>
            </a:r>
          </a:p>
          <a:p>
            <a:pPr lvl="1"/>
            <a:r>
              <a:rPr lang="en-IN" dirty="0"/>
              <a:t>x = 10</a:t>
            </a:r>
          </a:p>
          <a:p>
            <a:pPr lvl="1"/>
            <a:r>
              <a:rPr lang="en-IN" dirty="0"/>
              <a:t>x = </a:t>
            </a:r>
            <a:r>
              <a:rPr lang="en-IN" dirty="0" smtClean="0"/>
              <a:t>25</a:t>
            </a:r>
          </a:p>
          <a:p>
            <a:pPr marL="0" indent="0">
              <a:buNone/>
            </a:pPr>
            <a:r>
              <a:rPr lang="en-US" dirty="0" smtClean="0"/>
              <a:t>		Variable </a:t>
            </a:r>
            <a:r>
              <a:rPr lang="en-US" dirty="0"/>
              <a:t>name remains same but reference changes.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15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522"/>
            <a:ext cx="9183757" cy="934427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Variables in Different Programming Languages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291124"/>
              </p:ext>
            </p:extLst>
          </p:nvPr>
        </p:nvGraphicFramePr>
        <p:xfrm>
          <a:off x="838200" y="1562894"/>
          <a:ext cx="10515600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904325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33753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275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>
                          <a:solidFill>
                            <a:schemeClr val="tx1"/>
                          </a:solidFill>
                        </a:rPr>
                        <a:t>Language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>
                          <a:solidFill>
                            <a:schemeClr val="tx1"/>
                          </a:solidFill>
                        </a:rPr>
                        <a:t>Declaration Required?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>
                          <a:solidFill>
                            <a:schemeClr val="tx1"/>
                          </a:solidFill>
                        </a:rPr>
                        <a:t>Data Type Fixed?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57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54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 dirty="0"/>
                        <a:t>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886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89242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47552"/>
              </p:ext>
            </p:extLst>
          </p:nvPr>
        </p:nvGraphicFramePr>
        <p:xfrm>
          <a:off x="838200" y="4218239"/>
          <a:ext cx="105156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218105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5809992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200" dirty="0" smtClean="0"/>
                        <a:t>Example</a:t>
                      </a:r>
                      <a:endParaRPr lang="en-IN" sz="2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0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600" b="1" kern="1200" dirty="0" smtClean="0"/>
                        <a:t>C </a:t>
                      </a:r>
                      <a:endParaRPr lang="en-IN" sz="2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1" kern="1200" dirty="0" smtClean="0"/>
                        <a:t>Python</a:t>
                      </a:r>
                      <a:endParaRPr lang="en-IN" sz="2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94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200" dirty="0" err="1" smtClean="0"/>
                        <a:t>int</a:t>
                      </a:r>
                      <a:r>
                        <a:rPr lang="en-IN" sz="2600" kern="1200" dirty="0" smtClean="0"/>
                        <a:t> x = 10;</a:t>
                      </a:r>
                      <a:endParaRPr lang="en-IN" sz="2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200" dirty="0" smtClean="0"/>
                        <a:t>x = 10</a:t>
                      </a:r>
                      <a:endParaRPr lang="en-IN" sz="2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32677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600" kern="1200" dirty="0" smtClean="0"/>
                        <a:t>Python automatically determines the datatype</a:t>
                      </a:r>
                      <a:endParaRPr lang="en-IN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49452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200" dirty="0" smtClean="0"/>
                        <a:t>This is called “</a:t>
                      </a:r>
                      <a:r>
                        <a:rPr lang="en-IN" sz="2600" kern="1200" dirty="0" smtClean="0"/>
                        <a:t>Dynamic Typing”</a:t>
                      </a:r>
                      <a:endParaRPr lang="en-IN" sz="2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3926"/>
                  </a:ext>
                </a:extLst>
              </a:tr>
            </a:tbl>
          </a:graphicData>
        </a:graphic>
      </p:graphicFrame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07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</a:t>
            </a:r>
            <a:r>
              <a:rPr lang="en-US" b="1" dirty="0" smtClean="0"/>
              <a:t>Typing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determines datatype during runtime.</a:t>
            </a:r>
          </a:p>
          <a:p>
            <a:pPr marL="0" indent="0">
              <a:buNone/>
            </a:pPr>
            <a:r>
              <a:rPr lang="en-IN" dirty="0" smtClean="0"/>
              <a:t>		x </a:t>
            </a:r>
            <a:r>
              <a:rPr lang="en-IN" dirty="0"/>
              <a:t>= 5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	print(type(x))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b="1" dirty="0" smtClean="0"/>
              <a:t>Output</a:t>
            </a:r>
            <a:r>
              <a:rPr lang="en-IN" dirty="0" smtClean="0"/>
              <a:t>: &lt;class </a:t>
            </a:r>
            <a:r>
              <a:rPr lang="en-IN" dirty="0"/>
              <a:t>'</a:t>
            </a:r>
            <a:r>
              <a:rPr lang="en-IN" dirty="0" err="1"/>
              <a:t>int</a:t>
            </a:r>
            <a:r>
              <a:rPr lang="en-IN" dirty="0" smtClean="0"/>
              <a:t>'&gt;</a:t>
            </a:r>
          </a:p>
          <a:p>
            <a:r>
              <a:rPr lang="en-US" dirty="0" smtClean="0"/>
              <a:t>Now, 	</a:t>
            </a:r>
            <a:r>
              <a:rPr lang="en-IN" dirty="0" smtClean="0"/>
              <a:t>x </a:t>
            </a:r>
            <a:r>
              <a:rPr lang="en-IN" dirty="0"/>
              <a:t>= </a:t>
            </a:r>
            <a:r>
              <a:rPr lang="en-IN" dirty="0" smtClean="0"/>
              <a:t>5.6</a:t>
            </a:r>
          </a:p>
          <a:p>
            <a:pPr marL="0" indent="0">
              <a:buNone/>
            </a:pPr>
            <a:r>
              <a:rPr lang="en-IN" b="1" dirty="0" smtClean="0"/>
              <a:t>	</a:t>
            </a:r>
            <a:r>
              <a:rPr lang="en-IN" b="1" dirty="0"/>
              <a:t>	</a:t>
            </a:r>
            <a:r>
              <a:rPr lang="en-US" b="1" dirty="0" smtClean="0"/>
              <a:t>Output</a:t>
            </a:r>
            <a:r>
              <a:rPr lang="en-US" dirty="0" smtClean="0"/>
              <a:t>: </a:t>
            </a:r>
            <a:r>
              <a:rPr lang="en-IN" dirty="0"/>
              <a:t>&lt;class 'float</a:t>
            </a:r>
            <a:r>
              <a:rPr lang="en-IN" dirty="0" smtClean="0"/>
              <a:t>'&gt;</a:t>
            </a:r>
          </a:p>
          <a:p>
            <a:r>
              <a:rPr lang="en-US" dirty="0" smtClean="0"/>
              <a:t>Again, 	</a:t>
            </a:r>
            <a:r>
              <a:rPr lang="en-IN" dirty="0" smtClean="0"/>
              <a:t>x </a:t>
            </a:r>
            <a:r>
              <a:rPr lang="en-IN" dirty="0"/>
              <a:t>= "</a:t>
            </a:r>
            <a:r>
              <a:rPr lang="en-IN" dirty="0" smtClean="0"/>
              <a:t>Hello“</a:t>
            </a:r>
          </a:p>
          <a:p>
            <a:pPr marL="0" indent="0">
              <a:buNone/>
            </a:pPr>
            <a:r>
              <a:rPr lang="en-US" b="1" dirty="0" smtClean="0"/>
              <a:t>		Output</a:t>
            </a:r>
            <a:r>
              <a:rPr lang="en-US" dirty="0" smtClean="0"/>
              <a:t>: </a:t>
            </a:r>
            <a:r>
              <a:rPr lang="en-IN" dirty="0"/>
              <a:t>&lt;class '</a:t>
            </a:r>
            <a:r>
              <a:rPr lang="en-IN" dirty="0" err="1"/>
              <a:t>str</a:t>
            </a:r>
            <a:r>
              <a:rPr lang="en-IN" dirty="0" smtClean="0"/>
              <a:t>'&gt;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Same variable, Different </a:t>
            </a:r>
            <a:r>
              <a:rPr lang="en-IN" dirty="0"/>
              <a:t>datatype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35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Object-Oriented Nature of </a:t>
            </a:r>
            <a:r>
              <a:rPr lang="en-US" b="1" dirty="0" smtClean="0"/>
              <a:t>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62500" lnSpcReduction="20000"/>
          </a:bodyPr>
          <a:lstStyle/>
          <a:p>
            <a:r>
              <a:rPr lang="en-US" sz="5900" dirty="0"/>
              <a:t>Everything in Python is an object.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5500" dirty="0"/>
              <a:t>Integer → Object</a:t>
            </a:r>
          </a:p>
          <a:p>
            <a:pPr lvl="1"/>
            <a:r>
              <a:rPr lang="en-US" sz="5500" dirty="0" smtClean="0"/>
              <a:t>Float </a:t>
            </a:r>
            <a:r>
              <a:rPr lang="en-US" sz="5500" dirty="0"/>
              <a:t>→ Object</a:t>
            </a:r>
          </a:p>
          <a:p>
            <a:pPr lvl="1"/>
            <a:r>
              <a:rPr lang="en-US" sz="5500" dirty="0" smtClean="0"/>
              <a:t>String </a:t>
            </a:r>
            <a:r>
              <a:rPr lang="en-US" sz="5500" dirty="0"/>
              <a:t>→ Object</a:t>
            </a:r>
          </a:p>
          <a:p>
            <a:pPr lvl="1"/>
            <a:r>
              <a:rPr lang="en-US" sz="5500" dirty="0" smtClean="0"/>
              <a:t>List </a:t>
            </a:r>
            <a:r>
              <a:rPr lang="en-US" sz="5500" dirty="0"/>
              <a:t>→ Object</a:t>
            </a:r>
          </a:p>
          <a:p>
            <a:pPr lvl="1"/>
            <a:r>
              <a:rPr lang="en-US" sz="5500" dirty="0" smtClean="0"/>
              <a:t>Dictionary </a:t>
            </a:r>
            <a:r>
              <a:rPr lang="en-US" sz="5500" dirty="0"/>
              <a:t>→ Object</a:t>
            </a:r>
          </a:p>
          <a:p>
            <a:pPr lvl="1"/>
            <a:r>
              <a:rPr lang="en-US" sz="5500" dirty="0" smtClean="0"/>
              <a:t>Function </a:t>
            </a:r>
            <a:r>
              <a:rPr lang="en-US" sz="5500" dirty="0"/>
              <a:t>→ Object</a:t>
            </a:r>
          </a:p>
          <a:p>
            <a:pPr lvl="1"/>
            <a:r>
              <a:rPr lang="en-US" sz="5500" dirty="0" smtClean="0"/>
              <a:t>Class </a:t>
            </a:r>
            <a:r>
              <a:rPr lang="en-US" sz="5500" dirty="0"/>
              <a:t>→ Object</a:t>
            </a:r>
          </a:p>
          <a:p>
            <a:endParaRPr lang="en-US" sz="5900" dirty="0"/>
          </a:p>
          <a:p>
            <a:pPr marL="0" indent="0">
              <a:buNone/>
            </a:pPr>
            <a:r>
              <a:rPr lang="en-US" sz="5900" dirty="0" smtClean="0"/>
              <a:t>Therefore, Variables </a:t>
            </a:r>
            <a:r>
              <a:rPr lang="en-US" sz="5900" dirty="0"/>
              <a:t>always refer to objects.</a:t>
            </a:r>
          </a:p>
          <a:p>
            <a:endParaRPr lang="en-IN" sz="5900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2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sz="4400" dirty="0"/>
              <a:t>x = 100</a:t>
            </a:r>
          </a:p>
          <a:p>
            <a:pPr marL="0" indent="0">
              <a:buNone/>
            </a:pPr>
            <a:r>
              <a:rPr lang="en-IN" sz="4400" dirty="0" smtClean="0"/>
              <a:t>	Variable x  </a:t>
            </a:r>
            <a:r>
              <a:rPr lang="en-IN" sz="4400" dirty="0"/>
              <a:t>-----</a:t>
            </a:r>
            <a:r>
              <a:rPr lang="en-IN" sz="4400" dirty="0">
                <a:sym typeface="Wingdings" panose="05000000000000000000" pitchFamily="2" charset="2"/>
              </a:rPr>
              <a:t> </a:t>
            </a:r>
            <a:r>
              <a:rPr lang="en-IN" sz="4400" dirty="0"/>
              <a:t>Integer Object 100</a:t>
            </a:r>
          </a:p>
          <a:p>
            <a:endParaRPr lang="en-US" sz="4400" dirty="0"/>
          </a:p>
          <a:p>
            <a:r>
              <a:rPr lang="en-US" sz="4400" dirty="0"/>
              <a:t>Now,  </a:t>
            </a:r>
            <a:r>
              <a:rPr lang="en-IN" sz="4400" dirty="0"/>
              <a:t>y = x</a:t>
            </a:r>
          </a:p>
          <a:p>
            <a:pPr marL="0" indent="0">
              <a:buNone/>
            </a:pPr>
            <a:r>
              <a:rPr lang="en-IN" sz="4400" dirty="0" smtClean="0"/>
              <a:t>		x </a:t>
            </a:r>
            <a:r>
              <a:rPr lang="en-IN" sz="4400" dirty="0"/>
              <a:t>-----</a:t>
            </a:r>
            <a:r>
              <a:rPr lang="en-IN" sz="4400" dirty="0">
                <a:sym typeface="Wingdings" panose="05000000000000000000" pitchFamily="2" charset="2"/>
              </a:rPr>
              <a:t> </a:t>
            </a:r>
            <a:r>
              <a:rPr lang="en-IN" sz="4400" dirty="0"/>
              <a:t>100 </a:t>
            </a:r>
            <a:r>
              <a:rPr lang="en-IN" sz="4400" dirty="0">
                <a:sym typeface="Wingdings" panose="05000000000000000000" pitchFamily="2" charset="2"/>
              </a:rPr>
              <a:t>----- y </a:t>
            </a:r>
          </a:p>
          <a:p>
            <a:endParaRPr lang="en-US" sz="4400" dirty="0" smtClean="0"/>
          </a:p>
          <a:p>
            <a:r>
              <a:rPr lang="en-US" sz="4400" dirty="0" smtClean="0"/>
              <a:t>Both </a:t>
            </a:r>
            <a:r>
              <a:rPr lang="en-US" sz="4400" dirty="0"/>
              <a:t>variables point to same object.</a:t>
            </a:r>
            <a:endParaRPr lang="en-IN" sz="4400" dirty="0"/>
          </a:p>
          <a:p>
            <a:endParaRPr lang="en-IN" sz="5900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72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Python provides id() to know memory identity.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	x </a:t>
            </a:r>
            <a:r>
              <a:rPr lang="fr-FR" dirty="0"/>
              <a:t>= </a:t>
            </a:r>
            <a:r>
              <a:rPr lang="fr-FR" dirty="0" smtClean="0"/>
              <a:t>50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smtClean="0"/>
              <a:t>y </a:t>
            </a:r>
            <a:r>
              <a:rPr lang="fr-FR" dirty="0"/>
              <a:t>= x </a:t>
            </a:r>
            <a:endParaRPr lang="fr-FR" dirty="0" smtClean="0"/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 smtClean="0"/>
              <a:t>print</a:t>
            </a:r>
            <a:r>
              <a:rPr lang="fr-FR" dirty="0" smtClean="0"/>
              <a:t>(id(x))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 smtClean="0"/>
              <a:t>print</a:t>
            </a:r>
            <a:r>
              <a:rPr lang="fr-FR" dirty="0" smtClean="0"/>
              <a:t>(id(y))</a:t>
            </a:r>
          </a:p>
          <a:p>
            <a:endParaRPr lang="en-IN" dirty="0" smtClean="0"/>
          </a:p>
          <a:p>
            <a:r>
              <a:rPr lang="en-IN" dirty="0" smtClean="0"/>
              <a:t>Both </a:t>
            </a:r>
            <a:r>
              <a:rPr lang="en-IN" dirty="0"/>
              <a:t>IDs are same.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5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s-ES" dirty="0"/>
              <a:t>x = 20 </a:t>
            </a:r>
            <a:endParaRPr lang="es-ES" dirty="0" smtClean="0"/>
          </a:p>
          <a:p>
            <a:r>
              <a:rPr lang="es-ES" dirty="0" smtClean="0"/>
              <a:t>y </a:t>
            </a:r>
            <a:r>
              <a:rPr lang="es-ES" dirty="0"/>
              <a:t>= x </a:t>
            </a:r>
            <a:endParaRPr lang="es-ES" dirty="0" smtClean="0"/>
          </a:p>
          <a:p>
            <a:r>
              <a:rPr lang="es-ES" dirty="0" smtClean="0"/>
              <a:t>x </a:t>
            </a:r>
            <a:r>
              <a:rPr lang="es-ES" dirty="0"/>
              <a:t>= </a:t>
            </a:r>
            <a:r>
              <a:rPr lang="es-ES" dirty="0" smtClean="0"/>
              <a:t>50</a:t>
            </a:r>
          </a:p>
          <a:p>
            <a:endParaRPr lang="es-ES" dirty="0"/>
          </a:p>
          <a:p>
            <a:endParaRPr lang="en-US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 algn="ctr">
              <a:buNone/>
            </a:pPr>
            <a:r>
              <a:rPr lang="en-IN" dirty="0" smtClean="0"/>
              <a:t>Because </a:t>
            </a:r>
            <a:r>
              <a:rPr lang="en-IN" dirty="0"/>
              <a:t>integers are immutable.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54307"/>
              </p:ext>
            </p:extLst>
          </p:nvPr>
        </p:nvGraphicFramePr>
        <p:xfrm>
          <a:off x="1422401" y="3650931"/>
          <a:ext cx="8128000" cy="16154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613000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545737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sz="2200" dirty="0" smtClean="0"/>
                        <a:t>Memory</a:t>
                      </a:r>
                      <a:endParaRPr lang="en-IN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9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 smtClean="0"/>
                        <a:t>Initially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 smtClean="0"/>
                        <a:t>Later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785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x →20 </a:t>
                      </a:r>
                    </a:p>
                    <a:p>
                      <a:r>
                        <a:rPr lang="en-IN" sz="2200" dirty="0" smtClean="0"/>
                        <a:t>y →20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x →50 </a:t>
                      </a:r>
                    </a:p>
                    <a:p>
                      <a:r>
                        <a:rPr lang="en-IN" sz="2200" dirty="0" smtClean="0"/>
                        <a:t>y →20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43953"/>
                  </a:ext>
                </a:extLst>
              </a:tr>
            </a:tbl>
          </a:graphicData>
        </a:graphic>
      </p:graphicFrame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04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Variable Naming </a:t>
            </a:r>
            <a:r>
              <a:rPr lang="en-IN" b="1" dirty="0" smtClean="0"/>
              <a:t>Rules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1" y="1978025"/>
            <a:ext cx="5499652" cy="312406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Not </a:t>
            </a:r>
            <a:r>
              <a:rPr lang="en-IN" b="1" dirty="0"/>
              <a:t>Allowed</a:t>
            </a:r>
          </a:p>
          <a:p>
            <a:endParaRPr lang="en-US" dirty="0" smtClean="0"/>
          </a:p>
          <a:p>
            <a:r>
              <a:rPr lang="en-US" dirty="0" smtClean="0"/>
              <a:t>1age</a:t>
            </a:r>
            <a:endParaRPr lang="en-US" dirty="0"/>
          </a:p>
          <a:p>
            <a:r>
              <a:rPr lang="en-US" dirty="0" smtClean="0"/>
              <a:t>student-name</a:t>
            </a:r>
            <a:endParaRPr lang="en-US" dirty="0"/>
          </a:p>
          <a:p>
            <a:r>
              <a:rPr lang="en-US" dirty="0" smtClean="0"/>
              <a:t>class</a:t>
            </a:r>
            <a:endParaRPr lang="en-US" dirty="0"/>
          </a:p>
          <a:p>
            <a:r>
              <a:rPr lang="en-US" dirty="0" smtClean="0"/>
              <a:t>for</a:t>
            </a:r>
            <a:endParaRPr lang="en-US" dirty="0"/>
          </a:p>
          <a:p>
            <a:r>
              <a:rPr lang="en-US" dirty="0" smtClean="0"/>
              <a:t>if</a:t>
            </a:r>
            <a:endParaRPr lang="en-US" dirty="0"/>
          </a:p>
          <a:p>
            <a:r>
              <a:rPr lang="en-US" dirty="0" smtClean="0"/>
              <a:t>while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0514" y="1885260"/>
            <a:ext cx="5105400" cy="32168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Allowed</a:t>
            </a:r>
          </a:p>
          <a:p>
            <a:endParaRPr lang="en-US" dirty="0" smtClean="0"/>
          </a:p>
          <a:p>
            <a:r>
              <a:rPr lang="en-US" dirty="0" smtClean="0"/>
              <a:t>age</a:t>
            </a:r>
          </a:p>
          <a:p>
            <a:r>
              <a:rPr lang="en-US" dirty="0" err="1" smtClean="0"/>
              <a:t>student_name</a:t>
            </a:r>
            <a:endParaRPr lang="en-US" dirty="0" smtClean="0"/>
          </a:p>
          <a:p>
            <a:r>
              <a:rPr lang="en-US" dirty="0" err="1" smtClean="0"/>
              <a:t>totalMarks</a:t>
            </a:r>
            <a:endParaRPr lang="en-US" dirty="0" smtClean="0"/>
          </a:p>
          <a:p>
            <a:r>
              <a:rPr lang="en-US" dirty="0" smtClean="0"/>
              <a:t>marks123</a:t>
            </a:r>
          </a:p>
          <a:p>
            <a:r>
              <a:rPr lang="en-US" dirty="0" smtClean="0"/>
              <a:t>_name</a:t>
            </a:r>
          </a:p>
          <a:p>
            <a:r>
              <a:rPr lang="en-US" dirty="0" smtClean="0"/>
              <a:t>A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710071" y="5565338"/>
            <a:ext cx="802419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Cannot begin with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Cannot contain spaces.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Cannot contain special symbols except "_".</a:t>
            </a:r>
          </a:p>
        </p:txBody>
      </p:sp>
      <p:pic>
        <p:nvPicPr>
          <p:cNvPr id="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92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Naming Conventions (PEP-8)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1" y="1978025"/>
            <a:ext cx="5499652" cy="3124062"/>
          </a:xfrm>
        </p:spPr>
        <p:txBody>
          <a:bodyPr>
            <a:normAutofit/>
          </a:bodyPr>
          <a:lstStyle/>
          <a:p>
            <a:r>
              <a:rPr lang="en-US" b="1" dirty="0" smtClean="0"/>
              <a:t>Bas</a:t>
            </a:r>
            <a:endParaRPr lang="en-IN" b="1" dirty="0"/>
          </a:p>
          <a:p>
            <a:endParaRPr lang="en-US" dirty="0" smtClean="0"/>
          </a:p>
          <a:p>
            <a:r>
              <a:rPr lang="en-IN" dirty="0" smtClean="0"/>
              <a:t>studentName1</a:t>
            </a:r>
          </a:p>
          <a:p>
            <a:r>
              <a:rPr lang="en-IN" dirty="0" err="1" smtClean="0"/>
              <a:t>Abc</a:t>
            </a:r>
            <a:endParaRPr lang="en-IN" dirty="0"/>
          </a:p>
          <a:p>
            <a:r>
              <a:rPr lang="en-IN" dirty="0" smtClean="0"/>
              <a:t>X1</a:t>
            </a:r>
          </a:p>
          <a:p>
            <a:r>
              <a:rPr lang="en-IN" dirty="0" smtClean="0"/>
              <a:t>temp2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0514" y="1885260"/>
            <a:ext cx="5105400" cy="3216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Good</a:t>
            </a:r>
          </a:p>
          <a:p>
            <a:endParaRPr lang="en-US" dirty="0" smtClean="0"/>
          </a:p>
          <a:p>
            <a:r>
              <a:rPr lang="en-IN" dirty="0" err="1" smtClean="0"/>
              <a:t>student_name</a:t>
            </a:r>
            <a:endParaRPr lang="en-IN" dirty="0" smtClean="0"/>
          </a:p>
          <a:p>
            <a:r>
              <a:rPr lang="en-IN" dirty="0" err="1" smtClean="0"/>
              <a:t>total_marks</a:t>
            </a:r>
            <a:endParaRPr lang="en-IN" dirty="0" smtClean="0"/>
          </a:p>
          <a:p>
            <a:r>
              <a:rPr lang="en-IN" dirty="0" err="1" smtClean="0"/>
              <a:t>average_salary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193237" y="5883390"/>
            <a:ext cx="8024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Descriptive names improve readability.</a:t>
            </a:r>
            <a:endParaRPr lang="en-US" sz="2600" b="1" dirty="0"/>
          </a:p>
        </p:txBody>
      </p:sp>
      <p:pic>
        <p:nvPicPr>
          <p:cNvPr id="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63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Reserved </a:t>
            </a:r>
            <a:r>
              <a:rPr lang="en-US" b="1" dirty="0" smtClean="0"/>
              <a:t>Keywords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Python keywords cannot be variable names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</a:t>
            </a:r>
          </a:p>
          <a:p>
            <a:pPr marL="0" indent="0">
              <a:buNone/>
            </a:pPr>
            <a:r>
              <a:rPr lang="en-US" dirty="0" smtClean="0"/>
              <a:t>for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while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class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return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def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import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lambda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True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False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None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017064"/>
              </p:ext>
            </p:extLst>
          </p:nvPr>
        </p:nvGraphicFramePr>
        <p:xfrm>
          <a:off x="5593522" y="3078553"/>
          <a:ext cx="5760278" cy="1161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139">
                  <a:extLst>
                    <a:ext uri="{9D8B030D-6E8A-4147-A177-3AD203B41FA5}">
                      <a16:colId xmlns:a16="http://schemas.microsoft.com/office/drawing/2014/main" val="2151937727"/>
                    </a:ext>
                  </a:extLst>
                </a:gridCol>
                <a:gridCol w="2880139">
                  <a:extLst>
                    <a:ext uri="{9D8B030D-6E8A-4147-A177-3AD203B41FA5}">
                      <a16:colId xmlns:a16="http://schemas.microsoft.com/office/drawing/2014/main" val="338347006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Example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336495"/>
                  </a:ext>
                </a:extLst>
              </a:tr>
              <a:tr h="420242">
                <a:tc>
                  <a:txBody>
                    <a:bodyPr/>
                    <a:lstStyle/>
                    <a:p>
                      <a:pPr rtl="0"/>
                      <a:r>
                        <a:rPr lang="en-IN" dirty="0" smtClean="0"/>
                        <a:t>class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err="1" smtClean="0"/>
                        <a:t>class_name</a:t>
                      </a:r>
                      <a:r>
                        <a:rPr lang="en-IN" dirty="0" smtClean="0"/>
                        <a:t> = "AI"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49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Wrong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Correct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13068"/>
                  </a:ext>
                </a:extLst>
              </a:tr>
            </a:tbl>
          </a:graphicData>
        </a:graphic>
      </p:graphicFrame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56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Assignment </a:t>
            </a:r>
            <a:r>
              <a:rPr lang="en-IN" b="1" dirty="0" smtClean="0"/>
              <a:t>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Basic assignment: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x </a:t>
            </a:r>
            <a:r>
              <a:rPr lang="en-IN" dirty="0"/>
              <a:t>= </a:t>
            </a:r>
            <a:r>
              <a:rPr lang="en-IN" dirty="0" smtClean="0"/>
              <a:t>10</a:t>
            </a:r>
          </a:p>
          <a:p>
            <a:pPr marL="0" indent="0">
              <a:buNone/>
            </a:pPr>
            <a:r>
              <a:rPr lang="en-US" dirty="0" smtClean="0"/>
              <a:t>		Read as “Assign </a:t>
            </a:r>
            <a:r>
              <a:rPr lang="en-US" dirty="0"/>
              <a:t>10 to </a:t>
            </a:r>
            <a:r>
              <a:rPr lang="en-US" dirty="0" smtClean="0"/>
              <a:t>x”.</a:t>
            </a:r>
          </a:p>
          <a:p>
            <a:endParaRPr lang="en-US" dirty="0"/>
          </a:p>
          <a:p>
            <a:r>
              <a:rPr lang="en-IN" dirty="0"/>
              <a:t>Multiple Assignment</a:t>
            </a:r>
            <a:endParaRPr lang="en-US" dirty="0"/>
          </a:p>
          <a:p>
            <a:pPr marL="0" indent="0">
              <a:buNone/>
            </a:pPr>
            <a:r>
              <a:rPr lang="en-IN" dirty="0" smtClean="0"/>
              <a:t>	a </a:t>
            </a:r>
            <a:r>
              <a:rPr lang="en-IN" dirty="0"/>
              <a:t>= b = c = </a:t>
            </a:r>
            <a:r>
              <a:rPr lang="en-IN" dirty="0" smtClean="0"/>
              <a:t>100</a:t>
            </a:r>
          </a:p>
          <a:p>
            <a:pPr marL="0" indent="0">
              <a:buNone/>
            </a:pPr>
            <a:r>
              <a:rPr lang="en-US" dirty="0" smtClean="0"/>
              <a:t>			All </a:t>
            </a:r>
            <a:r>
              <a:rPr lang="en-US" dirty="0"/>
              <a:t>variables point to same object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  ---&gt; 100 &lt;--- b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^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|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c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65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Variable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pt-BR" dirty="0"/>
              <a:t>a, b, c = 10, 20, </a:t>
            </a:r>
            <a:r>
              <a:rPr lang="pt-BR" dirty="0" smtClean="0"/>
              <a:t>30</a:t>
            </a:r>
          </a:p>
          <a:p>
            <a:pPr marL="0" indent="0">
              <a:buNone/>
            </a:pPr>
            <a:endParaRPr lang="pt-BR" b="1" dirty="0" smtClean="0"/>
          </a:p>
          <a:p>
            <a:pPr marL="0" indent="0">
              <a:buNone/>
            </a:pPr>
            <a:r>
              <a:rPr lang="pt-BR" b="1" dirty="0" smtClean="0"/>
              <a:t>Output</a:t>
            </a:r>
            <a:r>
              <a:rPr lang="pt-BR" dirty="0" smtClean="0"/>
              <a:t>:	</a:t>
            </a:r>
            <a:r>
              <a:rPr lang="en-IN" dirty="0" smtClean="0"/>
              <a:t>a=10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b=20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c=30</a:t>
            </a:r>
            <a:endParaRPr lang="pt-BR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430961"/>
              </p:ext>
            </p:extLst>
          </p:nvPr>
        </p:nvGraphicFramePr>
        <p:xfrm>
          <a:off x="5579165" y="4341811"/>
          <a:ext cx="6003236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6663">
                  <a:extLst>
                    <a:ext uri="{9D8B030D-6E8A-4147-A177-3AD203B41FA5}">
                      <a16:colId xmlns:a16="http://schemas.microsoft.com/office/drawing/2014/main" val="2287330708"/>
                    </a:ext>
                  </a:extLst>
                </a:gridCol>
                <a:gridCol w="3696573">
                  <a:extLst>
                    <a:ext uri="{9D8B030D-6E8A-4147-A177-3AD203B41FA5}">
                      <a16:colId xmlns:a16="http://schemas.microsoft.com/office/drawing/2014/main" val="13870304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Variable Swapping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 smtClean="0"/>
                        <a:t>Pythonic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81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dirty="0" smtClean="0"/>
                        <a:t>temp = a </a:t>
                      </a:r>
                    </a:p>
                    <a:p>
                      <a:pPr rtl="0"/>
                      <a:r>
                        <a:rPr lang="en-IN" dirty="0" smtClean="0"/>
                        <a:t>a = b </a:t>
                      </a:r>
                    </a:p>
                    <a:p>
                      <a:pPr rtl="0"/>
                      <a:r>
                        <a:rPr lang="en-IN" dirty="0" smtClean="0"/>
                        <a:t>b = temp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 smtClean="0"/>
                    </a:p>
                    <a:p>
                      <a:pPr rtl="0"/>
                      <a:r>
                        <a:rPr lang="en-IN" dirty="0" smtClean="0"/>
                        <a:t>a, b = b,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64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/>
                        <a:t>No temporary variable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646154"/>
                  </a:ext>
                </a:extLst>
              </a:tr>
            </a:tbl>
          </a:graphicData>
        </a:graphic>
      </p:graphicFrame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81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Swapping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560173"/>
              </p:ext>
            </p:extLst>
          </p:nvPr>
        </p:nvGraphicFramePr>
        <p:xfrm>
          <a:off x="401983" y="1832848"/>
          <a:ext cx="5243443" cy="1904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13571">
                  <a:extLst>
                    <a:ext uri="{9D8B030D-6E8A-4147-A177-3AD203B41FA5}">
                      <a16:colId xmlns:a16="http://schemas.microsoft.com/office/drawing/2014/main" val="3560873025"/>
                    </a:ext>
                  </a:extLst>
                </a:gridCol>
                <a:gridCol w="3729872">
                  <a:extLst>
                    <a:ext uri="{9D8B030D-6E8A-4147-A177-3AD203B41FA5}">
                      <a16:colId xmlns:a16="http://schemas.microsoft.com/office/drawing/2014/main" val="2506823207"/>
                    </a:ext>
                  </a:extLst>
                </a:gridCol>
              </a:tblGrid>
              <a:tr h="495035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Traditional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Pythonic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820353"/>
                  </a:ext>
                </a:extLst>
              </a:tr>
              <a:tr h="755169">
                <a:tc>
                  <a:txBody>
                    <a:bodyPr/>
                    <a:lstStyle/>
                    <a:p>
                      <a:r>
                        <a:rPr lang="en-IN" dirty="0" smtClean="0"/>
                        <a:t>temp = a </a:t>
                      </a:r>
                    </a:p>
                    <a:p>
                      <a:r>
                        <a:rPr lang="en-IN" dirty="0" smtClean="0"/>
                        <a:t>a = b </a:t>
                      </a:r>
                    </a:p>
                    <a:p>
                      <a:r>
                        <a:rPr lang="en-IN" dirty="0" smtClean="0"/>
                        <a:t>b = temp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a, b = b, 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839971"/>
                  </a:ext>
                </a:extLst>
              </a:tr>
              <a:tr h="4950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No temporary variable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7809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05441"/>
              </p:ext>
            </p:extLst>
          </p:nvPr>
        </p:nvGraphicFramePr>
        <p:xfrm>
          <a:off x="6110357" y="1832848"/>
          <a:ext cx="5243443" cy="21646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21539">
                  <a:extLst>
                    <a:ext uri="{9D8B030D-6E8A-4147-A177-3AD203B41FA5}">
                      <a16:colId xmlns:a16="http://schemas.microsoft.com/office/drawing/2014/main" val="3560873025"/>
                    </a:ext>
                  </a:extLst>
                </a:gridCol>
                <a:gridCol w="1321904">
                  <a:extLst>
                    <a:ext uri="{9D8B030D-6E8A-4147-A177-3AD203B41FA5}">
                      <a16:colId xmlns:a16="http://schemas.microsoft.com/office/drawing/2014/main" val="2506823207"/>
                    </a:ext>
                  </a:extLst>
                </a:gridCol>
              </a:tblGrid>
              <a:tr h="495035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Unpacking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820353"/>
                  </a:ext>
                </a:extLst>
              </a:tr>
              <a:tr h="755169">
                <a:tc>
                  <a:txBody>
                    <a:bodyPr/>
                    <a:lstStyle/>
                    <a:p>
                      <a:r>
                        <a:rPr lang="en-US" dirty="0" smtClean="0"/>
                        <a:t>student = ("Rahul",20,"CSE") </a:t>
                      </a:r>
                    </a:p>
                    <a:p>
                      <a:r>
                        <a:rPr lang="en-US" dirty="0" smtClean="0"/>
                        <a:t>name, age, </a:t>
                      </a:r>
                      <a:r>
                        <a:rPr lang="en-US" dirty="0" err="1" smtClean="0"/>
                        <a:t>dept</a:t>
                      </a:r>
                      <a:r>
                        <a:rPr lang="en-US" dirty="0" smtClean="0"/>
                        <a:t> = student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Program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839971"/>
                  </a:ext>
                </a:extLst>
              </a:tr>
              <a:tr h="495035">
                <a:tc>
                  <a:txBody>
                    <a:bodyPr/>
                    <a:lstStyle/>
                    <a:p>
                      <a:r>
                        <a:rPr lang="en-IN" dirty="0" smtClean="0"/>
                        <a:t>Rahul</a:t>
                      </a:r>
                    </a:p>
                    <a:p>
                      <a:r>
                        <a:rPr lang="en-IN" dirty="0" smtClean="0"/>
                        <a:t>20 </a:t>
                      </a:r>
                    </a:p>
                    <a:p>
                      <a:r>
                        <a:rPr lang="en-IN" dirty="0" smtClean="0"/>
                        <a:t>CSE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7809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97826"/>
              </p:ext>
            </p:extLst>
          </p:nvPr>
        </p:nvGraphicFramePr>
        <p:xfrm>
          <a:off x="1696278" y="4391403"/>
          <a:ext cx="8984974" cy="21021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7446">
                  <a:extLst>
                    <a:ext uri="{9D8B030D-6E8A-4147-A177-3AD203B41FA5}">
                      <a16:colId xmlns:a16="http://schemas.microsoft.com/office/drawing/2014/main" val="226745098"/>
                    </a:ext>
                  </a:extLst>
                </a:gridCol>
                <a:gridCol w="4502537">
                  <a:extLst>
                    <a:ext uri="{9D8B030D-6E8A-4147-A177-3AD203B41FA5}">
                      <a16:colId xmlns:a16="http://schemas.microsoft.com/office/drawing/2014/main" val="2861062157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2113412432"/>
                    </a:ext>
                  </a:extLst>
                </a:gridCol>
              </a:tblGrid>
              <a:tr h="47217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Extended Unpacking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13221"/>
                  </a:ext>
                </a:extLst>
              </a:tr>
              <a:tr h="81499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Program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numbers = [1,2,3,4,5] </a:t>
                      </a:r>
                    </a:p>
                    <a:p>
                      <a:r>
                        <a:rPr lang="en-US" dirty="0" smtClean="0"/>
                        <a:t>a,*b = numbers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*</a:t>
                      </a:r>
                      <a:r>
                        <a:rPr lang="en-IN" dirty="0" err="1" smtClean="0"/>
                        <a:t>a,b</a:t>
                      </a:r>
                      <a:r>
                        <a:rPr lang="en-IN" dirty="0" smtClean="0"/>
                        <a:t> = numbers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878470"/>
                  </a:ext>
                </a:extLst>
              </a:tr>
              <a:tr h="814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 =[2,3,4,5]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a=[1,2,3,4] </a:t>
                      </a:r>
                    </a:p>
                    <a:p>
                      <a:r>
                        <a:rPr lang="en-IN" dirty="0" smtClean="0"/>
                        <a:t>b=5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33468"/>
                  </a:ext>
                </a:extLst>
              </a:tr>
            </a:tbl>
          </a:graphicData>
        </a:graphic>
      </p:graphicFrame>
      <p:pic>
        <p:nvPicPr>
          <p:cNvPr id="7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326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Checking Datatype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	x </a:t>
            </a:r>
            <a:r>
              <a:rPr lang="en-IN" dirty="0"/>
              <a:t>= 25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print(type(x))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Output:</a:t>
            </a:r>
            <a:r>
              <a:rPr lang="en-IN" dirty="0" smtClean="0"/>
              <a:t> &lt;</a:t>
            </a:r>
            <a:r>
              <a:rPr lang="en-IN" dirty="0"/>
              <a:t>class '</a:t>
            </a:r>
            <a:r>
              <a:rPr lang="en-IN" dirty="0" err="1"/>
              <a:t>int</a:t>
            </a:r>
            <a:r>
              <a:rPr lang="en-IN" dirty="0"/>
              <a:t>'&gt;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68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Conversion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03776"/>
              </p:ext>
            </p:extLst>
          </p:nvPr>
        </p:nvGraphicFramePr>
        <p:xfrm>
          <a:off x="600763" y="2071387"/>
          <a:ext cx="9470888" cy="39716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3515">
                  <a:extLst>
                    <a:ext uri="{9D8B030D-6E8A-4147-A177-3AD203B41FA5}">
                      <a16:colId xmlns:a16="http://schemas.microsoft.com/office/drawing/2014/main" val="880148640"/>
                    </a:ext>
                  </a:extLst>
                </a:gridCol>
                <a:gridCol w="4219958">
                  <a:extLst>
                    <a:ext uri="{9D8B030D-6E8A-4147-A177-3AD203B41FA5}">
                      <a16:colId xmlns:a16="http://schemas.microsoft.com/office/drawing/2014/main" val="3179846723"/>
                    </a:ext>
                  </a:extLst>
                </a:gridCol>
                <a:gridCol w="4097415">
                  <a:extLst>
                    <a:ext uri="{9D8B030D-6E8A-4147-A177-3AD203B41FA5}">
                      <a16:colId xmlns:a16="http://schemas.microsoft.com/office/drawing/2014/main" val="721856154"/>
                    </a:ext>
                  </a:extLst>
                </a:gridCol>
              </a:tblGrid>
              <a:tr h="11515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Explicit Conversion</a:t>
                      </a:r>
                    </a:p>
                    <a:p>
                      <a:r>
                        <a:rPr lang="en-IN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() </a:t>
                      </a:r>
                    </a:p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float() </a:t>
                      </a:r>
                    </a:p>
                    <a:p>
                      <a:r>
                        <a:rPr lang="en-IN" dirty="0" err="1" smtClean="0">
                          <a:solidFill>
                            <a:schemeClr val="tx1"/>
                          </a:solidFill>
                        </a:rPr>
                        <a:t>str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() </a:t>
                      </a:r>
                    </a:p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bool()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56655"/>
                  </a:ext>
                </a:extLst>
              </a:tr>
              <a:tr h="115159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Program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x = 5 </a:t>
                      </a:r>
                    </a:p>
                    <a:p>
                      <a:r>
                        <a:rPr lang="es-ES" dirty="0" smtClean="0"/>
                        <a:t>y = 3.2 </a:t>
                      </a:r>
                    </a:p>
                    <a:p>
                      <a:r>
                        <a:rPr lang="es-ES" dirty="0" smtClean="0"/>
                        <a:t>z = </a:t>
                      </a:r>
                      <a:r>
                        <a:rPr lang="es-ES" dirty="0" err="1" smtClean="0"/>
                        <a:t>x+y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x = "25“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y = </a:t>
                      </a:r>
                      <a:r>
                        <a:rPr lang="en-IN" dirty="0" err="1" smtClean="0"/>
                        <a:t>int</a:t>
                      </a:r>
                      <a:r>
                        <a:rPr lang="en-IN" dirty="0" smtClean="0"/>
                        <a:t>(x)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print(y+5)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607279"/>
                  </a:ext>
                </a:extLst>
              </a:tr>
              <a:tr h="54199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Output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998122"/>
                  </a:ext>
                </a:extLst>
              </a:tr>
              <a:tr h="814984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Python automatically converts integer into float.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930340"/>
                  </a:ext>
                </a:extLst>
              </a:tr>
            </a:tbl>
          </a:graphicData>
        </a:graphic>
      </p:graphicFrame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04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Immutable </a:t>
            </a:r>
            <a:r>
              <a:rPr lang="en-IN" b="1" dirty="0" smtClean="0"/>
              <a:t>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Immutable means cannot </a:t>
            </a:r>
            <a:r>
              <a:rPr lang="en-IN" dirty="0" smtClean="0"/>
              <a:t>change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float </a:t>
            </a:r>
          </a:p>
          <a:p>
            <a:pPr lvl="1"/>
            <a:r>
              <a:rPr lang="en-US" dirty="0" smtClean="0"/>
              <a:t>string </a:t>
            </a:r>
          </a:p>
          <a:p>
            <a:pPr lvl="1"/>
            <a:r>
              <a:rPr lang="en-US" dirty="0" smtClean="0"/>
              <a:t>tuple </a:t>
            </a:r>
          </a:p>
          <a:p>
            <a:pPr lvl="1"/>
            <a:r>
              <a:rPr lang="en-US" dirty="0" smtClean="0"/>
              <a:t>bool</a:t>
            </a:r>
          </a:p>
          <a:p>
            <a:pPr marL="457200" lvl="1" indent="0">
              <a:buNone/>
            </a:pPr>
            <a:endParaRPr lang="en-IN" dirty="0" smtClean="0"/>
          </a:p>
          <a:p>
            <a:r>
              <a:rPr lang="en-IN" sz="3200" dirty="0" smtClean="0"/>
              <a:t>Example </a:t>
            </a:r>
            <a:endParaRPr lang="en-IN" sz="3200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IN" dirty="0"/>
              <a:t>x = 10 x = </a:t>
            </a:r>
            <a:r>
              <a:rPr lang="en-IN" dirty="0" smtClean="0"/>
              <a:t>20</a:t>
            </a:r>
          </a:p>
          <a:p>
            <a:r>
              <a:rPr lang="en-US" dirty="0"/>
              <a:t>Actually,</a:t>
            </a:r>
          </a:p>
          <a:p>
            <a:r>
              <a:rPr lang="en-US" dirty="0"/>
              <a:t>New object is created.</a:t>
            </a:r>
          </a:p>
          <a:p>
            <a:r>
              <a:rPr lang="en-US" dirty="0"/>
              <a:t>Old object remains unchanged.</a:t>
            </a:r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980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Mutable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list </a:t>
            </a:r>
            <a:endParaRPr lang="en-IN" dirty="0" smtClean="0"/>
          </a:p>
          <a:p>
            <a:r>
              <a:rPr lang="en-IN" dirty="0" smtClean="0"/>
              <a:t>dictionary </a:t>
            </a:r>
          </a:p>
          <a:p>
            <a:r>
              <a:rPr lang="en-IN" dirty="0" smtClean="0"/>
              <a:t>Set</a:t>
            </a:r>
          </a:p>
          <a:p>
            <a:endParaRPr lang="en-US" dirty="0"/>
          </a:p>
          <a:p>
            <a:r>
              <a:rPr lang="en-US" dirty="0" smtClean="0"/>
              <a:t>Example </a:t>
            </a:r>
          </a:p>
          <a:p>
            <a:pPr marL="0" indent="0">
              <a:buNone/>
            </a:pPr>
            <a:r>
              <a:rPr lang="en-IN" dirty="0" smtClean="0"/>
              <a:t>	L </a:t>
            </a:r>
            <a:r>
              <a:rPr lang="en-IN" dirty="0"/>
              <a:t>= [1,2]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L.append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Same object modified.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1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	x </a:t>
            </a:r>
            <a:r>
              <a:rPr lang="en-IN" dirty="0"/>
              <a:t>= [10,20]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y </a:t>
            </a:r>
            <a:r>
              <a:rPr lang="en-IN" dirty="0"/>
              <a:t>= </a:t>
            </a:r>
            <a:r>
              <a:rPr lang="en-IN" dirty="0" smtClean="0"/>
              <a:t>x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IN" dirty="0" smtClean="0"/>
              <a:t>x ----------</a:t>
            </a:r>
            <a:r>
              <a:rPr lang="en-IN" dirty="0" smtClean="0">
                <a:sym typeface="Wingdings" panose="05000000000000000000" pitchFamily="2" charset="2"/>
              </a:rPr>
              <a:t></a:t>
            </a:r>
            <a:r>
              <a:rPr lang="en-IN" dirty="0" smtClean="0"/>
              <a:t>[10,20]</a:t>
            </a:r>
            <a:r>
              <a:rPr lang="en-IN" dirty="0" smtClean="0">
                <a:sym typeface="Wingdings" panose="05000000000000000000" pitchFamily="2" charset="2"/>
              </a:rPr>
              <a:t>---------y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Changing</a:t>
            </a:r>
            <a:r>
              <a:rPr lang="en-IN" dirty="0"/>
              <a:t>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 smtClean="0"/>
              <a:t>y.append</a:t>
            </a:r>
            <a:r>
              <a:rPr lang="en-IN" dirty="0" smtClean="0"/>
              <a:t>(30)</a:t>
            </a:r>
          </a:p>
          <a:p>
            <a:pPr marL="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Output</a:t>
            </a:r>
            <a:r>
              <a:rPr lang="en-US" dirty="0" smtClean="0">
                <a:sym typeface="Wingdings" panose="05000000000000000000" pitchFamily="2" charset="2"/>
              </a:rPr>
              <a:t>: </a:t>
            </a:r>
            <a:r>
              <a:rPr lang="en-IN" dirty="0"/>
              <a:t>[</a:t>
            </a:r>
            <a:r>
              <a:rPr lang="en-IN" dirty="0" smtClean="0"/>
              <a:t>10,20,30]</a:t>
            </a:r>
          </a:p>
          <a:p>
            <a:pPr marL="0" indent="0">
              <a:buNone/>
            </a:pPr>
            <a:r>
              <a:rPr lang="en-US" dirty="0"/>
              <a:t>Both change because same object.</a:t>
            </a:r>
            <a:endParaRPr lang="en-IN" dirty="0" smtClean="0">
              <a:sym typeface="Wingdings" panose="05000000000000000000" pitchFamily="2" charset="2"/>
            </a:endParaRP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39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Shallow Copy:  </a:t>
            </a:r>
            <a:r>
              <a:rPr lang="en-IN" dirty="0" err="1"/>
              <a:t>copy.copy</a:t>
            </a:r>
            <a:r>
              <a:rPr lang="en-IN" dirty="0" smtClean="0"/>
              <a:t>()</a:t>
            </a:r>
          </a:p>
          <a:p>
            <a:endParaRPr lang="en-US" dirty="0"/>
          </a:p>
          <a:p>
            <a:r>
              <a:rPr lang="en-IN" dirty="0"/>
              <a:t>Deep Copy: </a:t>
            </a:r>
            <a:r>
              <a:rPr lang="en-IN" dirty="0" err="1"/>
              <a:t>copy.deepcopy</a:t>
            </a:r>
            <a:r>
              <a:rPr lang="en-IN" dirty="0" smtClean="0"/>
              <a:t>()</a:t>
            </a:r>
          </a:p>
          <a:p>
            <a:endParaRPr lang="en-US" dirty="0"/>
          </a:p>
          <a:p>
            <a:r>
              <a:rPr lang="en-US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import </a:t>
            </a:r>
            <a:r>
              <a:rPr lang="en-US" dirty="0"/>
              <a:t>copy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</a:t>
            </a:r>
            <a:r>
              <a:rPr lang="en-US" dirty="0"/>
              <a:t>=[1,2]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b=</a:t>
            </a:r>
            <a:r>
              <a:rPr lang="en-US" dirty="0" err="1" smtClean="0"/>
              <a:t>copy.deepcopy</a:t>
            </a:r>
            <a:r>
              <a:rPr lang="en-US" dirty="0" smtClean="0"/>
              <a:t>(a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403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Local </a:t>
            </a:r>
            <a:r>
              <a:rPr lang="en-IN" dirty="0" smtClean="0"/>
              <a:t>Variable: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IN" dirty="0" err="1"/>
              <a:t>def</a:t>
            </a:r>
            <a:r>
              <a:rPr lang="en-IN" dirty="0"/>
              <a:t> fun():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x=10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		Accessible </a:t>
            </a:r>
            <a:r>
              <a:rPr lang="en-IN" dirty="0"/>
              <a:t>only inside function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Global </a:t>
            </a:r>
            <a:r>
              <a:rPr lang="en-IN" dirty="0" smtClean="0"/>
              <a:t>Variable: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IN" dirty="0"/>
              <a:t>x=100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</a:t>
            </a:r>
            <a:r>
              <a:rPr lang="en-IN" dirty="0" err="1" smtClean="0"/>
              <a:t>def</a:t>
            </a:r>
            <a:r>
              <a:rPr lang="en-IN" dirty="0" smtClean="0"/>
              <a:t> </a:t>
            </a:r>
            <a:r>
              <a:rPr lang="en-IN" dirty="0"/>
              <a:t>fun():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print(x)</a:t>
            </a:r>
          </a:p>
          <a:p>
            <a:pPr marL="0" indent="0">
              <a:buNone/>
            </a:pPr>
            <a:r>
              <a:rPr lang="en-IN" dirty="0" smtClean="0"/>
              <a:t>		Accessible </a:t>
            </a:r>
            <a:r>
              <a:rPr lang="en-IN" dirty="0"/>
              <a:t>everywhere.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513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	x=5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 smtClean="0"/>
              <a:t>def</a:t>
            </a:r>
            <a:r>
              <a:rPr lang="es-ES" dirty="0" smtClean="0"/>
              <a:t> </a:t>
            </a:r>
            <a:r>
              <a:rPr lang="es-ES" dirty="0" err="1"/>
              <a:t>fun</a:t>
            </a:r>
            <a:r>
              <a:rPr lang="es-ES" dirty="0"/>
              <a:t>(): </a:t>
            </a:r>
            <a:endParaRPr lang="es-ES" dirty="0" smtClean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smtClean="0"/>
              <a:t>	global </a:t>
            </a:r>
            <a:r>
              <a:rPr lang="es-ES" dirty="0"/>
              <a:t>x </a:t>
            </a:r>
            <a:endParaRPr lang="es-ES" dirty="0" smtClean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smtClean="0"/>
              <a:t>	x=10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IN" dirty="0"/>
              <a:t>Now global variable changes.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681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vs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x=100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/>
              <a:t>test():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x=20 </a:t>
            </a:r>
          </a:p>
          <a:p>
            <a:pPr marL="0" indent="0">
              <a:buNone/>
            </a:pPr>
            <a:r>
              <a:rPr lang="en-US" dirty="0" smtClean="0"/>
              <a:t>print(x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test</a:t>
            </a:r>
            <a:r>
              <a:rPr lang="en-US" dirty="0"/>
              <a:t>()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print(x)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Output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/>
              <a:t>100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100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169425" y="1825624"/>
            <a:ext cx="48370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>
                <a:latin typeface="+mj-lt"/>
                <a:ea typeface="+mj-ea"/>
                <a:cs typeface="+mj-cs"/>
              </a:rPr>
              <a:t>Deleting </a:t>
            </a:r>
            <a:r>
              <a:rPr lang="en-IN" sz="4400" dirty="0" smtClean="0">
                <a:latin typeface="+mj-lt"/>
                <a:ea typeface="+mj-ea"/>
                <a:cs typeface="+mj-cs"/>
              </a:rPr>
              <a:t>Variables</a:t>
            </a:r>
          </a:p>
          <a:p>
            <a:endParaRPr lang="en-US" sz="4400" dirty="0">
              <a:latin typeface="+mj-lt"/>
              <a:ea typeface="+mj-ea"/>
              <a:cs typeface="+mj-cs"/>
            </a:endParaRPr>
          </a:p>
          <a:p>
            <a:r>
              <a:rPr lang="en-IN" sz="2200" dirty="0"/>
              <a:t>x=10 </a:t>
            </a:r>
            <a:endParaRPr lang="en-IN" sz="2200" dirty="0" smtClean="0"/>
          </a:p>
          <a:p>
            <a:r>
              <a:rPr lang="en-IN" sz="2200" dirty="0" smtClean="0"/>
              <a:t>del x</a:t>
            </a:r>
          </a:p>
          <a:p>
            <a:endParaRPr lang="en-IN" sz="2200" dirty="0" smtClean="0"/>
          </a:p>
          <a:p>
            <a:r>
              <a:rPr lang="en-IN" sz="2200" dirty="0" smtClean="0"/>
              <a:t>Now, </a:t>
            </a:r>
          </a:p>
          <a:p>
            <a:r>
              <a:rPr lang="en-IN" sz="2200" dirty="0" err="1" smtClean="0"/>
              <a:t>NameError</a:t>
            </a:r>
            <a:endParaRPr lang="en-IN" sz="22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632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723747"/>
            <a:ext cx="1066468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is a variable?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is dynamic typing?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Difference between mutable and immutable objects?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id() and type().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 does a = b not create a copy?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Difference between shallow and deep copy?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are Python naming conventions?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multiple assignment.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unpacking.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Difference between local and global variables? 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044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</a:t>
            </a:r>
            <a:r>
              <a:rPr lang="en-US" b="1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b="1" dirty="0" smtClean="0"/>
              <a:t>Example </a:t>
            </a:r>
            <a:r>
              <a:rPr lang="en-US" b="1" dirty="0"/>
              <a:t>1: Basic </a:t>
            </a:r>
            <a:r>
              <a:rPr lang="en-US" b="1" dirty="0" smtClean="0"/>
              <a:t>Variables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name = "Anil"</a:t>
            </a:r>
          </a:p>
          <a:p>
            <a:pPr marL="0" indent="0">
              <a:buNone/>
            </a:pPr>
            <a:r>
              <a:rPr lang="en-US" b="1" dirty="0"/>
              <a:t>age = </a:t>
            </a:r>
            <a:r>
              <a:rPr lang="en-US" b="1" dirty="0" smtClean="0"/>
              <a:t>38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salary = </a:t>
            </a:r>
            <a:r>
              <a:rPr lang="en-US" b="1" dirty="0" smtClean="0"/>
              <a:t>185000.50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print(name)</a:t>
            </a:r>
          </a:p>
          <a:p>
            <a:pPr marL="0" indent="0">
              <a:buNone/>
            </a:pPr>
            <a:r>
              <a:rPr lang="en-US" b="1" dirty="0"/>
              <a:t>print(age)</a:t>
            </a:r>
          </a:p>
          <a:p>
            <a:pPr marL="0" indent="0">
              <a:buNone/>
            </a:pPr>
            <a:r>
              <a:rPr lang="en-US" b="1" dirty="0"/>
              <a:t>print(salary)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722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</a:t>
            </a:r>
            <a:r>
              <a:rPr lang="en-US" b="1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Example 2: Dynamic </a:t>
            </a:r>
            <a:r>
              <a:rPr lang="en-IN" dirty="0" smtClean="0"/>
              <a:t>Typing</a:t>
            </a:r>
          </a:p>
          <a:p>
            <a:endParaRPr lang="en-US" dirty="0"/>
          </a:p>
          <a:p>
            <a:pPr marL="0" indent="0">
              <a:buNone/>
            </a:pPr>
            <a:r>
              <a:rPr lang="nb-NO" dirty="0"/>
              <a:t>x = 10</a:t>
            </a:r>
          </a:p>
          <a:p>
            <a:pPr marL="0" indent="0">
              <a:buNone/>
            </a:pPr>
            <a:r>
              <a:rPr lang="nb-NO" dirty="0"/>
              <a:t>print(type(x))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x = 5.5</a:t>
            </a:r>
          </a:p>
          <a:p>
            <a:pPr marL="0" indent="0">
              <a:buNone/>
            </a:pPr>
            <a:r>
              <a:rPr lang="nb-NO" dirty="0"/>
              <a:t>print(type(x))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x = "Python"</a:t>
            </a:r>
          </a:p>
          <a:p>
            <a:pPr marL="0" indent="0">
              <a:buNone/>
            </a:pPr>
            <a:r>
              <a:rPr lang="nb-NO" dirty="0"/>
              <a:t>print(type(x))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836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</a:t>
            </a:r>
            <a:r>
              <a:rPr lang="en-US" b="1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Example 3: Multiple </a:t>
            </a:r>
            <a:r>
              <a:rPr lang="en-IN" dirty="0" smtClean="0"/>
              <a:t>Assignment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a, b, c = 10, 20, 30</a:t>
            </a:r>
          </a:p>
          <a:p>
            <a:pPr marL="0" indent="0">
              <a:buNone/>
            </a:pPr>
            <a:r>
              <a:rPr lang="en-IN" dirty="0"/>
              <a:t>print(a, b, c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 smtClean="0"/>
              <a:t>Example </a:t>
            </a:r>
            <a:r>
              <a:rPr lang="en-IN" dirty="0"/>
              <a:t>4: </a:t>
            </a:r>
            <a:r>
              <a:rPr lang="en-IN" dirty="0" smtClean="0"/>
              <a:t>Swapping</a:t>
            </a:r>
          </a:p>
          <a:p>
            <a:pPr marL="0" indent="0">
              <a:buNone/>
            </a:pPr>
            <a:r>
              <a:rPr lang="en-IN" dirty="0"/>
              <a:t>a = 10</a:t>
            </a:r>
          </a:p>
          <a:p>
            <a:pPr marL="0" indent="0">
              <a:buNone/>
            </a:pPr>
            <a:r>
              <a:rPr lang="en-IN" dirty="0"/>
              <a:t>b = 20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a, b = b, a</a:t>
            </a:r>
          </a:p>
          <a:p>
            <a:pPr marL="0" indent="0">
              <a:buNone/>
            </a:pPr>
            <a:r>
              <a:rPr lang="en-IN" dirty="0" smtClean="0"/>
              <a:t>print(a</a:t>
            </a:r>
            <a:r>
              <a:rPr lang="en-IN" dirty="0"/>
              <a:t>, b)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238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</a:t>
            </a:r>
            <a:r>
              <a:rPr lang="en-US" b="1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Example 5: Global </a:t>
            </a:r>
            <a:r>
              <a:rPr lang="en-IN" dirty="0" smtClean="0"/>
              <a:t>Variable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count 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increment():</a:t>
            </a:r>
          </a:p>
          <a:p>
            <a:pPr marL="0" indent="0">
              <a:buNone/>
            </a:pPr>
            <a:r>
              <a:rPr lang="en-US" dirty="0"/>
              <a:t>    global count</a:t>
            </a:r>
          </a:p>
          <a:p>
            <a:pPr marL="0" indent="0">
              <a:buNone/>
            </a:pPr>
            <a:r>
              <a:rPr lang="en-US" dirty="0"/>
              <a:t>    count +=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increment()</a:t>
            </a:r>
          </a:p>
          <a:p>
            <a:pPr marL="0" indent="0">
              <a:buNone/>
            </a:pPr>
            <a:r>
              <a:rPr lang="en-US" dirty="0"/>
              <a:t>print(count)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067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Exercise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88831"/>
            <a:ext cx="10515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variables for student details and display them.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 the datatype of different variables using type().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Swap two numbers without using a temporary variable.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Demonstrate multiple assignment and unpacking.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id() values before and after reassignment.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Write a program to show mutable vs immutable behavior.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a global variable and modify it inside a function.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del to remove a variable and observe the result.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Convert input strings into integers and perform arithmetic.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Demonstrate shallow copy and deep copy using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912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095" y="3121577"/>
            <a:ext cx="3246783" cy="1325563"/>
          </a:xfrm>
        </p:spPr>
        <p:txBody>
          <a:bodyPr/>
          <a:lstStyle/>
          <a:p>
            <a:pPr algn="ctr"/>
            <a:r>
              <a:rPr lang="en-US" dirty="0" smtClean="0"/>
              <a:t>Thanks</a:t>
            </a:r>
            <a:endParaRPr lang="en-IN" dirty="0"/>
          </a:p>
        </p:txBody>
      </p:sp>
      <p:pic>
        <p:nvPicPr>
          <p:cNvPr id="3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48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833</Words>
  <Application>Microsoft Office PowerPoint</Application>
  <PresentationFormat>Widescreen</PresentationFormat>
  <Paragraphs>380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Python: Variable</vt:lpstr>
      <vt:lpstr>Variable</vt:lpstr>
      <vt:lpstr>Conti…</vt:lpstr>
      <vt:lpstr>Variables in Different Programming Languages</vt:lpstr>
      <vt:lpstr>Dynamic Typing</vt:lpstr>
      <vt:lpstr>Object-Oriented Nature of Variables</vt:lpstr>
      <vt:lpstr>Memory Representation</vt:lpstr>
      <vt:lpstr>Object Identity</vt:lpstr>
      <vt:lpstr>Changing Values</vt:lpstr>
      <vt:lpstr>Variable Naming Rules</vt:lpstr>
      <vt:lpstr>Variable Naming Conventions (PEP-8)</vt:lpstr>
      <vt:lpstr>Reserved Keywords</vt:lpstr>
      <vt:lpstr>Assignment Operator</vt:lpstr>
      <vt:lpstr>Multiple Variable Assignment</vt:lpstr>
      <vt:lpstr>Variable Swapping</vt:lpstr>
      <vt:lpstr>Checking Datatype</vt:lpstr>
      <vt:lpstr>Variable Conversion</vt:lpstr>
      <vt:lpstr>Immutable Variables</vt:lpstr>
      <vt:lpstr>Mutable Objects</vt:lpstr>
      <vt:lpstr>Variables and Memory</vt:lpstr>
      <vt:lpstr>Copying Variables</vt:lpstr>
      <vt:lpstr>Scope of Variables</vt:lpstr>
      <vt:lpstr>Global Keyword</vt:lpstr>
      <vt:lpstr>Local vs Global</vt:lpstr>
      <vt:lpstr>Revision</vt:lpstr>
      <vt:lpstr>Practical Examples</vt:lpstr>
      <vt:lpstr>Practical Examples</vt:lpstr>
      <vt:lpstr>Practical Examples</vt:lpstr>
      <vt:lpstr>Practical Examples</vt:lpstr>
      <vt:lpstr>Home Exercise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DrAnilKDubey</dc:creator>
  <cp:lastModifiedBy>DrAnilKDubey</cp:lastModifiedBy>
  <cp:revision>221</cp:revision>
  <dcterms:created xsi:type="dcterms:W3CDTF">2026-07-06T04:33:03Z</dcterms:created>
  <dcterms:modified xsi:type="dcterms:W3CDTF">2026-07-21T11:07:44Z</dcterms:modified>
</cp:coreProperties>
</file>